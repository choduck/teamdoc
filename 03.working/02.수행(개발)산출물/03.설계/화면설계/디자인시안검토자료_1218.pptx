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546" r:id="rId2"/>
    <p:sldId id="589" r:id="rId3"/>
    <p:sldId id="587" r:id="rId4"/>
    <p:sldId id="595" r:id="rId5"/>
    <p:sldId id="596" r:id="rId6"/>
    <p:sldId id="592" r:id="rId7"/>
    <p:sldId id="597" r:id="rId8"/>
  </p:sldIdLst>
  <p:sldSz cx="10693400" cy="7561263"/>
  <p:notesSz cx="9866313" cy="14295438"/>
  <p:embeddedFontLst>
    <p:embeddedFont>
      <p:font typeface="맑은 고딕" panose="020B0503020000020004" pitchFamily="50" charset="-127"/>
      <p:regular r:id="rId10"/>
      <p:bold r:id="rId11"/>
    </p:embeddedFont>
    <p:embeddedFont>
      <p:font typeface="KoPub돋움체 Medium" panose="02020603020101020101" pitchFamily="18" charset="-127"/>
      <p:regular r:id="rId12"/>
    </p:embeddedFont>
    <p:embeddedFont>
      <p:font typeface="나눔고딕" panose="020D0604000000000000" pitchFamily="50" charset="-127"/>
      <p:regular r:id="rId13"/>
      <p:bold r:id="rId14"/>
    </p:embeddedFont>
  </p:embeddedFontLst>
  <p:defaultTextStyle>
    <a:defPPr>
      <a:defRPr lang="ko-KR"/>
    </a:defPPr>
    <a:lvl1pPr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1pPr>
    <a:lvl2pPr marL="520700" indent="-63500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2pPr>
    <a:lvl3pPr marL="1042988" indent="-128588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3pPr>
    <a:lvl4pPr marL="1563688" indent="-192088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4pPr>
    <a:lvl5pPr marL="2085975" indent="-257175" algn="l" defTabSz="1042988" rtl="0" fontAlgn="base" latinLnBrk="1">
      <a:spcBef>
        <a:spcPct val="0"/>
      </a:spcBef>
      <a:spcAft>
        <a:spcPct val="0"/>
      </a:spcAft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100" kern="1200">
        <a:solidFill>
          <a:schemeClr val="tx1"/>
        </a:solidFill>
        <a:latin typeface="Malgun Gothic" pitchFamily="50" charset="-127"/>
        <a:ea typeface="굴림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427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1414"/>
    <a:srgbClr val="E0E0E0"/>
    <a:srgbClr val="66FF66"/>
    <a:srgbClr val="FFFFCC"/>
    <a:srgbClr val="FFCC66"/>
    <a:srgbClr val="CCFFCC"/>
    <a:srgbClr val="214F87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075" autoAdjust="0"/>
    <p:restoredTop sz="96150" autoAdjust="0"/>
  </p:normalViewPr>
  <p:slideViewPr>
    <p:cSldViewPr>
      <p:cViewPr varScale="1">
        <p:scale>
          <a:sx n="98" d="100"/>
          <a:sy n="98" d="100"/>
        </p:scale>
        <p:origin x="-2160" y="-90"/>
      </p:cViewPr>
      <p:guideLst>
        <p:guide orient="horz" pos="2427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277398" cy="714658"/>
          </a:xfrm>
          <a:prstGeom prst="rect">
            <a:avLst/>
          </a:prstGeom>
        </p:spPr>
        <p:txBody>
          <a:bodyPr vert="horz" lIns="132076" tIns="66039" rIns="132076" bIns="66039" rtlCol="0"/>
          <a:lstStyle>
            <a:lvl1pPr algn="l" defTabSz="1504639" fontAlgn="auto">
              <a:spcBef>
                <a:spcPts val="0"/>
              </a:spcBef>
              <a:spcAft>
                <a:spcPts val="0"/>
              </a:spcAft>
              <a:defRPr kumimoji="0"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6618" y="1"/>
            <a:ext cx="4277398" cy="714658"/>
          </a:xfrm>
          <a:prstGeom prst="rect">
            <a:avLst/>
          </a:prstGeom>
        </p:spPr>
        <p:txBody>
          <a:bodyPr vert="horz" lIns="132076" tIns="66039" rIns="132076" bIns="66039" rtlCol="0"/>
          <a:lstStyle>
            <a:lvl1pPr algn="r" defTabSz="1504639" fontAlgn="auto">
              <a:spcBef>
                <a:spcPts val="0"/>
              </a:spcBef>
              <a:spcAft>
                <a:spcPts val="0"/>
              </a:spcAft>
              <a:defRPr kumimoji="0"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70F797B8-CD4C-41F8-B027-FC4F8A2B5BC3}" type="datetimeFigureOut">
              <a:rPr lang="ko-KR" altLang="en-US"/>
              <a:pPr>
                <a:defRPr/>
              </a:pPr>
              <a:t>2016-12-19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074738"/>
            <a:ext cx="7580313" cy="5359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076" tIns="66039" rIns="132076" bIns="66039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092" y="6790390"/>
            <a:ext cx="7892130" cy="6431920"/>
          </a:xfrm>
          <a:prstGeom prst="rect">
            <a:avLst/>
          </a:prstGeom>
        </p:spPr>
        <p:txBody>
          <a:bodyPr vert="horz" lIns="132076" tIns="66039" rIns="132076" bIns="66039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13578500"/>
            <a:ext cx="4277398" cy="714656"/>
          </a:xfrm>
          <a:prstGeom prst="rect">
            <a:avLst/>
          </a:prstGeom>
        </p:spPr>
        <p:txBody>
          <a:bodyPr vert="horz" lIns="132076" tIns="66039" rIns="132076" bIns="66039" rtlCol="0" anchor="b"/>
          <a:lstStyle>
            <a:lvl1pPr algn="l" defTabSz="1504639" fontAlgn="auto">
              <a:spcBef>
                <a:spcPts val="0"/>
              </a:spcBef>
              <a:spcAft>
                <a:spcPts val="0"/>
              </a:spcAft>
              <a:defRPr kumimoji="0" sz="17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6618" y="13578500"/>
            <a:ext cx="4277398" cy="714656"/>
          </a:xfrm>
          <a:prstGeom prst="rect">
            <a:avLst/>
          </a:prstGeom>
        </p:spPr>
        <p:txBody>
          <a:bodyPr vert="horz" lIns="132076" tIns="66039" rIns="132076" bIns="66039" rtlCol="0" anchor="b"/>
          <a:lstStyle>
            <a:lvl1pPr algn="r" defTabSz="1504639" fontAlgn="auto">
              <a:spcBef>
                <a:spcPts val="0"/>
              </a:spcBef>
              <a:spcAft>
                <a:spcPts val="0"/>
              </a:spcAft>
              <a:defRPr kumimoji="0" sz="1700">
                <a:latin typeface="+mn-lt"/>
                <a:ea typeface="+mn-ea"/>
              </a:defRPr>
            </a:lvl1pPr>
          </a:lstStyle>
          <a:p>
            <a:pPr>
              <a:defRPr/>
            </a:pPr>
            <a:fld id="{A92E57E6-DFF4-4C1E-9E9B-AC36C6B798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9875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Malgun Gothic" pitchFamily="50" charset="-127"/>
        <a:ea typeface="Malgun Gothic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50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5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50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50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50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50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2E57E6-DFF4-4C1E-9E9B-AC36C6B79886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550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2016-12-19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8609013" y="6897688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499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IDigitalU.bmp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3"/>
          <a:stretch/>
        </p:blipFill>
        <p:spPr bwMode="auto">
          <a:xfrm>
            <a:off x="8947100" y="6703244"/>
            <a:ext cx="1658937" cy="85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직사각형 12"/>
          <p:cNvSpPr/>
          <p:nvPr userDrawn="1"/>
        </p:nvSpPr>
        <p:spPr>
          <a:xfrm>
            <a:off x="0" y="0"/>
            <a:ext cx="10693400" cy="1730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4" name="Picture 2" descr="C:\Users\pck\Desktop\서울시로고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6954838"/>
            <a:ext cx="1157287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C:\Users\kimsy\Desktop\그림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" y="1548434"/>
            <a:ext cx="10689636" cy="1345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53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2016-12-19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grpSp>
        <p:nvGrpSpPr>
          <p:cNvPr id="9" name="그룹 8"/>
          <p:cNvGrpSpPr/>
          <p:nvPr userDrawn="1"/>
        </p:nvGrpSpPr>
        <p:grpSpPr>
          <a:xfrm>
            <a:off x="8008620" y="5076775"/>
            <a:ext cx="2307600" cy="2134800"/>
            <a:chOff x="6645928" y="4077072"/>
            <a:chExt cx="2307600" cy="2134800"/>
          </a:xfrm>
        </p:grpSpPr>
        <p:graphicFrame>
          <p:nvGraphicFramePr>
            <p:cNvPr id="10" name="Object 2"/>
            <p:cNvGraphicFramePr>
              <a:graphicFrameLocks noChangeAspect="1"/>
            </p:cNvGraphicFramePr>
            <p:nvPr/>
          </p:nvGraphicFramePr>
          <p:xfrm>
            <a:off x="7255544" y="5715016"/>
            <a:ext cx="11176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3" name="사진" r:id="rId3" imgW="1117488" imgH="339504" progId="StaticMetafile">
                    <p:embed/>
                  </p:oleObj>
                </mc:Choice>
                <mc:Fallback>
                  <p:oleObj name="사진" r:id="rId3" imgW="1117488" imgH="339504" progId="StaticMetafile">
                    <p:embed/>
                    <p:pic>
                      <p:nvPicPr>
                        <p:cNvPr id="0" name="Picture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5544" y="5715016"/>
                          <a:ext cx="1117600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직사각형 10"/>
            <p:cNvSpPr/>
            <p:nvPr/>
          </p:nvSpPr>
          <p:spPr bwMode="auto">
            <a:xfrm>
              <a:off x="6645928" y="4077072"/>
              <a:ext cx="2307600" cy="213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0000" tIns="0" rIns="90000" bIns="0" rtlCol="0" anchor="t"/>
            <a:lstStyle/>
            <a:p>
              <a:pPr>
                <a:spcBef>
                  <a:spcPct val="50000"/>
                </a:spcBef>
              </a:pPr>
              <a:r>
                <a:rPr lang="en-US" altLang="ko-KR" sz="1400" dirty="0">
                  <a:latin typeface="+mn-ea"/>
                  <a:ea typeface="+mn-ea"/>
                </a:rPr>
                <a:t/>
              </a:r>
              <a:br>
                <a:rPr lang="en-US" altLang="ko-KR" sz="1400" dirty="0">
                  <a:latin typeface="+mn-ea"/>
                  <a:ea typeface="+mn-ea"/>
                </a:rPr>
              </a:b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569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8991600" y="7092999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2016-12-19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34072666"/>
              </p:ext>
            </p:extLst>
          </p:nvPr>
        </p:nvGraphicFramePr>
        <p:xfrm>
          <a:off x="311150" y="828304"/>
          <a:ext cx="10148118" cy="640871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127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568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60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Layout</a:t>
                      </a:r>
                      <a:endParaRPr lang="ko-KR" altLang="en-US" sz="1000" b="1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672143"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512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4907405"/>
              </p:ext>
            </p:extLst>
          </p:nvPr>
        </p:nvGraphicFramePr>
        <p:xfrm>
          <a:off x="306140" y="310191"/>
          <a:ext cx="10153128" cy="44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94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311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283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2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출력물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출력물명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latin typeface="+mn-ea"/>
                          <a:ea typeface="+mn-ea"/>
                        </a:rPr>
                        <a:t>네비게이션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571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8991600" y="7092999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2016-12-19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3230352"/>
              </p:ext>
            </p:extLst>
          </p:nvPr>
        </p:nvGraphicFramePr>
        <p:xfrm>
          <a:off x="311150" y="828304"/>
          <a:ext cx="10148118" cy="640871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14811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16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Layout</a:t>
                      </a:r>
                      <a:endParaRPr lang="ko-KR" altLang="en-US" sz="1000" b="1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18431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551654874"/>
              </p:ext>
            </p:extLst>
          </p:nvPr>
        </p:nvGraphicFramePr>
        <p:xfrm>
          <a:off x="306140" y="310191"/>
          <a:ext cx="10153128" cy="44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94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3111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5283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2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출력물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출력물명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latin typeface="+mn-ea"/>
                          <a:ea typeface="+mn-ea"/>
                        </a:rPr>
                        <a:t>네비게이션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264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425450" y="1503363"/>
            <a:ext cx="73025" cy="96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04305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4" name="직사각형 3"/>
          <p:cNvSpPr/>
          <p:nvPr userDrawn="1"/>
        </p:nvSpPr>
        <p:spPr>
          <a:xfrm>
            <a:off x="311150" y="1441450"/>
            <a:ext cx="9999663" cy="377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87313" indent="-87313" algn="ctr" defTabSz="1043056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kumimoji="0" lang="ko-KR" altLang="en-US" sz="1200" dirty="0" err="1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슬라이드 번호 개체 틀 1"/>
          <p:cNvSpPr txBox="1">
            <a:spLocks/>
          </p:cNvSpPr>
          <p:nvPr userDrawn="1"/>
        </p:nvSpPr>
        <p:spPr>
          <a:xfrm>
            <a:off x="8991600" y="7092999"/>
            <a:ext cx="1701800" cy="569912"/>
          </a:xfrm>
          <a:prstGeom prst="rect">
            <a:avLst/>
          </a:prstGeom>
        </p:spPr>
        <p:txBody>
          <a:bodyPr lIns="104306" tIns="52153" rIns="104306" bIns="52153" anchor="ctr"/>
          <a:lstStyle>
            <a:defPPr>
              <a:defRPr lang="ko-KR"/>
            </a:defPPr>
            <a:lvl1pPr marL="0" algn="r" defTabSz="1043056" rtl="0" eaLnBrk="1" latinLnBrk="1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1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DD1A472F-E1AA-490E-88F7-82C37E63A517}" type="slidenum">
              <a:rPr kumimoji="0" lang="ko-KR" altLang="en-US" smtClean="0">
                <a:solidFill>
                  <a:schemeClr val="tx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32157-8C18-4859-9A25-315986C0BC0D}" type="datetimeFigureOut">
              <a:rPr lang="ko-KR" altLang="en-US"/>
              <a:pPr>
                <a:defRPr/>
              </a:pPr>
              <a:t>2016-12-19</a:t>
            </a:fld>
            <a:endParaRPr lang="ko-KR" altLang="en-US"/>
          </a:p>
        </p:txBody>
      </p:sp>
      <p:sp>
        <p:nvSpPr>
          <p:cNvPr id="8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83348128"/>
              </p:ext>
            </p:extLst>
          </p:nvPr>
        </p:nvGraphicFramePr>
        <p:xfrm>
          <a:off x="311150" y="828304"/>
          <a:ext cx="10148118" cy="640871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5558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6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Layout</a:t>
                      </a:r>
                      <a:endParaRPr lang="ko-KR" altLang="en-US" sz="1000" b="1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184311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10101558"/>
              </p:ext>
            </p:extLst>
          </p:nvPr>
        </p:nvGraphicFramePr>
        <p:xfrm>
          <a:off x="306140" y="310191"/>
          <a:ext cx="10153128" cy="44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6948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183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72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79330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12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출력물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출력물명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업무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latin typeface="+mn-ea"/>
                          <a:ea typeface="+mn-ea"/>
                        </a:rPr>
                        <a:t>네비게이션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9962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3425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534988" y="1763713"/>
            <a:ext cx="962342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4306" tIns="52153" rIns="104306" bIns="521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988" y="7008813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23FA960-DDB2-4B55-B992-7005A9199C7E}" type="datetimeFigureOut">
              <a:rPr lang="ko-KR" altLang="en-US"/>
              <a:pPr>
                <a:defRPr/>
              </a:pPr>
              <a:t>2016-12-19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2838" y="7008813"/>
            <a:ext cx="3387725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2863" y="7008813"/>
            <a:ext cx="2495550" cy="40163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 defTabSz="1043056" fontAlgn="auto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24E6F06-9684-4F2C-B1C8-9977D893A2D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70" r:id="rId2"/>
    <p:sldLayoutId id="2147483771" r:id="rId3"/>
    <p:sldLayoutId id="2147483768" r:id="rId4"/>
    <p:sldLayoutId id="2147483769" r:id="rId5"/>
    <p:sldLayoutId id="2147483767" r:id="rId6"/>
  </p:sldLayoutIdLst>
  <p:txStyles>
    <p:titleStyle>
      <a:lvl1pPr algn="ctr" defTabSz="1042988" rtl="0" eaLnBrk="0" fontAlgn="base" latinLnBrk="1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j-cs"/>
        </a:defRPr>
      </a:lvl1pPr>
      <a:lvl2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2pPr>
      <a:lvl3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3pPr>
      <a:lvl4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4pPr>
      <a:lvl5pPr algn="ctr" defTabSz="1042988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5pPr>
      <a:lvl6pPr marL="4572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6pPr>
      <a:lvl7pPr marL="9144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7pPr>
      <a:lvl8pPr marL="13716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8pPr>
      <a:lvl9pPr marL="1828800" algn="ctr" defTabSz="1042988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Malgun Gothic" pitchFamily="50" charset="-127"/>
          <a:ea typeface="Malgun Gothic" pitchFamily="50" charset="-127"/>
        </a:defRPr>
      </a:lvl9pPr>
    </p:titleStyle>
    <p:bodyStyle>
      <a:lvl1pPr marL="390525" indent="-390525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7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1pPr>
      <a:lvl2pPr marL="846138" indent="-325438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2pPr>
      <a:lvl3pPr marL="1303338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3pPr>
      <a:lvl4pPr marL="1824038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3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4pPr>
      <a:lvl5pPr marL="2346325" indent="-260350" algn="l" defTabSz="1042988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300" kern="1200">
          <a:solidFill>
            <a:schemeClr val="tx1"/>
          </a:solidFill>
          <a:latin typeface="Malgun Gothic" pitchFamily="50" charset="-127"/>
          <a:ea typeface="Malgun Gothic" pitchFamily="50" charset="-127"/>
          <a:cs typeface="+mn-cs"/>
        </a:defRPr>
      </a:lvl5pPr>
      <a:lvl6pPr marL="2868404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1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9524" y="1836415"/>
            <a:ext cx="10683875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latinLnBrk="0">
              <a:defRPr/>
            </a:pPr>
            <a:r>
              <a:rPr lang="ko-KR" altLang="en-US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디자인 </a:t>
            </a:r>
            <a:r>
              <a:rPr lang="ko-KR" altLang="en-US" sz="5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시안</a:t>
            </a:r>
            <a:r>
              <a:rPr lang="en-US" altLang="ko-KR" sz="5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안</a:t>
            </a:r>
            <a:r>
              <a:rPr lang="en-US" altLang="ko-KR" sz="50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)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9524" y="2916535"/>
            <a:ext cx="106838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defTabSz="914400" latinLnBrk="0">
              <a:defRPr/>
            </a:pPr>
            <a:r>
              <a:rPr lang="ko-KR" altLang="en-US" sz="2000" b="1" dirty="0" smtClean="0">
                <a:ln>
                  <a:solidFill>
                    <a:schemeClr val="tx2">
                      <a:alpha val="0"/>
                    </a:schemeClr>
                  </a:solidFill>
                </a:ln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디지털 </a:t>
            </a:r>
            <a:r>
              <a:rPr lang="ko-KR" altLang="en-US" sz="2000" b="1" dirty="0" err="1">
                <a:ln>
                  <a:solidFill>
                    <a:schemeClr val="tx2">
                      <a:alpha val="0"/>
                    </a:schemeClr>
                  </a:solidFill>
                </a:ln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시민시장실</a:t>
            </a:r>
            <a:r>
              <a:rPr lang="ko-KR" altLang="en-US" sz="2000" b="1" dirty="0">
                <a:ln>
                  <a:solidFill>
                    <a:schemeClr val="tx2">
                      <a:alpha val="0"/>
                    </a:schemeClr>
                  </a:solidFill>
                </a:ln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 구축</a:t>
            </a:r>
            <a:endParaRPr lang="en-US" altLang="ko-KR" sz="2000" b="1" dirty="0">
              <a:ln>
                <a:solidFill>
                  <a:schemeClr val="tx2">
                    <a:alpha val="0"/>
                  </a:schemeClr>
                </a:solidFill>
              </a:ln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52933" y="5724847"/>
            <a:ext cx="2595582" cy="602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150000"/>
              </a:lnSpc>
              <a:defRPr/>
            </a:pPr>
            <a:r>
              <a:rPr lang="ko-KR" altLang="en-US" sz="2500" b="1" dirty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통계데이터담당관</a:t>
            </a:r>
            <a:endParaRPr lang="en-US" altLang="ko-KR" sz="2500" b="1" dirty="0">
              <a:ln>
                <a:solidFill>
                  <a:schemeClr val="tx2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43452" y="4140671"/>
            <a:ext cx="1614545" cy="5001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latinLnBrk="0">
              <a:lnSpc>
                <a:spcPct val="150000"/>
              </a:lnSpc>
              <a:defRPr/>
            </a:pPr>
            <a:r>
              <a:rPr lang="en-US" altLang="ko-KR" sz="2000" b="1" smtClean="0">
                <a:ln>
                  <a:solidFill>
                    <a:schemeClr val="tx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tx2"/>
                  </a:glow>
                </a:effectLst>
                <a:latin typeface="나눔고딕" pitchFamily="50" charset="-127"/>
                <a:ea typeface="나눔고딕" pitchFamily="50" charset="-127"/>
              </a:rPr>
              <a:t>2016-12-18</a:t>
            </a:r>
            <a:endParaRPr lang="en-US" altLang="ko-KR" sz="2000" b="1" dirty="0">
              <a:ln>
                <a:solidFill>
                  <a:schemeClr val="tx2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tx2"/>
                </a:glow>
              </a:effectLst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9476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124" y="108223"/>
            <a:ext cx="2808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안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인트로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TOP </a:t>
            </a:r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VIEW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39711" y="4671605"/>
            <a:ext cx="1296144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TOP-VIEW</a:t>
            </a:r>
            <a:endParaRPr lang="ko-KR" altLang="en-US" sz="14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64740" y="4572719"/>
            <a:ext cx="89471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재난안전대응현황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재난분야별현황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교통정보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도로소통상황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돌발및통제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대기환경정보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기상현황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대기오염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예보경보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채무전광판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여론동향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원순씨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홈페이지의 키워드를 중심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네이버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API),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SNS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트위터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구성하고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분단위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설정으로 데이터 갱신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( SNS 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원순씨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트위터는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1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일기준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20~30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트윗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콘텐츠가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업데이트 되고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있음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공공임대주택확충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국공립어린이집확충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환자안심병원확충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찾아가는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동주민센터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 현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집무실 벽면의 주요사업 위주로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 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시정현황은 통합검색 기능으로 시정 상세 페이지로 이동할 수 있도록 구성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서울시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시정을 </a:t>
            </a:r>
            <a:r>
              <a:rPr lang="ko-KR" altLang="en-US" sz="1000" b="1" dirty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지도기반으로 한눈에 볼 수 있도록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구성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 단위 선택하면 해당 구의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예산현황 등을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총괄표로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출력됨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실시간현황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재난안전대응현황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교통정보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대기환경 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등을 지도 위에 표시가 가능한 구성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Picture 2" descr="C:\Users\kimsy\Desktop\디지털시민시장실_메인_전체지도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2966"/>
            <a:ext cx="106934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3548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 descr="C:\Users\kimsy\Desktop\디지털시민시장실_메인_전체지도2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2966"/>
            <a:ext cx="106934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직선 연결선 27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7925" y="933945"/>
            <a:ext cx="438426" cy="294872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7" name="꺾인 연결선 36"/>
          <p:cNvCxnSpPr>
            <a:stCxn id="33" idx="4"/>
            <a:endCxn id="38" idx="1"/>
          </p:cNvCxnSpPr>
          <p:nvPr/>
        </p:nvCxnSpPr>
        <p:spPr>
          <a:xfrm rot="16200000" flipH="1">
            <a:off x="-776218" y="4336572"/>
            <a:ext cx="2940885" cy="475054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1751" y="5588007"/>
            <a:ext cx="2254709" cy="91307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1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화재구조구급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돌발 및 통제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기상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대기현황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터치시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지도 위에 상세정보 표시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 실시간 정보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9" name="직선 연결선 58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/>
          <p:cNvSpPr/>
          <p:nvPr/>
        </p:nvSpPr>
        <p:spPr>
          <a:xfrm>
            <a:off x="318830" y="2827923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2870638" y="3958754"/>
            <a:ext cx="2404054" cy="27730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330476" y="4850382"/>
            <a:ext cx="2245968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 smtClean="0"/>
              <a:t>5. </a:t>
            </a:r>
            <a:r>
              <a:rPr lang="ko-KR" altLang="en-US" dirty="0"/>
              <a:t>주요사업 </a:t>
            </a:r>
            <a:r>
              <a:rPr lang="en-US" altLang="ko-KR" dirty="0"/>
              <a:t>(</a:t>
            </a:r>
            <a:r>
              <a:rPr lang="ko-KR" altLang="en-US" dirty="0"/>
              <a:t>집무실 벽면 포함</a:t>
            </a:r>
            <a:r>
              <a:rPr lang="en-US" altLang="ko-KR" dirty="0"/>
              <a:t>)</a:t>
            </a:r>
          </a:p>
          <a:p>
            <a:r>
              <a:rPr lang="ko-KR" altLang="en-US" sz="1000" b="0" dirty="0" err="1" smtClean="0"/>
              <a:t>주요사업명</a:t>
            </a:r>
            <a:r>
              <a:rPr lang="ko-KR" altLang="en-US" sz="1000" b="0" dirty="0" smtClean="0"/>
              <a:t> 터치 시 지도 위에 위치정보 표시</a:t>
            </a:r>
            <a:r>
              <a:rPr lang="en-US" altLang="ko-KR" sz="1000" b="0" dirty="0" smtClean="0"/>
              <a:t>, </a:t>
            </a:r>
            <a:r>
              <a:rPr lang="ko-KR" altLang="en-US" sz="1000" b="0" dirty="0" smtClean="0"/>
              <a:t>아이콘 </a:t>
            </a:r>
            <a:r>
              <a:rPr lang="ko-KR" altLang="en-US" sz="1000" b="0" dirty="0" err="1" smtClean="0"/>
              <a:t>터치시</a:t>
            </a:r>
            <a:r>
              <a:rPr lang="ko-KR" altLang="en-US" sz="1000" b="0" dirty="0" smtClean="0"/>
              <a:t> 상세팝업 출력</a:t>
            </a:r>
            <a:endParaRPr lang="en-US" altLang="ko-KR" sz="1000" b="0" dirty="0"/>
          </a:p>
        </p:txBody>
      </p:sp>
      <p:cxnSp>
        <p:nvCxnSpPr>
          <p:cNvPr id="52" name="꺾인 연결선 51"/>
          <p:cNvCxnSpPr>
            <a:stCxn id="88" idx="4"/>
            <a:endCxn id="51" idx="0"/>
          </p:cNvCxnSpPr>
          <p:nvPr/>
        </p:nvCxnSpPr>
        <p:spPr>
          <a:xfrm rot="16200000" flipH="1">
            <a:off x="2763607" y="3160529"/>
            <a:ext cx="532642" cy="2847064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47925" y="3927947"/>
            <a:ext cx="438426" cy="39351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0" y="4124702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40492" y="4886343"/>
            <a:ext cx="2245968" cy="323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ko-KR" dirty="0"/>
              <a:t>1. </a:t>
            </a:r>
            <a:r>
              <a:rPr lang="en-US" altLang="ko-KR" dirty="0" smtClean="0"/>
              <a:t>GNB</a:t>
            </a:r>
            <a:endParaRPr lang="en-US" altLang="ko-KR" dirty="0"/>
          </a:p>
        </p:txBody>
      </p:sp>
      <p:sp>
        <p:nvSpPr>
          <p:cNvPr id="63" name="TextBox 62"/>
          <p:cNvSpPr txBox="1"/>
          <p:nvPr/>
        </p:nvSpPr>
        <p:spPr>
          <a:xfrm>
            <a:off x="940492" y="5247049"/>
            <a:ext cx="2245968" cy="2993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ko-KR" dirty="0"/>
              <a:t>2. </a:t>
            </a:r>
            <a:r>
              <a:rPr lang="ko-KR" altLang="en-US" dirty="0"/>
              <a:t>공통 기능 </a:t>
            </a:r>
            <a:r>
              <a:rPr lang="ko-KR" altLang="en-US" dirty="0" err="1"/>
              <a:t>툴바</a:t>
            </a:r>
            <a:endParaRPr lang="en-US" altLang="ko-KR" sz="900" dirty="0"/>
          </a:p>
        </p:txBody>
      </p:sp>
      <p:sp>
        <p:nvSpPr>
          <p:cNvPr id="64" name="직사각형 63"/>
          <p:cNvSpPr/>
          <p:nvPr/>
        </p:nvSpPr>
        <p:spPr>
          <a:xfrm>
            <a:off x="20380" y="4357657"/>
            <a:ext cx="1005840" cy="1967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-1" y="4464101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7" name="꺾인 연결선 66"/>
          <p:cNvCxnSpPr>
            <a:stCxn id="65" idx="4"/>
          </p:cNvCxnSpPr>
          <p:nvPr/>
        </p:nvCxnSpPr>
        <p:spPr>
          <a:xfrm rot="16200000" flipH="1">
            <a:off x="260933" y="4529947"/>
            <a:ext cx="522695" cy="836429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타원 72"/>
          <p:cNvSpPr/>
          <p:nvPr/>
        </p:nvSpPr>
        <p:spPr>
          <a:xfrm>
            <a:off x="4659292" y="4065814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4" name="꺾인 연결선 73"/>
          <p:cNvCxnSpPr>
            <a:stCxn id="73" idx="4"/>
            <a:endCxn id="77" idx="0"/>
          </p:cNvCxnSpPr>
          <p:nvPr/>
        </p:nvCxnSpPr>
        <p:spPr>
          <a:xfrm rot="16200000" flipH="1">
            <a:off x="5559024" y="3579682"/>
            <a:ext cx="508834" cy="2032565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706740" y="4850382"/>
            <a:ext cx="2245968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 smtClean="0"/>
              <a:t>6. </a:t>
            </a:r>
            <a:r>
              <a:rPr lang="ko-KR" altLang="en-US" dirty="0" smtClean="0"/>
              <a:t>시정검색</a:t>
            </a:r>
            <a:endParaRPr lang="en-US" altLang="ko-KR" dirty="0"/>
          </a:p>
          <a:p>
            <a:r>
              <a:rPr lang="ko-KR" altLang="en-US" sz="1000" b="0" dirty="0" smtClean="0"/>
              <a:t>분야별 시정 통합검색 </a:t>
            </a:r>
            <a:r>
              <a:rPr lang="en-US" altLang="ko-KR" sz="1000" b="0" dirty="0" smtClean="0"/>
              <a:t>(TEXT,</a:t>
            </a:r>
            <a:r>
              <a:rPr lang="ko-KR" altLang="en-US" sz="1000" b="0" dirty="0" smtClean="0"/>
              <a:t>음성</a:t>
            </a:r>
            <a:r>
              <a:rPr lang="en-US" altLang="ko-KR" sz="1000" b="0" dirty="0" smtClean="0"/>
              <a:t>)</a:t>
            </a:r>
          </a:p>
          <a:p>
            <a:r>
              <a:rPr lang="ko-KR" altLang="en-US" sz="1000" b="0" dirty="0" smtClean="0"/>
              <a:t>통합검색 결과 화면으로 이동</a:t>
            </a:r>
            <a:endParaRPr lang="en-US" altLang="ko-KR" sz="1000" b="0" dirty="0"/>
          </a:p>
        </p:txBody>
      </p:sp>
      <p:sp>
        <p:nvSpPr>
          <p:cNvPr id="80" name="TextBox 79"/>
          <p:cNvSpPr txBox="1"/>
          <p:nvPr/>
        </p:nvSpPr>
        <p:spPr>
          <a:xfrm>
            <a:off x="8127324" y="4833018"/>
            <a:ext cx="2405172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6. </a:t>
            </a:r>
            <a:r>
              <a:rPr lang="ko-KR" altLang="en-US" dirty="0"/>
              <a:t>여론동향</a:t>
            </a:r>
            <a:r>
              <a:rPr lang="en-US" altLang="ko-KR" dirty="0"/>
              <a:t> </a:t>
            </a:r>
          </a:p>
          <a:p>
            <a:r>
              <a:rPr lang="ko-KR" altLang="en-US" sz="1000" b="0" dirty="0" smtClean="0"/>
              <a:t>뉴스</a:t>
            </a:r>
            <a:r>
              <a:rPr lang="en-US" altLang="ko-KR" sz="1000" b="0" dirty="0" smtClean="0"/>
              <a:t>, SNS </a:t>
            </a:r>
            <a:r>
              <a:rPr lang="ko-KR" altLang="en-US" sz="1000" b="0" dirty="0" smtClean="0"/>
              <a:t>업데이트 </a:t>
            </a:r>
            <a:r>
              <a:rPr lang="ko-KR" altLang="en-US" sz="1000" b="0" dirty="0"/>
              <a:t>주기</a:t>
            </a:r>
            <a:r>
              <a:rPr lang="en-US" altLang="ko-KR" sz="1000" b="0" dirty="0"/>
              <a:t/>
            </a:r>
            <a:br>
              <a:rPr lang="en-US" altLang="ko-KR" sz="1000" b="0" dirty="0"/>
            </a:br>
            <a:r>
              <a:rPr lang="en-US" altLang="ko-KR" sz="1000" b="0" dirty="0"/>
              <a:t>- 5</a:t>
            </a:r>
            <a:r>
              <a:rPr lang="ko-KR" altLang="en-US" sz="1000" b="0" dirty="0"/>
              <a:t>분 단위 갱신설정 </a:t>
            </a:r>
            <a:endParaRPr lang="en-US" altLang="ko-KR" sz="1000" b="0" dirty="0"/>
          </a:p>
        </p:txBody>
      </p:sp>
      <p:cxnSp>
        <p:nvCxnSpPr>
          <p:cNvPr id="81" name="꺾인 연결선 80"/>
          <p:cNvCxnSpPr>
            <a:endCxn id="80" idx="0"/>
          </p:cNvCxnSpPr>
          <p:nvPr/>
        </p:nvCxnSpPr>
        <p:spPr>
          <a:xfrm rot="16200000" flipH="1">
            <a:off x="8925699" y="4428807"/>
            <a:ext cx="491470" cy="316951"/>
          </a:xfrm>
          <a:prstGeom prst="bentConnector3">
            <a:avLst>
              <a:gd name="adj1" fmla="val 62134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/>
          <p:cNvSpPr/>
          <p:nvPr/>
        </p:nvSpPr>
        <p:spPr>
          <a:xfrm>
            <a:off x="594563" y="1072046"/>
            <a:ext cx="1293871" cy="313163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1468529" y="4042006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8875092" y="796078"/>
            <a:ext cx="1657404" cy="356157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타원 89"/>
          <p:cNvSpPr/>
          <p:nvPr/>
        </p:nvSpPr>
        <p:spPr>
          <a:xfrm>
            <a:off x="8875092" y="4065814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5302553" y="3958754"/>
            <a:ext cx="2404054" cy="27730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7380427" y="4073566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5" name="꺾인 연결선 94"/>
          <p:cNvCxnSpPr>
            <a:stCxn id="94" idx="5"/>
            <a:endCxn id="100" idx="0"/>
          </p:cNvCxnSpPr>
          <p:nvPr/>
        </p:nvCxnSpPr>
        <p:spPr>
          <a:xfrm rot="16200000" flipH="1">
            <a:off x="7744213" y="4180487"/>
            <a:ext cx="1457265" cy="1714129"/>
          </a:xfrm>
          <a:prstGeom prst="bentConnector3">
            <a:avLst>
              <a:gd name="adj1" fmla="val 90052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127324" y="5766185"/>
            <a:ext cx="2405172" cy="11182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 smtClean="0"/>
              <a:t>7. </a:t>
            </a:r>
            <a:r>
              <a:rPr lang="ko-KR" altLang="en-US" dirty="0" err="1" smtClean="0"/>
              <a:t>구단위</a:t>
            </a:r>
            <a:r>
              <a:rPr lang="ko-KR" altLang="en-US" dirty="0" smtClean="0"/>
              <a:t> 정보 팝업</a:t>
            </a:r>
            <a:endParaRPr lang="en-US" altLang="ko-KR" dirty="0"/>
          </a:p>
          <a:p>
            <a:r>
              <a:rPr lang="ko-KR" altLang="en-US" sz="1000" b="0" dirty="0" smtClean="0"/>
              <a:t>선택한 구의 시정 총괄정보 제공</a:t>
            </a:r>
            <a:endParaRPr lang="en-US" altLang="ko-KR" sz="1000" b="0" dirty="0" smtClean="0"/>
          </a:p>
          <a:p>
            <a:r>
              <a:rPr lang="en-US" altLang="ko-KR" sz="1000" b="0" dirty="0" smtClean="0"/>
              <a:t>- </a:t>
            </a:r>
            <a:r>
              <a:rPr lang="ko-KR" altLang="en-US" sz="1000" b="0" dirty="0" err="1" smtClean="0"/>
              <a:t>실시간도시현황</a:t>
            </a:r>
            <a:r>
              <a:rPr lang="en-US" altLang="ko-KR" sz="1000" b="0" dirty="0"/>
              <a:t/>
            </a:r>
            <a:br>
              <a:rPr lang="en-US" altLang="ko-KR" sz="1000" b="0" dirty="0"/>
            </a:br>
            <a:r>
              <a:rPr lang="en-US" altLang="ko-KR" sz="1000" b="0" dirty="0" smtClean="0"/>
              <a:t>- </a:t>
            </a:r>
            <a:r>
              <a:rPr lang="ko-KR" altLang="en-US" sz="1000" b="0" dirty="0" smtClean="0"/>
              <a:t>주요사업 및 시정현황</a:t>
            </a:r>
            <a:r>
              <a:rPr lang="en-US" altLang="ko-KR" sz="1000" b="0" dirty="0" smtClean="0"/>
              <a:t/>
            </a:r>
            <a:br>
              <a:rPr lang="en-US" altLang="ko-KR" sz="1000" b="0" dirty="0" smtClean="0"/>
            </a:br>
            <a:r>
              <a:rPr lang="en-US" altLang="ko-KR" sz="1000" b="0" dirty="0" smtClean="0"/>
              <a:t>- </a:t>
            </a:r>
            <a:r>
              <a:rPr lang="ko-KR" altLang="en-US" sz="1000" b="0" dirty="0" smtClean="0"/>
              <a:t>예산</a:t>
            </a:r>
            <a:r>
              <a:rPr lang="en-US" altLang="ko-KR" sz="1000" b="0" dirty="0" smtClean="0"/>
              <a:t>(</a:t>
            </a:r>
            <a:r>
              <a:rPr lang="ko-KR" altLang="en-US" sz="1000" b="0" dirty="0" err="1" smtClean="0"/>
              <a:t>세입세출등</a:t>
            </a:r>
            <a:r>
              <a:rPr lang="en-US" altLang="ko-KR" sz="1000" b="0" dirty="0" smtClean="0"/>
              <a:t>)</a:t>
            </a:r>
            <a:r>
              <a:rPr lang="ko-KR" altLang="en-US" sz="1000" b="0" dirty="0" smtClean="0"/>
              <a:t>현황</a:t>
            </a:r>
            <a:endParaRPr lang="en-US" altLang="ko-KR" sz="1000" b="0" dirty="0"/>
          </a:p>
        </p:txBody>
      </p:sp>
      <p:sp>
        <p:nvSpPr>
          <p:cNvPr id="34" name="타원 33"/>
          <p:cNvSpPr/>
          <p:nvPr/>
        </p:nvSpPr>
        <p:spPr>
          <a:xfrm>
            <a:off x="750486" y="658211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1751" y="6592160"/>
            <a:ext cx="2254709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지도 위 기능표시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소통정보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버스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지하철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CCTV,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단속카메라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대피시설 등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0" name="꺾인 연결선 39"/>
          <p:cNvCxnSpPr>
            <a:stCxn id="34" idx="4"/>
            <a:endCxn id="36" idx="1"/>
          </p:cNvCxnSpPr>
          <p:nvPr/>
        </p:nvCxnSpPr>
        <p:spPr>
          <a:xfrm rot="16200000" flipH="1">
            <a:off x="-2096027" y="3918325"/>
            <a:ext cx="6012158" cy="43398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962396" y="787940"/>
            <a:ext cx="2267188" cy="204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962396" y="544388"/>
            <a:ext cx="2267188" cy="20428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772185" y="370795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124" y="108223"/>
            <a:ext cx="3371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안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인트로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- </a:t>
            </a:r>
            <a:r>
              <a:rPr lang="ko-KR" altLang="en-US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구성 설명</a:t>
            </a:r>
          </a:p>
        </p:txBody>
      </p:sp>
    </p:spTree>
    <p:extLst>
      <p:ext uri="{BB962C8B-B14F-4D97-AF65-F5344CB8AC3E}">
        <p14:creationId xmlns:p14="http://schemas.microsoft.com/office/powerpoint/2010/main" val="32409845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직선 연결선 58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39711" y="4671605"/>
            <a:ext cx="1296144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TOP-VIEW</a:t>
            </a:r>
            <a:endParaRPr lang="ko-KR" altLang="en-US" sz="14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740" y="4572719"/>
            <a:ext cx="894710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재난안전대응현황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재난분야별현황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교통정보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도로소통상황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돌발및통제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대기환경정보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기상현황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경보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채무전광판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여론동향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원순씨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홈페이지의 키워드를 중심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네이버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API),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SNS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트위터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시민참여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천만상상오아시스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시민제안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응답소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공공임대주택확충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국공립어린이집확충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환자안심병원확충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찾아가는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동주민센터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 현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집무실 벽면의 주요사업 위주로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 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분야별 시정목록 시각화 지표형태로 제공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시정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여론동향을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그리드로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균일하게 표출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2124" y="108223"/>
            <a:ext cx="28754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안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인트로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– TOP VIEW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1267" name="Picture 3" descr="C:\Users\kimsy\Desktop\디지털시민시장실_7안11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388"/>
            <a:ext cx="106934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013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" descr="C:\Users\kimsy\Desktop\디지털시민시장실_7안11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4388"/>
            <a:ext cx="106934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직선 연결선 58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2124" y="108223"/>
            <a:ext cx="3381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안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인트로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구성 설명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18644" y="4886343"/>
            <a:ext cx="2254709" cy="132343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1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600"/>
              </a:lnSpc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화재구조구급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돌발 및 통제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기상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대기현황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터치시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지도 위에 상세정보 표시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171450" indent="-171450">
              <a:lnSpc>
                <a:spcPts val="1600"/>
              </a:lnSpc>
              <a:buFontTx/>
              <a:buChar char="-"/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교통사고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통계정보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lnSpc>
                <a:spcPts val="1600"/>
              </a:lnSpc>
              <a:buFontTx/>
              <a:buChar char="-"/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재정현황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채무전광판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-1" y="2155889"/>
            <a:ext cx="162125" cy="809901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0" y="2861661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2124" y="4886343"/>
            <a:ext cx="1296144" cy="323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ko-KR" dirty="0"/>
              <a:t>1. </a:t>
            </a:r>
            <a:r>
              <a:rPr lang="en-US" altLang="ko-KR" dirty="0" smtClean="0"/>
              <a:t>GNB</a:t>
            </a:r>
            <a:endParaRPr lang="en-US" altLang="ko-KR" dirty="0"/>
          </a:p>
        </p:txBody>
      </p:sp>
      <p:sp>
        <p:nvSpPr>
          <p:cNvPr id="21" name="TextBox 20"/>
          <p:cNvSpPr txBox="1"/>
          <p:nvPr/>
        </p:nvSpPr>
        <p:spPr>
          <a:xfrm>
            <a:off x="171852" y="5247049"/>
            <a:ext cx="1286416" cy="323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ko-KR" dirty="0"/>
              <a:t>2. </a:t>
            </a:r>
            <a:r>
              <a:rPr lang="ko-KR" altLang="en-US" dirty="0"/>
              <a:t>공통 기능 </a:t>
            </a:r>
            <a:r>
              <a:rPr lang="ko-KR" altLang="en-US" dirty="0" err="1"/>
              <a:t>툴바</a:t>
            </a:r>
            <a:endParaRPr lang="en-US" altLang="ko-KR" sz="900" dirty="0"/>
          </a:p>
        </p:txBody>
      </p:sp>
      <p:sp>
        <p:nvSpPr>
          <p:cNvPr id="22" name="직사각형 21"/>
          <p:cNvSpPr/>
          <p:nvPr/>
        </p:nvSpPr>
        <p:spPr>
          <a:xfrm>
            <a:off x="20380" y="4357657"/>
            <a:ext cx="1005840" cy="1967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4" name="꺾인 연결선 23"/>
          <p:cNvCxnSpPr>
            <a:endCxn id="20" idx="1"/>
          </p:cNvCxnSpPr>
          <p:nvPr/>
        </p:nvCxnSpPr>
        <p:spPr>
          <a:xfrm rot="16200000" flipH="1">
            <a:off x="-850543" y="4035259"/>
            <a:ext cx="1944270" cy="81063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127324" y="4833018"/>
            <a:ext cx="2405172" cy="50270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6. </a:t>
            </a:r>
            <a:r>
              <a:rPr lang="ko-KR" altLang="en-US" dirty="0" smtClean="0"/>
              <a:t>시민참여</a:t>
            </a:r>
            <a:endParaRPr lang="en-US" altLang="ko-KR" dirty="0" smtClean="0"/>
          </a:p>
          <a:p>
            <a:r>
              <a:rPr lang="en-US" altLang="ko-KR" sz="1000" b="0" dirty="0" smtClean="0"/>
              <a:t>- </a:t>
            </a:r>
            <a:r>
              <a:rPr lang="ko-KR" altLang="en-US" sz="1000" b="0" dirty="0" smtClean="0"/>
              <a:t>시민제안</a:t>
            </a:r>
            <a:r>
              <a:rPr lang="en-US" altLang="ko-KR" sz="1000" b="0" dirty="0" smtClean="0"/>
              <a:t>, </a:t>
            </a:r>
            <a:r>
              <a:rPr lang="ko-KR" altLang="en-US" sz="1000" b="0" dirty="0" smtClean="0"/>
              <a:t>시민 토론</a:t>
            </a:r>
            <a:endParaRPr lang="en-US" altLang="ko-KR" sz="1000" b="0" dirty="0"/>
          </a:p>
        </p:txBody>
      </p:sp>
      <p:cxnSp>
        <p:nvCxnSpPr>
          <p:cNvPr id="29" name="꺾인 연결선 28"/>
          <p:cNvCxnSpPr>
            <a:stCxn id="34" idx="4"/>
            <a:endCxn id="35" idx="1"/>
          </p:cNvCxnSpPr>
          <p:nvPr/>
        </p:nvCxnSpPr>
        <p:spPr>
          <a:xfrm rot="16200000" flipH="1">
            <a:off x="7259698" y="5080546"/>
            <a:ext cx="1468758" cy="266493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7218908" y="2549400"/>
            <a:ext cx="3474492" cy="179214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7722964" y="4203680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-1" y="4464101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90789" y="808598"/>
            <a:ext cx="3455711" cy="350031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1" name="꺾인 연결선 50"/>
          <p:cNvCxnSpPr>
            <a:endCxn id="10" idx="1"/>
          </p:cNvCxnSpPr>
          <p:nvPr/>
        </p:nvCxnSpPr>
        <p:spPr>
          <a:xfrm rot="16200000" flipH="1">
            <a:off x="1090891" y="4820310"/>
            <a:ext cx="1239148" cy="216358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/>
          <p:cNvSpPr/>
          <p:nvPr/>
        </p:nvSpPr>
        <p:spPr>
          <a:xfrm>
            <a:off x="1498219" y="4197559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26620" y="4886343"/>
            <a:ext cx="2254709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현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집무실 벽면의 주요사업 위주로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목표 실적 구성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7" name="꺾인 연결선 56"/>
          <p:cNvCxnSpPr>
            <a:endCxn id="56" idx="1"/>
          </p:cNvCxnSpPr>
          <p:nvPr/>
        </p:nvCxnSpPr>
        <p:spPr>
          <a:xfrm rot="16200000" flipH="1">
            <a:off x="3101968" y="3715633"/>
            <a:ext cx="2600105" cy="449200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3618844" y="860525"/>
            <a:ext cx="3455711" cy="1668299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626620" y="5766184"/>
            <a:ext cx="2254709" cy="50270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5.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1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분야별 시정 현황 시각화 제공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3618844" y="2549401"/>
            <a:ext cx="3455711" cy="1756762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타원 67"/>
          <p:cNvSpPr/>
          <p:nvPr/>
        </p:nvSpPr>
        <p:spPr>
          <a:xfrm>
            <a:off x="4073353" y="2417467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4297953" y="4203681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218908" y="808598"/>
            <a:ext cx="3474492" cy="179214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7218908" y="1890649"/>
            <a:ext cx="275734" cy="27573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2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endParaRPr lang="ko-KR" altLang="en-US" sz="12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27324" y="5594229"/>
            <a:ext cx="2405172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 smtClean="0"/>
              <a:t>7. </a:t>
            </a:r>
            <a:r>
              <a:rPr lang="ko-KR" altLang="en-US" dirty="0"/>
              <a:t>여론동향</a:t>
            </a:r>
            <a:r>
              <a:rPr lang="en-US" altLang="ko-KR" dirty="0"/>
              <a:t> </a:t>
            </a:r>
          </a:p>
          <a:p>
            <a:r>
              <a:rPr lang="ko-KR" altLang="en-US" sz="1000" b="0" dirty="0" smtClean="0"/>
              <a:t>뉴스</a:t>
            </a:r>
            <a:r>
              <a:rPr lang="en-US" altLang="ko-KR" sz="1000" b="0" dirty="0" smtClean="0"/>
              <a:t>, SNS </a:t>
            </a:r>
            <a:r>
              <a:rPr lang="ko-KR" altLang="en-US" sz="1000" b="0" dirty="0" smtClean="0"/>
              <a:t>업데이트 </a:t>
            </a:r>
            <a:r>
              <a:rPr lang="ko-KR" altLang="en-US" sz="1000" b="0" dirty="0"/>
              <a:t>주기</a:t>
            </a:r>
            <a:r>
              <a:rPr lang="en-US" altLang="ko-KR" sz="1000" b="0" dirty="0"/>
              <a:t/>
            </a:r>
            <a:br>
              <a:rPr lang="en-US" altLang="ko-KR" sz="1000" b="0" dirty="0"/>
            </a:br>
            <a:r>
              <a:rPr lang="en-US" altLang="ko-KR" sz="1000" b="0" dirty="0"/>
              <a:t>- 5</a:t>
            </a:r>
            <a:r>
              <a:rPr lang="ko-KR" altLang="en-US" sz="1000" b="0" dirty="0"/>
              <a:t>분 단위 갱신설정 </a:t>
            </a:r>
            <a:endParaRPr lang="en-US" altLang="ko-KR" sz="1000" b="0" dirty="0"/>
          </a:p>
        </p:txBody>
      </p:sp>
      <p:cxnSp>
        <p:nvCxnSpPr>
          <p:cNvPr id="36" name="꺾인 연결선 35"/>
          <p:cNvCxnSpPr>
            <a:stCxn id="32" idx="4"/>
            <a:endCxn id="28" idx="1"/>
          </p:cNvCxnSpPr>
          <p:nvPr/>
        </p:nvCxnSpPr>
        <p:spPr>
          <a:xfrm rot="16200000" flipH="1">
            <a:off x="6283056" y="3240101"/>
            <a:ext cx="2917986" cy="770549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4923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직선 연결선 58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39711" y="4671605"/>
            <a:ext cx="1296144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TOP-VIEW</a:t>
            </a:r>
            <a:endParaRPr lang="ko-KR" altLang="en-US" sz="1400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2124" y="108223"/>
            <a:ext cx="28754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안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인트로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– TOP VIEW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338" name="Picture 2" descr="C:\Users\kimsy\Desktop\aaaa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6939"/>
            <a:ext cx="106934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664740" y="4572719"/>
            <a:ext cx="89471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 도시현황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재난안전통계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교통사고 사망자 통계 등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통계 및 현황 데이터 시각화 제공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하단은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재난안전대응현황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재난분야별현황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교통정보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도로소통상황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돌발및통제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대기환경정보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기상현황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예보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경보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),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채무전광판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콘텐츠로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구성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 전반에 걸친 사업에 대한 통계 데이터 시각화 제공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분야별 시정현황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주요사업공정률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사업별 예산집행현황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하단은 공공임대주택확충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국공립어린이집확충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환자안심병원확충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찾아가는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동주민센터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 현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집무실 벽면의 주요사업 위주로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구성</a:t>
            </a:r>
            <a:endParaRPr lang="en-US" altLang="ko-KR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여론동향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BUZZ, ENGAGMENT, SENTIMENT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등 키워드에 따른 여론 동향 시각화 제공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“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원순씨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홈페이지의 키워드를 중심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뉴스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네이버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API), </a:t>
            </a:r>
            <a:r>
              <a:rPr lang="en-US" altLang="ko-KR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SNS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트위터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구성하고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분단위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설정으로 데이터 갱신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 SNS 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원순씨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트위터는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1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일기준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20~30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트윗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콘텐츠가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업데이트 되고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있음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87313" indent="-87313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49101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직선 연결선 58"/>
          <p:cNvCxnSpPr/>
          <p:nvPr/>
        </p:nvCxnSpPr>
        <p:spPr>
          <a:xfrm>
            <a:off x="0" y="544388"/>
            <a:ext cx="1069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2124" y="108223"/>
            <a:ext cx="3381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안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인트로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화면</a:t>
            </a:r>
            <a:r>
              <a:rPr lang="en-US" altLang="ko-KR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– </a:t>
            </a:r>
            <a:r>
              <a:rPr lang="ko-KR" altLang="en-US" sz="1600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콘텐츠</a:t>
            </a:r>
            <a:r>
              <a:rPr lang="ko-KR" altLang="en-US" sz="16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구성 설명</a:t>
            </a:r>
            <a:endParaRPr lang="ko-KR" altLang="en-US" sz="16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Picture 2" descr="C:\Users\kimsy\Desktop\aaaa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6939"/>
            <a:ext cx="10693400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818644" y="4886343"/>
            <a:ext cx="2254709" cy="11182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1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3. </a:t>
            </a:r>
            <a:r>
              <a:rPr lang="ko-KR" altLang="en-US" sz="11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실시간도시현황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lnSpc>
                <a:spcPts val="1600"/>
              </a:lnSpc>
              <a:buFontTx/>
              <a:buChar char="-"/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재난안전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교통사고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통계정보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>
              <a:lnSpc>
                <a:spcPts val="1600"/>
              </a:lnSpc>
              <a:buFontTx/>
              <a:buChar char="-"/>
            </a:pP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금일기준 재난안전대응현황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교통정보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대기환경정보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재정현황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채무전광판</a:t>
            </a: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16" y="4860751"/>
            <a:ext cx="1296144" cy="323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ko-KR" dirty="0"/>
              <a:t>1. </a:t>
            </a:r>
            <a:r>
              <a:rPr lang="en-US" altLang="ko-KR" dirty="0" smtClean="0"/>
              <a:t>GNB</a:t>
            </a:r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99844" y="5221457"/>
            <a:ext cx="1286416" cy="3231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lnSpc>
                <a:spcPts val="1800"/>
              </a:lnSpc>
            </a:pPr>
            <a:r>
              <a:rPr lang="en-US" altLang="ko-KR" dirty="0"/>
              <a:t>2. </a:t>
            </a:r>
            <a:r>
              <a:rPr lang="ko-KR" altLang="en-US" dirty="0"/>
              <a:t>공통 기능 </a:t>
            </a:r>
            <a:r>
              <a:rPr lang="ko-KR" altLang="en-US" dirty="0" err="1"/>
              <a:t>툴바</a:t>
            </a:r>
            <a:endParaRPr lang="en-US" altLang="ko-KR" sz="900" dirty="0"/>
          </a:p>
        </p:txBody>
      </p:sp>
      <p:sp>
        <p:nvSpPr>
          <p:cNvPr id="11" name="직사각형 10"/>
          <p:cNvSpPr/>
          <p:nvPr/>
        </p:nvSpPr>
        <p:spPr>
          <a:xfrm>
            <a:off x="20380" y="4357657"/>
            <a:ext cx="1005840" cy="1967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42558" y="4833018"/>
            <a:ext cx="2405172" cy="91307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100" b="1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6. </a:t>
            </a:r>
            <a:r>
              <a:rPr lang="ko-KR" altLang="en-US" dirty="0"/>
              <a:t>여론동향</a:t>
            </a:r>
            <a:r>
              <a:rPr lang="en-US" altLang="ko-KR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altLang="ko-KR" sz="1000" b="0" dirty="0" smtClean="0"/>
              <a:t>BUZZ, ENGAGMENT, SENTIMENT</a:t>
            </a:r>
            <a:br>
              <a:rPr lang="en-US" altLang="ko-KR" sz="1000" b="0" dirty="0" smtClean="0"/>
            </a:br>
            <a:r>
              <a:rPr lang="en-US" altLang="ko-KR" sz="1000" b="0" dirty="0" smtClean="0"/>
              <a:t> </a:t>
            </a:r>
            <a:r>
              <a:rPr lang="ko-KR" altLang="en-US" sz="1000" b="0" dirty="0" smtClean="0"/>
              <a:t>등 키워드 동향 분석 </a:t>
            </a:r>
            <a:endParaRPr lang="en-US" altLang="ko-KR" sz="1000" b="0" dirty="0" smtClean="0"/>
          </a:p>
          <a:p>
            <a:pPr marL="171450" indent="-171450">
              <a:buFontTx/>
              <a:buChar char="-"/>
            </a:pPr>
            <a:r>
              <a:rPr lang="ko-KR" altLang="en-US" sz="1000" b="0" dirty="0" smtClean="0"/>
              <a:t>뉴스</a:t>
            </a:r>
            <a:r>
              <a:rPr lang="en-US" altLang="ko-KR" sz="1000" b="0" dirty="0" smtClean="0"/>
              <a:t>, SNS</a:t>
            </a:r>
            <a:endParaRPr lang="en-US" altLang="ko-KR" sz="1000" b="0" dirty="0"/>
          </a:p>
        </p:txBody>
      </p:sp>
      <p:sp>
        <p:nvSpPr>
          <p:cNvPr id="15" name="타원 14"/>
          <p:cNvSpPr/>
          <p:nvPr/>
        </p:nvSpPr>
        <p:spPr>
          <a:xfrm>
            <a:off x="-1" y="4464101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" name="꺾인 연결선 15"/>
          <p:cNvCxnSpPr>
            <a:stCxn id="17" idx="4"/>
            <a:endCxn id="8" idx="1"/>
          </p:cNvCxnSpPr>
          <p:nvPr/>
        </p:nvCxnSpPr>
        <p:spPr>
          <a:xfrm rot="16200000" flipH="1">
            <a:off x="1190950" y="4817776"/>
            <a:ext cx="1053625" cy="201763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1512814" y="4169132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26620" y="4886343"/>
            <a:ext cx="2254709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4. 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시정현황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시정전반 통계 시각화 제공</a:t>
            </a:r>
            <a:endParaRPr lang="en-US" altLang="ko-KR" sz="1000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1600"/>
              </a:lnSpc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주요사업 목록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0380" y="2124447"/>
            <a:ext cx="187752" cy="72008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-1" y="2733170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98200" y="811212"/>
            <a:ext cx="3444977" cy="350382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624211" y="811212"/>
            <a:ext cx="3444977" cy="350382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297953" y="4203681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8" name="꺾인 연결선 27"/>
          <p:cNvCxnSpPr/>
          <p:nvPr/>
        </p:nvCxnSpPr>
        <p:spPr>
          <a:xfrm rot="16200000" flipH="1">
            <a:off x="3976088" y="4817776"/>
            <a:ext cx="1053625" cy="201763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7248423" y="811212"/>
            <a:ext cx="3444977" cy="350382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7506940" y="4203681"/>
            <a:ext cx="208133" cy="222714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endParaRPr lang="ko-KR" altLang="en-US" sz="1000" b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1" name="꺾인 연결선 30"/>
          <p:cNvCxnSpPr/>
          <p:nvPr/>
        </p:nvCxnSpPr>
        <p:spPr>
          <a:xfrm rot="16200000" flipH="1">
            <a:off x="7188260" y="4817776"/>
            <a:ext cx="1053625" cy="201763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6531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smtClean="0">
            <a:solidFill>
              <a:schemeClr val="tx1"/>
            </a:solidFill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100"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28543</TotalTime>
  <Words>441</Words>
  <Application>Microsoft Office PowerPoint</Application>
  <PresentationFormat>사용자 지정</PresentationFormat>
  <Paragraphs>93</Paragraphs>
  <Slides>7</Slides>
  <Notes>7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굴림</vt:lpstr>
      <vt:lpstr>Arial</vt:lpstr>
      <vt:lpstr>맑은 고딕</vt:lpstr>
      <vt:lpstr>KoPub돋움체 Medium</vt:lpstr>
      <vt:lpstr>나눔고딕</vt:lpstr>
      <vt:lpstr>Office 테마</vt:lpstr>
      <vt:lpstr>사진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kimsy</cp:lastModifiedBy>
  <cp:revision>888</cp:revision>
  <cp:lastPrinted>2016-12-08T06:27:44Z</cp:lastPrinted>
  <dcterms:created xsi:type="dcterms:W3CDTF">2014-06-17T14:38:15Z</dcterms:created>
  <dcterms:modified xsi:type="dcterms:W3CDTF">2016-12-19T08:48:05Z</dcterms:modified>
</cp:coreProperties>
</file>