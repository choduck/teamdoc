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389" r:id="rId2"/>
    <p:sldId id="1194" r:id="rId3"/>
    <p:sldId id="1200" r:id="rId4"/>
    <p:sldId id="1206" r:id="rId5"/>
    <p:sldId id="1201" r:id="rId6"/>
    <p:sldId id="1192" r:id="rId7"/>
    <p:sldId id="1185" r:id="rId8"/>
  </p:sldIdLst>
  <p:sldSz cx="9906000" cy="6858000" type="A4"/>
  <p:notesSz cx="6797675" cy="9928225"/>
  <p:embeddedFontLst>
    <p:embeddedFont>
      <p:font typeface="맑은 고딕" panose="020B0503020000020004" pitchFamily="50" charset="-127"/>
      <p:regular r:id="rId11"/>
      <p:bold r:id="rId12"/>
    </p:embeddedFont>
    <p:embeddedFont>
      <p:font typeface="나눔고딕" panose="020B0600000101010101" charset="-127"/>
      <p:regular r:id="rId13"/>
      <p:bold r:id="rId14"/>
    </p:embeddedFont>
    <p:embeddedFont>
      <p:font typeface="Wingdings 2" panose="05020102010507070707" pitchFamily="18" charset="2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맑은 고딕" panose="020B0503020000020004" pitchFamily="50" charset="-127"/>
      <p:regular r:id="rId11"/>
      <p:bold r:id="rId12"/>
    </p:embeddedFont>
    <p:embeddedFont>
      <p:font typeface="나눔고딕 ExtraBold" panose="020B0600000101010101" charset="-127"/>
      <p:bold r:id="rId20"/>
    </p:embeddedFont>
    <p:embeddedFont>
      <p:font typeface="산돌고딕 M" panose="020B0600000101010101" charset="-127"/>
      <p:regular r:id="rId21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2">
          <p15:clr>
            <a:srgbClr val="A4A3A4"/>
          </p15:clr>
        </p15:guide>
        <p15:guide id="2" orient="horz" pos="2523">
          <p15:clr>
            <a:srgbClr val="A4A3A4"/>
          </p15:clr>
        </p15:guide>
        <p15:guide id="3" pos="3120">
          <p15:clr>
            <a:srgbClr val="A4A3A4"/>
          </p15:clr>
        </p15:guide>
        <p15:guide id="4" pos="5978">
          <p15:clr>
            <a:srgbClr val="A4A3A4"/>
          </p15:clr>
        </p15:guide>
        <p15:guide id="5" pos="1260">
          <p15:clr>
            <a:srgbClr val="A4A3A4"/>
          </p15:clr>
        </p15:guide>
        <p15:guide id="6" pos="1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DS" initials="S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8BC2"/>
    <a:srgbClr val="0000FF"/>
    <a:srgbClr val="FF5050"/>
    <a:srgbClr val="5E9EFF"/>
    <a:srgbClr val="000000"/>
    <a:srgbClr val="2F2FBF"/>
    <a:srgbClr val="009ED6"/>
    <a:srgbClr val="A2D4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6" autoAdjust="0"/>
    <p:restoredTop sz="96652" autoAdjust="0"/>
  </p:normalViewPr>
  <p:slideViewPr>
    <p:cSldViewPr showGuides="1">
      <p:cViewPr varScale="1">
        <p:scale>
          <a:sx n="111" d="100"/>
          <a:sy n="111" d="100"/>
        </p:scale>
        <p:origin x="1398" y="96"/>
      </p:cViewPr>
      <p:guideLst>
        <p:guide orient="horz" pos="572"/>
        <p:guide orient="horz" pos="2523"/>
        <p:guide pos="3120"/>
        <p:guide pos="5978"/>
        <p:guide pos="1260"/>
        <p:guide pos="1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4530"/>
    </p:cViewPr>
  </p:sorterViewPr>
  <p:notesViewPr>
    <p:cSldViewPr showGuides="1">
      <p:cViewPr varScale="1">
        <p:scale>
          <a:sx n="76" d="100"/>
          <a:sy n="76" d="100"/>
        </p:scale>
        <p:origin x="-2142" y="-11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980" cy="496332"/>
          </a:xfrm>
          <a:prstGeom prst="rect">
            <a:avLst/>
          </a:prstGeom>
        </p:spPr>
        <p:txBody>
          <a:bodyPr vert="horz" lIns="91981" tIns="45991" rIns="91981" bIns="4599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095" y="1"/>
            <a:ext cx="2945980" cy="496332"/>
          </a:xfrm>
          <a:prstGeom prst="rect">
            <a:avLst/>
          </a:prstGeom>
        </p:spPr>
        <p:txBody>
          <a:bodyPr vert="horz" lIns="91981" tIns="45991" rIns="91981" bIns="4599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92B1A77-2514-48A0-BD20-7E252C7AE8D4}" type="datetimeFigureOut">
              <a:rPr lang="ko-KR" altLang="en-US"/>
              <a:pPr>
                <a:defRPr/>
              </a:pPr>
              <a:t>2016-09-06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0297"/>
            <a:ext cx="2945980" cy="496331"/>
          </a:xfrm>
          <a:prstGeom prst="rect">
            <a:avLst/>
          </a:prstGeom>
        </p:spPr>
        <p:txBody>
          <a:bodyPr vert="horz" lIns="91981" tIns="45991" rIns="91981" bIns="4599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095" y="9430297"/>
            <a:ext cx="2945980" cy="496331"/>
          </a:xfrm>
          <a:prstGeom prst="rect">
            <a:avLst/>
          </a:prstGeom>
        </p:spPr>
        <p:txBody>
          <a:bodyPr vert="horz" lIns="91981" tIns="45991" rIns="91981" bIns="4599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3E896C0-ABFC-4640-90F6-BEA7CFAD55B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71127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980" cy="496332"/>
          </a:xfrm>
          <a:prstGeom prst="rect">
            <a:avLst/>
          </a:prstGeom>
        </p:spPr>
        <p:txBody>
          <a:bodyPr vert="horz" lIns="93064" tIns="46532" rIns="93064" bIns="46532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095" y="1"/>
            <a:ext cx="2945980" cy="496332"/>
          </a:xfrm>
          <a:prstGeom prst="rect">
            <a:avLst/>
          </a:prstGeom>
        </p:spPr>
        <p:txBody>
          <a:bodyPr vert="horz" lIns="93064" tIns="46532" rIns="93064" bIns="46532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A335150-B964-4361-9F88-0596EA09F1A7}" type="datetimeFigureOut">
              <a:rPr lang="ko-KR" altLang="en-US"/>
              <a:pPr>
                <a:defRPr/>
              </a:pPr>
              <a:t>2016-09-06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6125"/>
            <a:ext cx="537210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064" tIns="46532" rIns="93064" bIns="46532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089" y="4715947"/>
            <a:ext cx="5437500" cy="4466982"/>
          </a:xfrm>
          <a:prstGeom prst="rect">
            <a:avLst/>
          </a:prstGeom>
        </p:spPr>
        <p:txBody>
          <a:bodyPr vert="horz" lIns="93064" tIns="46532" rIns="93064" bIns="46532" rtlCol="0">
            <a:normAutofit/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  <a:endParaRPr lang="ko-KR" altLang="en-US" noProof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0297"/>
            <a:ext cx="2945980" cy="496331"/>
          </a:xfrm>
          <a:prstGeom prst="rect">
            <a:avLst/>
          </a:prstGeom>
        </p:spPr>
        <p:txBody>
          <a:bodyPr vert="horz" lIns="93064" tIns="46532" rIns="93064" bIns="46532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095" y="9430297"/>
            <a:ext cx="2945980" cy="496331"/>
          </a:xfrm>
          <a:prstGeom prst="rect">
            <a:avLst/>
          </a:prstGeom>
        </p:spPr>
        <p:txBody>
          <a:bodyPr vert="horz" lIns="93064" tIns="46532" rIns="93064" bIns="46532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EE1521E-0E94-4F91-B416-9BC668BD40F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90515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smtClean="0"/>
          </a:p>
        </p:txBody>
      </p:sp>
      <p:sp>
        <p:nvSpPr>
          <p:cNvPr id="7885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36C42AE-1E83-414A-80A3-EC1ACE6AF6E1}" type="slidenum">
              <a:rPr lang="ko-KR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8391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E1521E-0E94-4F91-B416-9BC668BD40F7}" type="slidenum">
              <a:rPr lang="ko-KR" altLang="en-US" smtClean="0"/>
              <a:pPr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2974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6"/>
          <p:cNvSpPr/>
          <p:nvPr userDrawn="1"/>
        </p:nvSpPr>
        <p:spPr>
          <a:xfrm>
            <a:off x="0" y="1357313"/>
            <a:ext cx="9906000" cy="1643062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4800" b="1" dirty="0">
              <a:solidFill>
                <a:prstClr val="white"/>
              </a:solidFill>
            </a:endParaRP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2A4C3C-21DF-4197-9F5D-84509D4370F2}" type="datetimeFigureOut">
              <a:rPr lang="ko-KR" altLang="en-US"/>
              <a:pPr>
                <a:defRPr/>
              </a:pPr>
              <a:t>2016-09-06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ED8563-ACBB-4E40-87EE-AC553AB98C11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21A432-65A6-4301-8132-FB2CBB4E8031}" type="datetimeFigureOut">
              <a:rPr lang="ko-KR" altLang="en-US"/>
              <a:pPr>
                <a:defRPr/>
              </a:pPr>
              <a:t>2016-09-06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67955C-9C63-457B-8582-A9D275EEFA46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8DF0DE-6E79-4B05-9974-9EF82E620E9C}" type="datetimeFigureOut">
              <a:rPr lang="ko-KR" altLang="en-US"/>
              <a:pPr>
                <a:defRPr/>
              </a:pPr>
              <a:t>2016-09-06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92227F-7A36-461C-9766-1D83FC66CBB9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2"/>
          <p:cNvSpPr txBox="1">
            <a:spLocks noChangeArrowheads="1"/>
          </p:cNvSpPr>
          <p:nvPr userDrawn="1"/>
        </p:nvSpPr>
        <p:spPr bwMode="auto">
          <a:xfrm>
            <a:off x="3627438" y="6597650"/>
            <a:ext cx="2809875" cy="215444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kumimoji="0" lang="en-US" altLang="ko-KR" sz="800" b="1" dirty="0" smtClean="0">
                <a:solidFill>
                  <a:srgbClr val="FF0000"/>
                </a:solidFill>
                <a:latin typeface="Calibri" pitchFamily="34" charset="0"/>
                <a:ea typeface="맑은 고딕" pitchFamily="50" charset="-127"/>
                <a:cs typeface="Calibri" pitchFamily="34" charset="0"/>
              </a:rPr>
              <a:t>- Internal Use Only -</a:t>
            </a:r>
          </a:p>
        </p:txBody>
      </p:sp>
      <p:pic>
        <p:nvPicPr>
          <p:cNvPr id="6" name="Picture 3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64" y="6597649"/>
            <a:ext cx="720080" cy="244475"/>
          </a:xfrm>
          <a:prstGeom prst="rect">
            <a:avLst/>
          </a:prstGeom>
          <a:noFill/>
          <a:ln>
            <a:noFill/>
          </a:ln>
          <a:effectLst/>
          <a:extLst/>
        </p:spPr>
      </p:pic>
      <p:sp>
        <p:nvSpPr>
          <p:cNvPr id="8" name="직사각형 6"/>
          <p:cNvSpPr/>
          <p:nvPr userDrawn="1"/>
        </p:nvSpPr>
        <p:spPr>
          <a:xfrm>
            <a:off x="0" y="1"/>
            <a:ext cx="9906000" cy="6926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3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270704" y="0"/>
            <a:ext cx="9294744" cy="692696"/>
          </a:xfrm>
        </p:spPr>
        <p:txBody>
          <a:bodyPr>
            <a:normAutofit/>
          </a:bodyPr>
          <a:lstStyle>
            <a:lvl1pPr algn="l">
              <a:defRPr sz="2400" b="1">
                <a:solidFill>
                  <a:schemeClr val="bg1"/>
                </a:solidFill>
                <a:latin typeface="산돌고딕 M" pitchFamily="18" charset="-127"/>
                <a:ea typeface="산돌고딕 M" pitchFamily="18" charset="-127"/>
                <a:cs typeface="Calibri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6"/>
          <p:cNvSpPr/>
          <p:nvPr userDrawn="1"/>
        </p:nvSpPr>
        <p:spPr>
          <a:xfrm>
            <a:off x="0" y="1"/>
            <a:ext cx="9906000" cy="6926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3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 userDrawn="1"/>
        </p:nvSpPr>
        <p:spPr bwMode="auto">
          <a:xfrm>
            <a:off x="4666357" y="6481258"/>
            <a:ext cx="574675" cy="363537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0" hangingPunct="1">
              <a:defRPr/>
            </a:pPr>
            <a:fld id="{16190FCE-2A33-4D39-9E95-7AFD816533BF}" type="slidenum">
              <a:rPr kumimoji="0" lang="ko-KR" altLang="en-US" sz="900" smtClean="0">
                <a:latin typeface="Calibri" pitchFamily="34" charset="0"/>
                <a:ea typeface="맑은 고딕" pitchFamily="50" charset="-127"/>
                <a:cs typeface="Calibri" pitchFamily="34" charset="0"/>
              </a:rPr>
              <a:pPr algn="ctr" eaLnBrk="1" latinLnBrk="0" hangingPunct="1">
                <a:defRPr/>
              </a:pPr>
              <a:t>‹#›</a:t>
            </a:fld>
            <a:endParaRPr kumimoji="0" lang="en-US" altLang="ko-KR" sz="900" dirty="0" smtClean="0">
              <a:latin typeface="Calibri" pitchFamily="34" charset="0"/>
              <a:ea typeface="맑은 고딕" pitchFamily="50" charset="-127"/>
              <a:cs typeface="Calibri" pitchFamily="34" charset="0"/>
            </a:endParaRPr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270704" y="0"/>
            <a:ext cx="9294744" cy="692696"/>
          </a:xfrm>
        </p:spPr>
        <p:txBody>
          <a:bodyPr>
            <a:normAutofit/>
          </a:bodyPr>
          <a:lstStyle>
            <a:lvl1pPr algn="l">
              <a:defRPr sz="2400" b="1">
                <a:solidFill>
                  <a:schemeClr val="bg1"/>
                </a:solidFill>
                <a:latin typeface="산돌고딕 M" pitchFamily="18" charset="-127"/>
                <a:ea typeface="산돌고딕 M" pitchFamily="18" charset="-127"/>
                <a:cs typeface="Calibri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8" name="Text Box 12"/>
          <p:cNvSpPr txBox="1">
            <a:spLocks noChangeArrowheads="1"/>
          </p:cNvSpPr>
          <p:nvPr userDrawn="1"/>
        </p:nvSpPr>
        <p:spPr bwMode="auto">
          <a:xfrm>
            <a:off x="3627438" y="6669940"/>
            <a:ext cx="2809875" cy="215444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kumimoji="0" lang="en-US" altLang="ko-KR" sz="800" b="1" dirty="0" smtClean="0">
                <a:solidFill>
                  <a:srgbClr val="FF0000"/>
                </a:solidFill>
                <a:latin typeface="Calibri" pitchFamily="34" charset="0"/>
                <a:ea typeface="맑은 고딕" pitchFamily="50" charset="-127"/>
                <a:cs typeface="Calibri" pitchFamily="34" charset="0"/>
              </a:rPr>
              <a:t>- Internal Use Only -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51130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50838" y="114300"/>
            <a:ext cx="7697787" cy="577850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350838" y="836613"/>
            <a:ext cx="9426575" cy="647700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noProof="0" smtClean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A40309-575B-4360-B403-25AC9C83F56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6017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33B17EA-1083-4CF8-9F07-8184CB63137C}" type="datetimeFigureOut">
              <a:rPr lang="ko-KR" altLang="en-US"/>
              <a:pPr>
                <a:defRPr/>
              </a:pPr>
              <a:t>2016-09-06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8E731C5-69C2-4E8D-B466-3278D3FA5751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888" r:id="rId1"/>
    <p:sldLayoutId id="2147486875" r:id="rId2"/>
    <p:sldLayoutId id="2147486876" r:id="rId3"/>
    <p:sldLayoutId id="2147486889" r:id="rId4"/>
    <p:sldLayoutId id="2147486890" r:id="rId5"/>
    <p:sldLayoutId id="2147486891" r:id="rId6"/>
    <p:sldLayoutId id="2147486892" r:id="rId7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microsoft.com/office/2007/relationships/hdphoto" Target="../media/hdphoto1.wdp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/search?hl=en&amp;q=allinurl:docs.oracle.com+javase+docs+api+fil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568624" y="3429000"/>
            <a:ext cx="6934200" cy="87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 eaLnBrk="0" fontAlgn="auto" latinLnBrk="0" hangingPunct="0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endParaRPr lang="en-US" altLang="ko-KR" sz="27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  <a:p>
            <a:pPr marL="342900" indent="-342900" algn="ctr" eaLnBrk="0" fontAlgn="auto" latinLnBrk="0" hangingPunct="0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altLang="ko-KR" sz="24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2016. 08</a:t>
            </a:r>
            <a:endParaRPr lang="ko-KR" altLang="en-US" sz="24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1514475"/>
            <a:ext cx="9906000" cy="12366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3600" b="1" kern="0" dirty="0" smtClean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서울시 디지털 시민 시장실 </a:t>
            </a:r>
            <a:endParaRPr kumimoji="0" lang="en-US" altLang="ko-KR" sz="3600" b="1" kern="0" dirty="0" smtClean="0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3600" b="1" kern="0" dirty="0" smtClean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아키텍처 설계</a:t>
            </a:r>
            <a:endParaRPr kumimoji="0" lang="en-US" altLang="ko-KR" sz="3600" b="1" kern="0" dirty="0" smtClean="0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595414" y="4720248"/>
            <a:ext cx="6934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 eaLnBrk="0" fontAlgn="auto" latinLnBrk="0" hangingPunct="0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endParaRPr lang="en-US" altLang="ko-KR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  <a:p>
            <a:pPr marL="342900" indent="-342900" algn="ctr" eaLnBrk="0" fontAlgn="auto" latinLnBrk="0" hangingPunct="0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ko-KR" altLang="en-US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한국정보공학 </a:t>
            </a:r>
            <a:r>
              <a:rPr lang="ko-KR" altLang="en-US" b="1" kern="0" dirty="0" err="1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디엔에스</a:t>
            </a:r>
            <a:endParaRPr lang="ko-KR" altLang="en-US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개요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632519" y="1340768"/>
            <a:ext cx="1595956" cy="503435"/>
          </a:xfrm>
          <a:prstGeom prst="rect">
            <a:avLst/>
          </a:prstGeom>
          <a:solidFill>
            <a:srgbClr val="DDDDDD"/>
          </a:solidFill>
          <a:ln w="19050">
            <a:solidFill>
              <a:srgbClr val="FFFFFF">
                <a:lumMod val="50000"/>
              </a:srgbClr>
            </a:solidFill>
            <a:miter lim="800000"/>
            <a:headEnd/>
            <a:tailEnd/>
          </a:ln>
          <a:effectLst/>
        </p:spPr>
        <p:txBody>
          <a:bodyPr wrap="square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목적</a:t>
            </a:r>
          </a:p>
        </p:txBody>
      </p:sp>
      <p:sp>
        <p:nvSpPr>
          <p:cNvPr id="64" name="직사각형 63"/>
          <p:cNvSpPr/>
          <p:nvPr/>
        </p:nvSpPr>
        <p:spPr>
          <a:xfrm>
            <a:off x="2308273" y="1342256"/>
            <a:ext cx="7181801" cy="502568"/>
          </a:xfrm>
          <a:prstGeom prst="rect">
            <a:avLst/>
          </a:prstGeom>
          <a:noFill/>
          <a:ln w="19050">
            <a:solidFill>
              <a:srgbClr val="FFFFFF">
                <a:lumMod val="50000"/>
              </a:srgbClr>
            </a:solidFill>
            <a:miter lim="800000"/>
            <a:headEnd/>
            <a:tailEnd/>
          </a:ln>
          <a:effectLst/>
        </p:spPr>
        <p:txBody>
          <a:bodyPr wrap="square" rtlCol="0" anchor="ctr" anchorCtr="0"/>
          <a:lstStyle/>
          <a:p>
            <a:pPr marL="182563" marR="0" lvl="0" indent="-182563" defTabSz="914400" eaLnBrk="1" fontAlgn="auto" latinLnBrk="0" hangingPunct="1">
              <a:lnSpc>
                <a:spcPts val="17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12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비기능요구사항 및 아키텍처 방향성 확인</a:t>
            </a:r>
            <a:r>
              <a:rPr kumimoji="0" lang="en-US" altLang="ko-KR" sz="12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, </a:t>
            </a:r>
            <a:r>
              <a:rPr kumimoji="0" lang="ko-KR" altLang="en-US" sz="12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결정을 위한 도구 활용</a:t>
            </a:r>
            <a:endParaRPr kumimoji="0" lang="en-US" altLang="ko-KR" sz="1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632519" y="1916832"/>
            <a:ext cx="1595956" cy="864096"/>
          </a:xfrm>
          <a:prstGeom prst="rect">
            <a:avLst/>
          </a:prstGeom>
          <a:solidFill>
            <a:srgbClr val="DDDDDD"/>
          </a:solidFill>
          <a:ln w="19050">
            <a:solidFill>
              <a:srgbClr val="FFFFFF">
                <a:lumMod val="50000"/>
              </a:srgbClr>
            </a:solidFill>
            <a:miter lim="800000"/>
            <a:headEnd/>
            <a:tailEnd/>
          </a:ln>
          <a:effectLst/>
        </p:spPr>
        <p:txBody>
          <a:bodyPr wrap="square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아키텍처</a:t>
            </a:r>
            <a:endParaRPr kumimoji="0" lang="ko-KR" altLang="en-US" sz="1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2308273" y="1918320"/>
            <a:ext cx="7181801" cy="862608"/>
          </a:xfrm>
          <a:prstGeom prst="rect">
            <a:avLst/>
          </a:prstGeom>
          <a:noFill/>
          <a:ln w="19050">
            <a:solidFill>
              <a:srgbClr val="FFFFFF">
                <a:lumMod val="50000"/>
              </a:srgbClr>
            </a:solidFill>
            <a:miter lim="800000"/>
            <a:headEnd/>
            <a:tailEnd/>
          </a:ln>
          <a:effectLst/>
        </p:spPr>
        <p:txBody>
          <a:bodyPr wrap="square" rtlCol="0" anchor="ctr" anchorCtr="0"/>
          <a:lstStyle/>
          <a:p>
            <a:pPr marL="182563" marR="0" lvl="0" indent="-182563" defTabSz="914400" eaLnBrk="1" fontAlgn="auto" latinLnBrk="0" hangingPunct="1">
              <a:lnSpc>
                <a:spcPts val="17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//</a:t>
            </a:r>
            <a:endParaRPr kumimoji="0" lang="en-US" altLang="ko-KR" sz="1200" b="1" kern="0" dirty="0" smtClean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  <a:p>
            <a:pPr marL="182563" marR="0" lvl="0" indent="-182563" defTabSz="914400" eaLnBrk="1" fontAlgn="auto" latinLnBrk="0" hangingPunct="1">
              <a:lnSpc>
                <a:spcPts val="17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각 방안에 대한 장단점 제시 및 최적의 아키텍처 선택을 위한 가이드 라인 제시</a:t>
            </a:r>
            <a:endParaRPr kumimoji="0" lang="en-US" altLang="ko-KR" sz="1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73051" y="980728"/>
            <a:ext cx="9217023" cy="307777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268288" indent="-268288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SzPct val="100000"/>
              <a:buFontTx/>
              <a:buBlip>
                <a:blip r:embed="rId2"/>
              </a:buBlip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kumimoji="0" sz="1400" b="1" kern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dirty="0"/>
              <a:t>본 문서는 서울시 </a:t>
            </a:r>
            <a:r>
              <a:rPr lang="ko-KR" altLang="en-US" dirty="0" smtClean="0"/>
              <a:t>디지털 시민 시장실 구축에 </a:t>
            </a:r>
            <a:r>
              <a:rPr lang="ko-KR" altLang="en-US" dirty="0"/>
              <a:t>대한 서비스 아키텍처 및 고려사항을 기술한 문서임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5447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Rounded Rectangle 9"/>
          <p:cNvSpPr/>
          <p:nvPr/>
        </p:nvSpPr>
        <p:spPr bwMode="auto">
          <a:xfrm>
            <a:off x="476953" y="4669962"/>
            <a:ext cx="3875710" cy="1442594"/>
          </a:xfrm>
          <a:prstGeom prst="roundRect">
            <a:avLst>
              <a:gd name="adj" fmla="val 5344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txBody>
          <a:bodyPr wrap="square" lIns="36000" tIns="36000" rIns="36000" bIns="36000">
            <a:noAutofit/>
          </a:bodyPr>
          <a:lstStyle/>
          <a:p>
            <a:pPr marL="95250" indent="-95250" eaLnBrk="0" fontAlgn="ctr" latinLnBrk="0" hangingPunct="0">
              <a:spcAft>
                <a:spcPct val="10000"/>
              </a:spcAft>
              <a:buClr>
                <a:srgbClr val="808080"/>
              </a:buClr>
              <a:buSzPct val="80000"/>
              <a:buFont typeface="Wingdings 2" pitchFamily="18" charset="2"/>
              <a:buChar char="¡"/>
            </a:pPr>
            <a:endParaRPr lang="en-US" sz="900" b="1" dirty="0">
              <a:solidFill>
                <a:schemeClr val="tx1"/>
              </a:solidFill>
              <a:latin typeface="+mn-lt"/>
              <a:ea typeface="나눔고딕" panose="020D0604000000000000" pitchFamily="50" charset="-127"/>
              <a:cs typeface="굴림" pitchFamily="50" charset="-127"/>
            </a:endParaRPr>
          </a:p>
        </p:txBody>
      </p:sp>
      <p:sp>
        <p:nvSpPr>
          <p:cNvPr id="443" name="Rounded Rectangle 9"/>
          <p:cNvSpPr/>
          <p:nvPr/>
        </p:nvSpPr>
        <p:spPr bwMode="auto">
          <a:xfrm>
            <a:off x="659778" y="1786231"/>
            <a:ext cx="4185370" cy="2316384"/>
          </a:xfrm>
          <a:prstGeom prst="roundRect">
            <a:avLst>
              <a:gd name="adj" fmla="val 5344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txBody>
          <a:bodyPr wrap="square" lIns="36000" tIns="36000" rIns="36000" bIns="36000">
            <a:noAutofit/>
          </a:bodyPr>
          <a:lstStyle/>
          <a:p>
            <a:pPr marL="95250" indent="-95250" eaLnBrk="0" fontAlgn="ctr" latinLnBrk="0" hangingPunct="0">
              <a:spcAft>
                <a:spcPct val="10000"/>
              </a:spcAft>
              <a:buClr>
                <a:srgbClr val="808080"/>
              </a:buClr>
              <a:buSzPct val="80000"/>
              <a:buFont typeface="Wingdings 2" pitchFamily="18" charset="2"/>
              <a:buChar char="¡"/>
            </a:pPr>
            <a:endParaRPr lang="en-US" sz="900" b="1" dirty="0">
              <a:solidFill>
                <a:schemeClr val="tx1"/>
              </a:solidFill>
              <a:latin typeface="+mn-lt"/>
              <a:ea typeface="나눔고딕" panose="020D0604000000000000" pitchFamily="50" charset="-127"/>
              <a:cs typeface="굴림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시스템 구성 아키텍처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177" name="꺾인 연결선 176"/>
          <p:cNvCxnSpPr>
            <a:endCxn id="185" idx="1"/>
          </p:cNvCxnSpPr>
          <p:nvPr/>
        </p:nvCxnSpPr>
        <p:spPr bwMode="auto">
          <a:xfrm rot="5400000" flipH="1" flipV="1">
            <a:off x="2033826" y="1452295"/>
            <a:ext cx="235916" cy="1004290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직사각형 178"/>
          <p:cNvSpPr/>
          <p:nvPr/>
        </p:nvSpPr>
        <p:spPr bwMode="auto">
          <a:xfrm>
            <a:off x="3003864" y="1628799"/>
            <a:ext cx="580984" cy="233363"/>
          </a:xfrm>
          <a:prstGeom prst="rect">
            <a:avLst/>
          </a:prstGeom>
          <a:noFill/>
          <a:ln w="12700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7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HTTP</a:t>
            </a:r>
            <a:endParaRPr lang="en-US" altLang="ko-KR" sz="7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4129853" y="824420"/>
            <a:ext cx="5055466" cy="587853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268288" indent="-268288" eaLnBrk="1" fontAlgn="auto" latinLnBrk="0" hangingPunct="1">
              <a:lnSpc>
                <a:spcPct val="110000"/>
              </a:lnSpc>
              <a:spcBef>
                <a:spcPct val="30000"/>
              </a:spcBef>
              <a:spcAft>
                <a:spcPts val="0"/>
              </a:spcAft>
              <a:buSzPct val="100000"/>
              <a:buFontTx/>
              <a:buBlip>
                <a:blip r:embed="rId2"/>
              </a:buBlip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kumimoji="0" sz="1600" b="0" kern="0">
                <a:solidFill>
                  <a:srgbClr val="000000"/>
                </a:solidFill>
                <a:latin typeface="산돌고딕 M" pitchFamily="18" charset="-127"/>
                <a:ea typeface="산돌고딕 M" pitchFamily="18" charset="-127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Back-end to Front-end</a:t>
            </a:r>
            <a:r>
              <a:rPr lang="ko-KR" altLang="en-US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는 </a:t>
            </a:r>
            <a:r>
              <a:rPr lang="en-US" altLang="ko-KR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DB</a:t>
            </a:r>
            <a:r>
              <a:rPr lang="ko-KR" altLang="en-US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데이터만 복제</a:t>
            </a:r>
            <a:r>
              <a:rPr lang="en-US" altLang="ko-KR" sz="1400" b="1" dirty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/</a:t>
            </a:r>
            <a:r>
              <a:rPr lang="ko-KR" altLang="en-US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연계</a:t>
            </a:r>
            <a:endParaRPr lang="en-US" altLang="ko-KR" sz="1400" b="1" dirty="0" smtClean="0">
              <a:solidFill>
                <a:schemeClr val="tx1"/>
              </a:solidFill>
              <a:latin typeface="+mn-lt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</a:pPr>
            <a:r>
              <a:rPr lang="en-US" altLang="ko-KR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Front-end </a:t>
            </a:r>
            <a:r>
              <a:rPr lang="ko-KR" altLang="en-US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와 </a:t>
            </a:r>
            <a:r>
              <a:rPr lang="en-US" altLang="ko-KR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Back-end</a:t>
            </a:r>
            <a:r>
              <a:rPr lang="ko-KR" altLang="en-US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는 </a:t>
            </a:r>
            <a:r>
              <a:rPr lang="ko-KR" altLang="en-US" sz="1400" b="1" dirty="0" err="1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네트워크망</a:t>
            </a:r>
            <a:r>
              <a:rPr lang="ko-KR" altLang="en-US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 내부</a:t>
            </a:r>
            <a:r>
              <a:rPr lang="en-US" altLang="ko-KR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/</a:t>
            </a:r>
            <a:r>
              <a:rPr lang="ko-KR" altLang="en-US" sz="1400" b="1" dirty="0" err="1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외부망</a:t>
            </a:r>
            <a:r>
              <a:rPr lang="ko-KR" altLang="en-US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 분리</a:t>
            </a:r>
            <a:endParaRPr lang="en-US" altLang="ko-KR" sz="1400" b="1" dirty="0">
              <a:solidFill>
                <a:schemeClr val="tx1"/>
              </a:solidFill>
              <a:latin typeface="+mn-lt"/>
              <a:ea typeface="나눔고딕" panose="020D0604000000000000" pitchFamily="50" charset="-127"/>
            </a:endParaRPr>
          </a:p>
        </p:txBody>
      </p:sp>
      <p:grpSp>
        <p:nvGrpSpPr>
          <p:cNvPr id="1038" name="그룹 1037"/>
          <p:cNvGrpSpPr/>
          <p:nvPr/>
        </p:nvGrpSpPr>
        <p:grpSpPr>
          <a:xfrm>
            <a:off x="1840540" y="837206"/>
            <a:ext cx="518176" cy="766571"/>
            <a:chOff x="665212" y="829405"/>
            <a:chExt cx="677702" cy="903390"/>
          </a:xfrm>
        </p:grpSpPr>
        <p:grpSp>
          <p:nvGrpSpPr>
            <p:cNvPr id="1031" name="그룹 1030"/>
            <p:cNvGrpSpPr/>
            <p:nvPr/>
          </p:nvGrpSpPr>
          <p:grpSpPr>
            <a:xfrm>
              <a:off x="665212" y="829405"/>
              <a:ext cx="609854" cy="609854"/>
              <a:chOff x="2426334" y="828278"/>
              <a:chExt cx="609854" cy="609854"/>
            </a:xfrm>
          </p:grpSpPr>
          <p:pic>
            <p:nvPicPr>
              <p:cNvPr id="182" name="Picture 10" descr="http://icons.iconarchive.com/icons/hopstarter/sleek-xp-basic/128/Administrator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26334" y="828278"/>
                <a:ext cx="457454" cy="4574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3" name="Picture 10" descr="http://icons.iconarchive.com/icons/hopstarter/sleek-xp-basic/128/Administrator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8734" y="980678"/>
                <a:ext cx="457454" cy="4574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84" name="직사각형 183"/>
            <p:cNvSpPr/>
            <p:nvPr/>
          </p:nvSpPr>
          <p:spPr>
            <a:xfrm>
              <a:off x="705157" y="1442628"/>
              <a:ext cx="637757" cy="2901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1000" dirty="0" smtClean="0">
                  <a:latin typeface="+mn-lt"/>
                  <a:ea typeface="나눔고딕" panose="020D0604000000000000" pitchFamily="50" charset="-127"/>
                </a:rPr>
                <a:t>USER</a:t>
              </a:r>
              <a:endParaRPr lang="en-US" altLang="ko-KR" sz="1000" dirty="0">
                <a:latin typeface="+mn-lt"/>
                <a:ea typeface="나눔고딕" panose="020D0604000000000000" pitchFamily="50" charset="-127"/>
              </a:endParaRPr>
            </a:p>
          </p:txBody>
        </p:sp>
      </p:grpSp>
      <p:pic>
        <p:nvPicPr>
          <p:cNvPr id="185" name="Picture 3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53929" y="1674557"/>
            <a:ext cx="323850" cy="3238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6" name="TextBox 185"/>
          <p:cNvSpPr txBox="1"/>
          <p:nvPr/>
        </p:nvSpPr>
        <p:spPr>
          <a:xfrm>
            <a:off x="2661142" y="1999898"/>
            <a:ext cx="324128" cy="24622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algn="ctr">
              <a:defRPr sz="1000">
                <a:latin typeface="Calibri" pitchFamily="34" charset="0"/>
                <a:ea typeface="산돌고딕 M" pitchFamily="18" charset="-127"/>
              </a:defRPr>
            </a:lvl1pPr>
          </a:lstStyle>
          <a:p>
            <a:r>
              <a:rPr lang="en-US" altLang="ko-KR" b="1" dirty="0">
                <a:latin typeface="+mn-lt"/>
                <a:ea typeface="나눔고딕" panose="020D0604000000000000" pitchFamily="50" charset="-127"/>
              </a:rPr>
              <a:t>L4</a:t>
            </a:r>
            <a:endParaRPr lang="ko-KR" altLang="en-US" b="1" dirty="0">
              <a:latin typeface="+mn-lt"/>
              <a:ea typeface="나눔고딕" panose="020D0604000000000000" pitchFamily="50" charset="-127"/>
            </a:endParaRPr>
          </a:p>
        </p:txBody>
      </p:sp>
      <p:cxnSp>
        <p:nvCxnSpPr>
          <p:cNvPr id="192" name="꺾인 연결선 191"/>
          <p:cNvCxnSpPr>
            <a:stCxn id="392" idx="0"/>
            <a:endCxn id="185" idx="3"/>
          </p:cNvCxnSpPr>
          <p:nvPr/>
        </p:nvCxnSpPr>
        <p:spPr bwMode="auto">
          <a:xfrm rot="16200000" flipV="1">
            <a:off x="3189882" y="1624380"/>
            <a:ext cx="236147" cy="660351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화살표 연결선 192"/>
          <p:cNvCxnSpPr>
            <a:stCxn id="185" idx="0"/>
            <a:endCxn id="184" idx="0"/>
          </p:cNvCxnSpPr>
          <p:nvPr/>
        </p:nvCxnSpPr>
        <p:spPr>
          <a:xfrm flipH="1" flipV="1">
            <a:off x="2114899" y="1357556"/>
            <a:ext cx="700955" cy="317001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직사각형 195"/>
          <p:cNvSpPr/>
          <p:nvPr/>
        </p:nvSpPr>
        <p:spPr>
          <a:xfrm>
            <a:off x="416496" y="1494192"/>
            <a:ext cx="9063445" cy="26594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a typeface="나눔고딕" panose="020D0604000000000000" pitchFamily="50" charset="-127"/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7209220" y="3860059"/>
            <a:ext cx="2239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dirty="0" smtClean="0">
                <a:latin typeface="+mn-lt"/>
                <a:ea typeface="나눔고딕" panose="020D0604000000000000" pitchFamily="50" charset="-127"/>
              </a:rPr>
              <a:t>Front-End</a:t>
            </a:r>
            <a:endParaRPr lang="ko-KR" altLang="en-US" sz="1050" b="1" dirty="0">
              <a:latin typeface="+mn-lt"/>
              <a:ea typeface="나눔고딕" panose="020D0604000000000000" pitchFamily="50" charset="-127"/>
            </a:endParaRPr>
          </a:p>
        </p:txBody>
      </p:sp>
      <p:sp>
        <p:nvSpPr>
          <p:cNvPr id="199" name="TextBox 198"/>
          <p:cNvSpPr txBox="1"/>
          <p:nvPr/>
        </p:nvSpPr>
        <p:spPr>
          <a:xfrm>
            <a:off x="7293535" y="6495620"/>
            <a:ext cx="2239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Back-End</a:t>
            </a:r>
            <a:endParaRPr lang="ko-KR" altLang="en-US" sz="105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5446906" y="3111134"/>
            <a:ext cx="1465618" cy="848555"/>
            <a:chOff x="5000703" y="3156888"/>
            <a:chExt cx="1465618" cy="848555"/>
          </a:xfrm>
        </p:grpSpPr>
        <p:grpSp>
          <p:nvGrpSpPr>
            <p:cNvPr id="210" name="그룹 209"/>
            <p:cNvGrpSpPr/>
            <p:nvPr/>
          </p:nvGrpSpPr>
          <p:grpSpPr>
            <a:xfrm>
              <a:off x="5000703" y="3156888"/>
              <a:ext cx="1465618" cy="848555"/>
              <a:chOff x="6059016" y="2732452"/>
              <a:chExt cx="1465618" cy="848555"/>
            </a:xfrm>
          </p:grpSpPr>
          <p:sp>
            <p:nvSpPr>
              <p:cNvPr id="211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6070301" y="2732452"/>
                <a:ext cx="1111251" cy="227013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lIns="54000" tIns="25200" rIns="54000" bIns="25200" anchor="ctr"/>
              <a:lstStyle/>
              <a:p>
                <a:pPr algn="ctr">
                  <a:defRPr/>
                </a:pPr>
                <a:r>
                  <a:rPr lang="ko-KR" altLang="en-US" sz="900" b="1" dirty="0" smtClean="0">
                    <a:ea typeface="나눔고딕" panose="020D0604000000000000" pitchFamily="50" charset="-127"/>
                  </a:rPr>
                  <a:t>검색엔진서버</a:t>
                </a:r>
                <a:endParaRPr lang="en-US" altLang="ko-KR" sz="900" b="1" dirty="0">
                  <a:ea typeface="나눔고딕" panose="020D0604000000000000" pitchFamily="50" charset="-127"/>
                </a:endParaRPr>
              </a:p>
            </p:txBody>
          </p:sp>
          <p:sp>
            <p:nvSpPr>
              <p:cNvPr id="212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6059016" y="2734639"/>
                <a:ext cx="1465618" cy="846368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pPr>
                  <a:defRPr/>
                </a:pPr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231" name="그룹 230"/>
            <p:cNvGrpSpPr/>
            <p:nvPr/>
          </p:nvGrpSpPr>
          <p:grpSpPr>
            <a:xfrm>
              <a:off x="5139511" y="3480230"/>
              <a:ext cx="1188000" cy="421530"/>
              <a:chOff x="962157" y="3573016"/>
              <a:chExt cx="1235092" cy="540895"/>
            </a:xfrm>
          </p:grpSpPr>
          <p:sp>
            <p:nvSpPr>
              <p:cNvPr id="232" name="직사각형 231"/>
              <p:cNvSpPr/>
              <p:nvPr/>
            </p:nvSpPr>
            <p:spPr bwMode="auto">
              <a:xfrm>
                <a:off x="962157" y="3573016"/>
                <a:ext cx="1229805" cy="23872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8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WISENUT</a:t>
                </a:r>
                <a:endParaRPr kumimoji="0" lang="ko-KR" altLang="en-US" sz="8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  <p:sp>
            <p:nvSpPr>
              <p:cNvPr id="233" name="직사각형 232"/>
              <p:cNvSpPr/>
              <p:nvPr/>
            </p:nvSpPr>
            <p:spPr bwMode="auto">
              <a:xfrm>
                <a:off x="967444" y="3875182"/>
                <a:ext cx="1229805" cy="23872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Linux Ent.</a:t>
                </a:r>
                <a:endParaRPr kumimoji="0" lang="ko-KR" altLang="en-US" sz="9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</p:grpSp>
      </p:grpSp>
      <p:sp>
        <p:nvSpPr>
          <p:cNvPr id="236" name="Rectangle 28"/>
          <p:cNvSpPr>
            <a:spLocks noChangeAspect="1" noChangeArrowheads="1"/>
          </p:cNvSpPr>
          <p:nvPr/>
        </p:nvSpPr>
        <p:spPr bwMode="auto">
          <a:xfrm>
            <a:off x="416496" y="4215026"/>
            <a:ext cx="9063445" cy="213094"/>
          </a:xfrm>
          <a:prstGeom prst="rect">
            <a:avLst/>
          </a:prstGeom>
          <a:gradFill>
            <a:gsLst>
              <a:gs pos="0">
                <a:srgbClr val="8488C4"/>
              </a:gs>
              <a:gs pos="53000">
                <a:srgbClr val="D4DEFF"/>
              </a:gs>
              <a:gs pos="83000">
                <a:srgbClr val="D4DEFF"/>
              </a:gs>
              <a:gs pos="100000">
                <a:srgbClr val="96AB94"/>
              </a:gs>
            </a:gsLst>
            <a:lin ang="16200000" scaled="0"/>
          </a:gradFill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54000" tIns="25200" rIns="54000" bIns="25200" anchor="ctr"/>
          <a:lstStyle/>
          <a:p>
            <a:pPr algn="ctr">
              <a:defRPr/>
            </a:pPr>
            <a:r>
              <a:rPr lang="en-US" altLang="ko-KR" sz="1100" b="1" dirty="0" smtClean="0">
                <a:ea typeface="나눔고딕" panose="020D0604000000000000" pitchFamily="50" charset="-127"/>
              </a:rPr>
              <a:t>Firewall</a:t>
            </a:r>
            <a:endParaRPr lang="en-US" altLang="ko-KR" sz="1100" b="1" dirty="0">
              <a:ea typeface="나눔고딕" panose="020D0604000000000000" pitchFamily="50" charset="-127"/>
            </a:endParaRPr>
          </a:p>
        </p:txBody>
      </p:sp>
      <p:grpSp>
        <p:nvGrpSpPr>
          <p:cNvPr id="240" name="그룹 239"/>
          <p:cNvGrpSpPr/>
          <p:nvPr/>
        </p:nvGrpSpPr>
        <p:grpSpPr>
          <a:xfrm>
            <a:off x="7127040" y="1830426"/>
            <a:ext cx="1465618" cy="848677"/>
            <a:chOff x="5471349" y="1989400"/>
            <a:chExt cx="1465618" cy="848677"/>
          </a:xfrm>
        </p:grpSpPr>
        <p:sp>
          <p:nvSpPr>
            <p:cNvPr id="241" name="Rectangle 28"/>
            <p:cNvSpPr>
              <a:spLocks noChangeAspect="1" noChangeArrowheads="1"/>
            </p:cNvSpPr>
            <p:nvPr/>
          </p:nvSpPr>
          <p:spPr bwMode="auto">
            <a:xfrm>
              <a:off x="5471349" y="1989400"/>
              <a:ext cx="1111251" cy="29203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ko-KR" altLang="en-US" sz="900" b="1" dirty="0" smtClean="0">
                  <a:ea typeface="나눔고딕" panose="020D0604000000000000" pitchFamily="50" charset="-127"/>
                </a:rPr>
                <a:t>서울데이터마트</a:t>
              </a:r>
              <a:endParaRPr lang="en-US" altLang="ko-KR" sz="900" b="1" dirty="0" smtClean="0">
                <a:ea typeface="나눔고딕" panose="020D0604000000000000" pitchFamily="50" charset="-127"/>
              </a:endParaRPr>
            </a:p>
            <a:p>
              <a:pPr algn="ctr">
                <a:defRPr/>
              </a:pPr>
              <a:r>
                <a:rPr lang="en-US" altLang="ko-KR" sz="900" b="1" dirty="0" smtClean="0">
                  <a:ea typeface="나눔고딕" panose="020D0604000000000000" pitchFamily="50" charset="-127"/>
                </a:rPr>
                <a:t>DB</a:t>
              </a:r>
              <a:r>
                <a:rPr lang="ko-KR" altLang="en-US" sz="900" b="1" dirty="0" smtClean="0">
                  <a:ea typeface="나눔고딕" panose="020D0604000000000000" pitchFamily="50" charset="-127"/>
                </a:rPr>
                <a:t> </a:t>
              </a:r>
              <a:r>
                <a:rPr lang="en-US" altLang="ko-KR" sz="900" b="1" dirty="0" smtClean="0">
                  <a:ea typeface="나눔고딕" panose="020D0604000000000000" pitchFamily="50" charset="-127"/>
                </a:rPr>
                <a:t>#2 (Standby)</a:t>
              </a:r>
              <a:endParaRPr lang="en-US" altLang="ko-KR" sz="900" b="1" dirty="0">
                <a:ea typeface="나눔고딕" panose="020D0604000000000000" pitchFamily="50" charset="-127"/>
              </a:endParaRPr>
            </a:p>
          </p:txBody>
        </p:sp>
        <p:grpSp>
          <p:nvGrpSpPr>
            <p:cNvPr id="242" name="그룹 241"/>
            <p:cNvGrpSpPr/>
            <p:nvPr/>
          </p:nvGrpSpPr>
          <p:grpSpPr>
            <a:xfrm>
              <a:off x="5615365" y="2359398"/>
              <a:ext cx="1188000" cy="421530"/>
              <a:chOff x="962157" y="3677473"/>
              <a:chExt cx="1235092" cy="540895"/>
            </a:xfrm>
          </p:grpSpPr>
          <p:sp>
            <p:nvSpPr>
              <p:cNvPr id="244" name="직사각형 243"/>
              <p:cNvSpPr/>
              <p:nvPr/>
            </p:nvSpPr>
            <p:spPr bwMode="auto">
              <a:xfrm>
                <a:off x="962157" y="3677473"/>
                <a:ext cx="1229805" cy="23872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9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ORACLE</a:t>
                </a:r>
                <a:endParaRPr kumimoji="0" lang="ko-KR" altLang="en-US" sz="9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  <p:sp>
            <p:nvSpPr>
              <p:cNvPr id="245" name="직사각형 244"/>
              <p:cNvSpPr/>
              <p:nvPr/>
            </p:nvSpPr>
            <p:spPr bwMode="auto">
              <a:xfrm>
                <a:off x="967444" y="3979639"/>
                <a:ext cx="1229805" cy="23872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ko-KR" sz="9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IBM AIX</a:t>
                </a:r>
                <a:endParaRPr kumimoji="0" lang="ko-KR" altLang="en-US" sz="9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243" name="Rectangle 26"/>
            <p:cNvSpPr>
              <a:spLocks noChangeAspect="1" noChangeArrowheads="1"/>
            </p:cNvSpPr>
            <p:nvPr/>
          </p:nvSpPr>
          <p:spPr bwMode="auto">
            <a:xfrm>
              <a:off x="5471349" y="1989401"/>
              <a:ext cx="1465618" cy="848676"/>
            </a:xfrm>
            <a:prstGeom prst="rect">
              <a:avLst/>
            </a:prstGeom>
            <a:noFill/>
            <a:ln w="2159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lIns="54000" tIns="25200" rIns="54000" bIns="25200" anchor="ctr"/>
            <a:lstStyle/>
            <a:p>
              <a:endParaRPr lang="ko-KR" altLang="en-US" b="1">
                <a:latin typeface="+mn-lt"/>
                <a:ea typeface="나눔고딕" panose="020D0604000000000000" pitchFamily="50" charset="-127"/>
              </a:endParaRPr>
            </a:p>
          </p:txBody>
        </p:sp>
      </p:grpSp>
      <p:pic>
        <p:nvPicPr>
          <p:cNvPr id="247" name="Picture 33" descr="ICON_1Storage_NoShadow_Q20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9027" y="1912805"/>
            <a:ext cx="178030" cy="191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63" name="그룹 1062"/>
          <p:cNvGrpSpPr/>
          <p:nvPr/>
        </p:nvGrpSpPr>
        <p:grpSpPr>
          <a:xfrm>
            <a:off x="5471349" y="1840065"/>
            <a:ext cx="1465618" cy="848677"/>
            <a:chOff x="5471349" y="1840065"/>
            <a:chExt cx="1465618" cy="848677"/>
          </a:xfrm>
        </p:grpSpPr>
        <p:grpSp>
          <p:nvGrpSpPr>
            <p:cNvPr id="24" name="그룹 23"/>
            <p:cNvGrpSpPr/>
            <p:nvPr/>
          </p:nvGrpSpPr>
          <p:grpSpPr>
            <a:xfrm>
              <a:off x="5471349" y="1840065"/>
              <a:ext cx="1465618" cy="848677"/>
              <a:chOff x="5471349" y="1989400"/>
              <a:chExt cx="1465618" cy="848677"/>
            </a:xfrm>
          </p:grpSpPr>
          <p:sp>
            <p:nvSpPr>
              <p:cNvPr id="200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5471349" y="1989400"/>
                <a:ext cx="1111251" cy="29203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lIns="54000" tIns="25200" rIns="54000" bIns="25200" anchor="ctr"/>
              <a:lstStyle/>
              <a:p>
                <a:pPr algn="ctr">
                  <a:defRPr/>
                </a:pPr>
                <a:r>
                  <a:rPr lang="ko-KR" altLang="en-US" sz="900" b="1" dirty="0" smtClean="0">
                    <a:ea typeface="나눔고딕" panose="020D0604000000000000" pitchFamily="50" charset="-127"/>
                  </a:rPr>
                  <a:t>서울데이터마트</a:t>
                </a:r>
                <a:endParaRPr lang="en-US" altLang="ko-KR" sz="900" b="1" dirty="0" smtClean="0">
                  <a:ea typeface="나눔고딕" panose="020D0604000000000000" pitchFamily="50" charset="-127"/>
                </a:endParaRPr>
              </a:p>
              <a:p>
                <a:pPr algn="ctr">
                  <a:defRPr/>
                </a:pPr>
                <a:r>
                  <a:rPr lang="en-US" altLang="ko-KR" sz="900" b="1" dirty="0" smtClean="0">
                    <a:ea typeface="나눔고딕" panose="020D0604000000000000" pitchFamily="50" charset="-127"/>
                  </a:rPr>
                  <a:t>DB</a:t>
                </a:r>
                <a:r>
                  <a:rPr lang="ko-KR" altLang="en-US" sz="900" b="1" dirty="0" smtClean="0">
                    <a:ea typeface="나눔고딕" panose="020D0604000000000000" pitchFamily="50" charset="-127"/>
                  </a:rPr>
                  <a:t> </a:t>
                </a:r>
                <a:r>
                  <a:rPr lang="en-US" altLang="ko-KR" sz="900" b="1" dirty="0" smtClean="0">
                    <a:ea typeface="나눔고딕" panose="020D0604000000000000" pitchFamily="50" charset="-127"/>
                  </a:rPr>
                  <a:t>#1 (Active)</a:t>
                </a:r>
                <a:endParaRPr lang="en-US" altLang="ko-KR" sz="900" b="1" dirty="0"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201" name="그룹 200"/>
              <p:cNvGrpSpPr/>
              <p:nvPr/>
            </p:nvGrpSpPr>
            <p:grpSpPr>
              <a:xfrm>
                <a:off x="5615365" y="2359398"/>
                <a:ext cx="1188000" cy="421530"/>
                <a:chOff x="962157" y="3677473"/>
                <a:chExt cx="1235092" cy="540895"/>
              </a:xfrm>
            </p:grpSpPr>
            <p:sp>
              <p:nvSpPr>
                <p:cNvPr id="202" name="직사각형 201"/>
                <p:cNvSpPr/>
                <p:nvPr/>
              </p:nvSpPr>
              <p:spPr bwMode="auto">
                <a:xfrm>
                  <a:off x="962157" y="3677473"/>
                  <a:ext cx="1229805" cy="238729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ORACLE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203" name="직사각형 202"/>
                <p:cNvSpPr/>
                <p:nvPr/>
              </p:nvSpPr>
              <p:spPr bwMode="auto">
                <a:xfrm>
                  <a:off x="967444" y="3979639"/>
                  <a:ext cx="1229805" cy="238729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IBM AIX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204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5471349" y="1989401"/>
                <a:ext cx="1465618" cy="848676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pic>
          <p:nvPicPr>
            <p:cNvPr id="248" name="Picture 33" descr="ICON_1Storage_NoShadow_Q207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61319" y="1917950"/>
              <a:ext cx="178030" cy="191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62" name="그룹 1061"/>
          <p:cNvGrpSpPr/>
          <p:nvPr/>
        </p:nvGrpSpPr>
        <p:grpSpPr>
          <a:xfrm>
            <a:off x="6994231" y="2817676"/>
            <a:ext cx="977514" cy="332304"/>
            <a:chOff x="6569964" y="2779471"/>
            <a:chExt cx="977514" cy="332304"/>
          </a:xfrm>
        </p:grpSpPr>
        <p:pic>
          <p:nvPicPr>
            <p:cNvPr id="249" name="Picture 1116" descr="k2a_t2000_1"/>
            <p:cNvPicPr>
              <a:picLocks noChangeAspect="1" noChangeArrowheads="1"/>
            </p:cNvPicPr>
            <p:nvPr/>
          </p:nvPicPr>
          <p:blipFill>
            <a:blip r:embed="rId6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6740949" y="2779471"/>
              <a:ext cx="601758" cy="1905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50" name="TextBox 249"/>
            <p:cNvSpPr txBox="1"/>
            <p:nvPr/>
          </p:nvSpPr>
          <p:spPr>
            <a:xfrm>
              <a:off x="6569964" y="2927109"/>
              <a:ext cx="97751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 err="1">
                  <a:latin typeface="+mn-lt"/>
                </a:rPr>
                <a:t>데이터마트</a:t>
              </a:r>
              <a:r>
                <a:rPr lang="en-US" altLang="ko-KR" sz="600" dirty="0">
                  <a:latin typeface="+mn-lt"/>
                </a:rPr>
                <a:t> </a:t>
              </a:r>
              <a:r>
                <a:rPr lang="ko-KR" altLang="en-US" sz="600" dirty="0">
                  <a:latin typeface="+mn-lt"/>
                </a:rPr>
                <a:t>스토리지</a:t>
              </a:r>
            </a:p>
          </p:txBody>
        </p:sp>
      </p:grpSp>
      <p:cxnSp>
        <p:nvCxnSpPr>
          <p:cNvPr id="251" name="꺾인 연결선 250"/>
          <p:cNvCxnSpPr>
            <a:stCxn id="249" idx="1"/>
            <a:endCxn id="204" idx="2"/>
          </p:cNvCxnSpPr>
          <p:nvPr/>
        </p:nvCxnSpPr>
        <p:spPr bwMode="auto">
          <a:xfrm rot="10800000">
            <a:off x="6204158" y="2688743"/>
            <a:ext cx="961058" cy="224233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꺾인 연결선 251"/>
          <p:cNvCxnSpPr>
            <a:stCxn id="249" idx="3"/>
            <a:endCxn id="243" idx="2"/>
          </p:cNvCxnSpPr>
          <p:nvPr/>
        </p:nvCxnSpPr>
        <p:spPr bwMode="auto">
          <a:xfrm flipV="1">
            <a:off x="7766974" y="2679103"/>
            <a:ext cx="92875" cy="233872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직사각형 256"/>
          <p:cNvSpPr/>
          <p:nvPr/>
        </p:nvSpPr>
        <p:spPr>
          <a:xfrm>
            <a:off x="416496" y="4507963"/>
            <a:ext cx="9063445" cy="20064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047" name="그룹 1046"/>
          <p:cNvGrpSpPr/>
          <p:nvPr/>
        </p:nvGrpSpPr>
        <p:grpSpPr>
          <a:xfrm>
            <a:off x="977672" y="3245434"/>
            <a:ext cx="1583147" cy="783971"/>
            <a:chOff x="977673" y="3268165"/>
            <a:chExt cx="1465618" cy="783971"/>
          </a:xfrm>
        </p:grpSpPr>
        <p:sp>
          <p:nvSpPr>
            <p:cNvPr id="280" name="Rectangle 28"/>
            <p:cNvSpPr>
              <a:spLocks noChangeAspect="1" noChangeArrowheads="1"/>
            </p:cNvSpPr>
            <p:nvPr/>
          </p:nvSpPr>
          <p:spPr bwMode="auto">
            <a:xfrm>
              <a:off x="977673" y="3268165"/>
              <a:ext cx="1111251" cy="22701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en-US" altLang="ko-KR" sz="900" b="1" dirty="0" smtClean="0">
                  <a:ea typeface="나눔고딕" panose="020D0604000000000000" pitchFamily="50" charset="-127"/>
                </a:rPr>
                <a:t>BI</a:t>
              </a:r>
              <a:r>
                <a:rPr lang="ko-KR" altLang="en-US" sz="900" b="1" dirty="0" smtClean="0">
                  <a:ea typeface="나눔고딕" panose="020D0604000000000000" pitchFamily="50" charset="-127"/>
                </a:rPr>
                <a:t>서버</a:t>
              </a:r>
              <a:r>
                <a:rPr lang="en-US" altLang="ko-KR" sz="900" b="1" dirty="0" smtClean="0">
                  <a:ea typeface="나눔고딕" panose="020D0604000000000000" pitchFamily="50" charset="-127"/>
                </a:rPr>
                <a:t> #1</a:t>
              </a:r>
              <a:endParaRPr lang="en-US" altLang="ko-KR" sz="900" b="1" dirty="0">
                <a:ea typeface="나눔고딕" panose="020D0604000000000000" pitchFamily="50" charset="-127"/>
              </a:endParaRPr>
            </a:p>
          </p:txBody>
        </p:sp>
        <p:grpSp>
          <p:nvGrpSpPr>
            <p:cNvPr id="281" name="그룹 280"/>
            <p:cNvGrpSpPr/>
            <p:nvPr/>
          </p:nvGrpSpPr>
          <p:grpSpPr>
            <a:xfrm>
              <a:off x="1069010" y="3568848"/>
              <a:ext cx="1294928" cy="412355"/>
              <a:chOff x="920536" y="3586961"/>
              <a:chExt cx="1346258" cy="529120"/>
            </a:xfrm>
          </p:grpSpPr>
          <p:sp>
            <p:nvSpPr>
              <p:cNvPr id="283" name="직사각형 282"/>
              <p:cNvSpPr/>
              <p:nvPr/>
            </p:nvSpPr>
            <p:spPr bwMode="auto">
              <a:xfrm>
                <a:off x="920536" y="3586961"/>
                <a:ext cx="609673" cy="25012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800" b="1" dirty="0" err="1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i</a:t>
                </a:r>
                <a:r>
                  <a:rPr kumimoji="0" lang="en-US" altLang="ko-KR" sz="8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-Portal </a:t>
                </a:r>
                <a:endParaRPr kumimoji="0" lang="ko-KR" altLang="en-US" sz="8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  <p:sp>
            <p:nvSpPr>
              <p:cNvPr id="284" name="직사각형 283"/>
              <p:cNvSpPr/>
              <p:nvPr/>
            </p:nvSpPr>
            <p:spPr bwMode="auto">
              <a:xfrm>
                <a:off x="920536" y="3905058"/>
                <a:ext cx="1346258" cy="21102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9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Linux Ent.</a:t>
                </a:r>
                <a:endParaRPr kumimoji="0" lang="ko-KR" altLang="en-US" sz="9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  <p:sp>
            <p:nvSpPr>
              <p:cNvPr id="292" name="직사각형 291"/>
              <p:cNvSpPr/>
              <p:nvPr/>
            </p:nvSpPr>
            <p:spPr bwMode="auto">
              <a:xfrm>
                <a:off x="1595835" y="3596054"/>
                <a:ext cx="670959" cy="24103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700" b="1" dirty="0" err="1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i</a:t>
                </a:r>
                <a:r>
                  <a:rPr kumimoji="0" lang="en-US" altLang="ko-KR" sz="7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-CANVAS+ </a:t>
                </a:r>
                <a:endParaRPr kumimoji="0" lang="ko-KR" altLang="en-US" sz="7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282" name="Rectangle 26"/>
            <p:cNvSpPr>
              <a:spLocks noChangeAspect="1" noChangeArrowheads="1"/>
            </p:cNvSpPr>
            <p:nvPr/>
          </p:nvSpPr>
          <p:spPr bwMode="auto">
            <a:xfrm>
              <a:off x="977673" y="3268165"/>
              <a:ext cx="1465618" cy="783971"/>
            </a:xfrm>
            <a:prstGeom prst="rect">
              <a:avLst/>
            </a:prstGeom>
            <a:noFill/>
            <a:ln w="2159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lIns="54000" tIns="25200" rIns="54000" bIns="25200" anchor="ctr"/>
            <a:lstStyle/>
            <a:p>
              <a:endParaRPr lang="ko-KR" altLang="en-US" b="1">
                <a:latin typeface="+mn-lt"/>
                <a:ea typeface="나눔고딕" panose="020D0604000000000000" pitchFamily="50" charset="-127"/>
              </a:endParaRPr>
            </a:p>
          </p:txBody>
        </p:sp>
      </p:grpSp>
      <p:pic>
        <p:nvPicPr>
          <p:cNvPr id="304" name="Picture 3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25280" y="2961134"/>
            <a:ext cx="323850" cy="3238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05" name="꺾인 연결선 304"/>
          <p:cNvCxnSpPr>
            <a:stCxn id="381" idx="0"/>
            <a:endCxn id="304" idx="3"/>
          </p:cNvCxnSpPr>
          <p:nvPr/>
        </p:nvCxnSpPr>
        <p:spPr bwMode="auto">
          <a:xfrm rot="16200000" flipV="1">
            <a:off x="3328080" y="2744109"/>
            <a:ext cx="123170" cy="881070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꺾인 연결선 314"/>
          <p:cNvCxnSpPr>
            <a:stCxn id="280" idx="0"/>
            <a:endCxn id="304" idx="1"/>
          </p:cNvCxnSpPr>
          <p:nvPr/>
        </p:nvCxnSpPr>
        <p:spPr bwMode="auto">
          <a:xfrm rot="5400000" flipH="1" flipV="1">
            <a:off x="2040380" y="2660534"/>
            <a:ext cx="122375" cy="1047426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TextBox 317"/>
          <p:cNvSpPr txBox="1"/>
          <p:nvPr/>
        </p:nvSpPr>
        <p:spPr>
          <a:xfrm>
            <a:off x="2623944" y="3252649"/>
            <a:ext cx="324128" cy="24622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algn="ctr">
              <a:defRPr sz="1000">
                <a:latin typeface="Calibri" pitchFamily="34" charset="0"/>
                <a:ea typeface="산돌고딕 M" pitchFamily="18" charset="-127"/>
              </a:defRPr>
            </a:lvl1pPr>
          </a:lstStyle>
          <a:p>
            <a:r>
              <a:rPr lang="en-US" altLang="ko-KR" b="1" dirty="0">
                <a:latin typeface="+mn-lt"/>
                <a:ea typeface="나눔고딕" panose="020D0604000000000000" pitchFamily="50" charset="-127"/>
              </a:rPr>
              <a:t>L4</a:t>
            </a:r>
            <a:endParaRPr lang="ko-KR" altLang="en-US" b="1" dirty="0">
              <a:latin typeface="+mn-lt"/>
              <a:ea typeface="나눔고딕" panose="020D0604000000000000" pitchFamily="50" charset="-127"/>
            </a:endParaRPr>
          </a:p>
        </p:txBody>
      </p:sp>
      <p:cxnSp>
        <p:nvCxnSpPr>
          <p:cNvPr id="359" name="꺾인 연결선 358"/>
          <p:cNvCxnSpPr>
            <a:stCxn id="398" idx="0"/>
            <a:endCxn id="361" idx="1"/>
          </p:cNvCxnSpPr>
          <p:nvPr/>
        </p:nvCxnSpPr>
        <p:spPr bwMode="auto">
          <a:xfrm rot="5400000" flipH="1" flipV="1">
            <a:off x="1668843" y="4546622"/>
            <a:ext cx="244020" cy="912229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1" name="Picture 3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46968" y="4718801"/>
            <a:ext cx="323850" cy="3238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69" name="꺾인 연결선 368"/>
          <p:cNvCxnSpPr>
            <a:stCxn id="415" idx="0"/>
            <a:endCxn id="361" idx="3"/>
          </p:cNvCxnSpPr>
          <p:nvPr/>
        </p:nvCxnSpPr>
        <p:spPr bwMode="auto">
          <a:xfrm rot="16200000" flipV="1">
            <a:off x="2723049" y="4728495"/>
            <a:ext cx="244020" cy="548482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4" name="그룹 1073"/>
          <p:cNvGrpSpPr/>
          <p:nvPr/>
        </p:nvGrpSpPr>
        <p:grpSpPr>
          <a:xfrm>
            <a:off x="992559" y="2072398"/>
            <a:ext cx="1570963" cy="783971"/>
            <a:chOff x="992559" y="2072398"/>
            <a:chExt cx="1570963" cy="783971"/>
          </a:xfrm>
        </p:grpSpPr>
        <p:grpSp>
          <p:nvGrpSpPr>
            <p:cNvPr id="1046" name="그룹 1045"/>
            <p:cNvGrpSpPr/>
            <p:nvPr/>
          </p:nvGrpSpPr>
          <p:grpSpPr>
            <a:xfrm>
              <a:off x="992559" y="2072398"/>
              <a:ext cx="1570963" cy="783971"/>
              <a:chOff x="910792" y="2388852"/>
              <a:chExt cx="1465618" cy="783971"/>
            </a:xfrm>
          </p:grpSpPr>
          <p:grpSp>
            <p:nvGrpSpPr>
              <p:cNvPr id="173" name="그룹 172"/>
              <p:cNvGrpSpPr/>
              <p:nvPr/>
            </p:nvGrpSpPr>
            <p:grpSpPr>
              <a:xfrm>
                <a:off x="964999" y="2685301"/>
                <a:ext cx="1356560" cy="432650"/>
                <a:chOff x="881938" y="3581534"/>
                <a:chExt cx="1410335" cy="555163"/>
              </a:xfrm>
            </p:grpSpPr>
            <p:sp>
              <p:nvSpPr>
                <p:cNvPr id="174" name="직사각형 173"/>
                <p:cNvSpPr/>
                <p:nvPr/>
              </p:nvSpPr>
              <p:spPr bwMode="auto">
                <a:xfrm>
                  <a:off x="1511033" y="3581534"/>
                  <a:ext cx="781240" cy="27438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JBOSS EAP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75" name="직사각형 174"/>
                <p:cNvSpPr/>
                <p:nvPr/>
              </p:nvSpPr>
              <p:spPr bwMode="auto">
                <a:xfrm>
                  <a:off x="881938" y="3914652"/>
                  <a:ext cx="1410335" cy="22204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Linux Ent.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176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910792" y="2388852"/>
                <a:ext cx="1465618" cy="783971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373" name="Rectangle 28"/>
            <p:cNvSpPr>
              <a:spLocks noChangeAspect="1" noChangeArrowheads="1"/>
            </p:cNvSpPr>
            <p:nvPr/>
          </p:nvSpPr>
          <p:spPr bwMode="auto">
            <a:xfrm>
              <a:off x="992559" y="2073611"/>
              <a:ext cx="1191040" cy="26651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ko-KR" altLang="en-US" sz="800" b="1" dirty="0">
                  <a:ea typeface="나눔고딕" panose="020D0604000000000000" pitchFamily="50" charset="-127"/>
                </a:rPr>
                <a:t>디지털 시민 시장실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  <a:p>
              <a:pPr algn="ctr">
                <a:defRPr/>
              </a:pPr>
              <a:r>
                <a:rPr lang="en-US" altLang="ko-KR" sz="800" b="1" dirty="0">
                  <a:ea typeface="나눔고딕" panose="020D0604000000000000" pitchFamily="50" charset="-127"/>
                </a:rPr>
                <a:t>WAS </a:t>
              </a:r>
              <a:r>
                <a:rPr lang="en-US" altLang="ko-KR" sz="800" b="1" dirty="0" smtClean="0">
                  <a:ea typeface="나눔고딕" panose="020D0604000000000000" pitchFamily="50" charset="-127"/>
                </a:rPr>
                <a:t>#1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</p:txBody>
        </p:sp>
        <p:sp>
          <p:nvSpPr>
            <p:cNvPr id="375" name="직사각형 374"/>
            <p:cNvSpPr/>
            <p:nvPr/>
          </p:nvSpPr>
          <p:spPr bwMode="auto">
            <a:xfrm>
              <a:off x="1049312" y="2379245"/>
              <a:ext cx="575724" cy="2138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b="1" dirty="0" err="1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NginX</a:t>
              </a:r>
              <a:endParaRPr kumimoji="0" lang="ko-KR" altLang="en-US" sz="9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</p:grpSp>
      <p:grpSp>
        <p:nvGrpSpPr>
          <p:cNvPr id="378" name="그룹 377"/>
          <p:cNvGrpSpPr/>
          <p:nvPr/>
        </p:nvGrpSpPr>
        <p:grpSpPr>
          <a:xfrm>
            <a:off x="3038626" y="3246229"/>
            <a:ext cx="1583147" cy="783971"/>
            <a:chOff x="977673" y="3268165"/>
            <a:chExt cx="1465618" cy="783971"/>
          </a:xfrm>
        </p:grpSpPr>
        <p:sp>
          <p:nvSpPr>
            <p:cNvPr id="379" name="Rectangle 28"/>
            <p:cNvSpPr>
              <a:spLocks noChangeAspect="1" noChangeArrowheads="1"/>
            </p:cNvSpPr>
            <p:nvPr/>
          </p:nvSpPr>
          <p:spPr bwMode="auto">
            <a:xfrm>
              <a:off x="977673" y="3268165"/>
              <a:ext cx="1111251" cy="22701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en-US" altLang="ko-KR" sz="900" b="1" dirty="0" smtClean="0">
                  <a:ea typeface="나눔고딕" panose="020D0604000000000000" pitchFamily="50" charset="-127"/>
                </a:rPr>
                <a:t>BI</a:t>
              </a:r>
              <a:r>
                <a:rPr lang="ko-KR" altLang="en-US" sz="900" b="1" dirty="0" smtClean="0">
                  <a:ea typeface="나눔고딕" panose="020D0604000000000000" pitchFamily="50" charset="-127"/>
                </a:rPr>
                <a:t>서버</a:t>
              </a:r>
              <a:r>
                <a:rPr lang="en-US" altLang="ko-KR" sz="900" b="1" dirty="0" smtClean="0">
                  <a:ea typeface="나눔고딕" panose="020D0604000000000000" pitchFamily="50" charset="-127"/>
                </a:rPr>
                <a:t> #2</a:t>
              </a:r>
              <a:endParaRPr lang="en-US" altLang="ko-KR" sz="900" b="1" dirty="0">
                <a:ea typeface="나눔고딕" panose="020D0604000000000000" pitchFamily="50" charset="-127"/>
              </a:endParaRPr>
            </a:p>
          </p:txBody>
        </p:sp>
        <p:grpSp>
          <p:nvGrpSpPr>
            <p:cNvPr id="380" name="그룹 379"/>
            <p:cNvGrpSpPr/>
            <p:nvPr/>
          </p:nvGrpSpPr>
          <p:grpSpPr>
            <a:xfrm>
              <a:off x="1069010" y="3568848"/>
              <a:ext cx="1294928" cy="412355"/>
              <a:chOff x="920536" y="3586961"/>
              <a:chExt cx="1346258" cy="529120"/>
            </a:xfrm>
          </p:grpSpPr>
          <p:sp>
            <p:nvSpPr>
              <p:cNvPr id="382" name="직사각형 381"/>
              <p:cNvSpPr/>
              <p:nvPr/>
            </p:nvSpPr>
            <p:spPr bwMode="auto">
              <a:xfrm>
                <a:off x="920536" y="3586961"/>
                <a:ext cx="609673" cy="25012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800" b="1" dirty="0" err="1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i</a:t>
                </a:r>
                <a:r>
                  <a:rPr kumimoji="0" lang="en-US" altLang="ko-KR" sz="8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-Portal </a:t>
                </a:r>
                <a:endParaRPr kumimoji="0" lang="ko-KR" altLang="en-US" sz="8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  <p:sp>
            <p:nvSpPr>
              <p:cNvPr id="383" name="직사각형 382"/>
              <p:cNvSpPr/>
              <p:nvPr/>
            </p:nvSpPr>
            <p:spPr bwMode="auto">
              <a:xfrm>
                <a:off x="920536" y="3905058"/>
                <a:ext cx="1346258" cy="21102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9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Linux Ent.</a:t>
                </a:r>
                <a:endParaRPr kumimoji="0" lang="ko-KR" altLang="en-US" sz="9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  <p:sp>
            <p:nvSpPr>
              <p:cNvPr id="384" name="직사각형 383"/>
              <p:cNvSpPr/>
              <p:nvPr/>
            </p:nvSpPr>
            <p:spPr bwMode="auto">
              <a:xfrm>
                <a:off x="1595835" y="3596054"/>
                <a:ext cx="670959" cy="24103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700" b="1" dirty="0" err="1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i</a:t>
                </a:r>
                <a:r>
                  <a:rPr kumimoji="0" lang="en-US" altLang="ko-KR" sz="7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-CANVAS+ </a:t>
                </a:r>
                <a:endParaRPr kumimoji="0" lang="ko-KR" altLang="en-US" sz="7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381" name="Rectangle 26"/>
            <p:cNvSpPr>
              <a:spLocks noChangeAspect="1" noChangeArrowheads="1"/>
            </p:cNvSpPr>
            <p:nvPr/>
          </p:nvSpPr>
          <p:spPr bwMode="auto">
            <a:xfrm>
              <a:off x="977673" y="3268165"/>
              <a:ext cx="1465618" cy="783971"/>
            </a:xfrm>
            <a:prstGeom prst="rect">
              <a:avLst/>
            </a:prstGeom>
            <a:noFill/>
            <a:ln w="2159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lIns="54000" tIns="25200" rIns="54000" bIns="25200" anchor="ctr"/>
            <a:lstStyle/>
            <a:p>
              <a:endParaRPr lang="ko-KR" altLang="en-US" b="1">
                <a:latin typeface="+mn-lt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072" name="그룹 1071"/>
          <p:cNvGrpSpPr/>
          <p:nvPr/>
        </p:nvGrpSpPr>
        <p:grpSpPr>
          <a:xfrm>
            <a:off x="3036971" y="2069180"/>
            <a:ext cx="1570963" cy="783971"/>
            <a:chOff x="3036971" y="2069180"/>
            <a:chExt cx="1570963" cy="783971"/>
          </a:xfrm>
        </p:grpSpPr>
        <p:grpSp>
          <p:nvGrpSpPr>
            <p:cNvPr id="386" name="그룹 385"/>
            <p:cNvGrpSpPr/>
            <p:nvPr/>
          </p:nvGrpSpPr>
          <p:grpSpPr>
            <a:xfrm>
              <a:off x="3036971" y="2069180"/>
              <a:ext cx="1570963" cy="783971"/>
              <a:chOff x="910792" y="2388852"/>
              <a:chExt cx="1465618" cy="783971"/>
            </a:xfrm>
          </p:grpSpPr>
          <p:grpSp>
            <p:nvGrpSpPr>
              <p:cNvPr id="387" name="그룹 386"/>
              <p:cNvGrpSpPr/>
              <p:nvPr/>
            </p:nvGrpSpPr>
            <p:grpSpPr>
              <a:xfrm>
                <a:off x="964999" y="2685301"/>
                <a:ext cx="1356560" cy="432650"/>
                <a:chOff x="881938" y="3581534"/>
                <a:chExt cx="1410335" cy="555163"/>
              </a:xfrm>
            </p:grpSpPr>
            <p:sp>
              <p:nvSpPr>
                <p:cNvPr id="389" name="직사각형 388"/>
                <p:cNvSpPr/>
                <p:nvPr/>
              </p:nvSpPr>
              <p:spPr bwMode="auto">
                <a:xfrm>
                  <a:off x="1511033" y="3581534"/>
                  <a:ext cx="781240" cy="27438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JBOSS EAP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390" name="직사각형 389"/>
                <p:cNvSpPr/>
                <p:nvPr/>
              </p:nvSpPr>
              <p:spPr bwMode="auto">
                <a:xfrm>
                  <a:off x="881938" y="3914652"/>
                  <a:ext cx="1410335" cy="22204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Linux Ent.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388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910792" y="2388852"/>
                <a:ext cx="1465618" cy="783971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391" name="직사각형 390"/>
            <p:cNvSpPr/>
            <p:nvPr/>
          </p:nvSpPr>
          <p:spPr bwMode="auto">
            <a:xfrm>
              <a:off x="3093724" y="2376027"/>
              <a:ext cx="575724" cy="2138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b="1" dirty="0" err="1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NginX</a:t>
              </a:r>
              <a:endParaRPr kumimoji="0" lang="ko-KR" altLang="en-US" sz="9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  <p:sp>
          <p:nvSpPr>
            <p:cNvPr id="392" name="Rectangle 28"/>
            <p:cNvSpPr>
              <a:spLocks noChangeAspect="1" noChangeArrowheads="1"/>
            </p:cNvSpPr>
            <p:nvPr/>
          </p:nvSpPr>
          <p:spPr bwMode="auto">
            <a:xfrm>
              <a:off x="3042610" y="2072629"/>
              <a:ext cx="1191040" cy="26651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ko-KR" altLang="en-US" sz="800" b="1" dirty="0">
                  <a:ea typeface="나눔고딕" panose="020D0604000000000000" pitchFamily="50" charset="-127"/>
                </a:rPr>
                <a:t>디지털 시민 시장실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  <a:p>
              <a:pPr algn="ctr">
                <a:defRPr/>
              </a:pPr>
              <a:r>
                <a:rPr lang="en-US" altLang="ko-KR" sz="800" b="1" dirty="0">
                  <a:ea typeface="나눔고딕" panose="020D0604000000000000" pitchFamily="50" charset="-127"/>
                </a:rPr>
                <a:t>WAS </a:t>
              </a:r>
              <a:r>
                <a:rPr lang="en-US" altLang="ko-KR" sz="800" b="1" dirty="0" smtClean="0">
                  <a:ea typeface="나눔고딕" panose="020D0604000000000000" pitchFamily="50" charset="-127"/>
                </a:rPr>
                <a:t>#2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</p:txBody>
        </p:sp>
      </p:grpSp>
      <p:grpSp>
        <p:nvGrpSpPr>
          <p:cNvPr id="396" name="그룹 395"/>
          <p:cNvGrpSpPr/>
          <p:nvPr/>
        </p:nvGrpSpPr>
        <p:grpSpPr>
          <a:xfrm>
            <a:off x="739219" y="5123533"/>
            <a:ext cx="1570963" cy="783971"/>
            <a:chOff x="992559" y="2072398"/>
            <a:chExt cx="1570963" cy="783971"/>
          </a:xfrm>
        </p:grpSpPr>
        <p:grpSp>
          <p:nvGrpSpPr>
            <p:cNvPr id="397" name="그룹 396"/>
            <p:cNvGrpSpPr/>
            <p:nvPr/>
          </p:nvGrpSpPr>
          <p:grpSpPr>
            <a:xfrm>
              <a:off x="992559" y="2072398"/>
              <a:ext cx="1570963" cy="783971"/>
              <a:chOff x="910792" y="2388852"/>
              <a:chExt cx="1465618" cy="783971"/>
            </a:xfrm>
          </p:grpSpPr>
          <p:grpSp>
            <p:nvGrpSpPr>
              <p:cNvPr id="400" name="그룹 399"/>
              <p:cNvGrpSpPr/>
              <p:nvPr/>
            </p:nvGrpSpPr>
            <p:grpSpPr>
              <a:xfrm>
                <a:off x="964999" y="2685301"/>
                <a:ext cx="1356560" cy="432650"/>
                <a:chOff x="881938" y="3581534"/>
                <a:chExt cx="1410335" cy="555163"/>
              </a:xfrm>
            </p:grpSpPr>
            <p:sp>
              <p:nvSpPr>
                <p:cNvPr id="402" name="직사각형 401"/>
                <p:cNvSpPr/>
                <p:nvPr/>
              </p:nvSpPr>
              <p:spPr bwMode="auto">
                <a:xfrm>
                  <a:off x="1511033" y="3581534"/>
                  <a:ext cx="781240" cy="27438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JBOSS EAP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403" name="직사각형 402"/>
                <p:cNvSpPr/>
                <p:nvPr/>
              </p:nvSpPr>
              <p:spPr bwMode="auto">
                <a:xfrm>
                  <a:off x="881938" y="3914652"/>
                  <a:ext cx="1410335" cy="22204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Linux Ent.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401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910792" y="2388852"/>
                <a:ext cx="1465618" cy="783971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398" name="Rectangle 28"/>
            <p:cNvSpPr>
              <a:spLocks noChangeAspect="1" noChangeArrowheads="1"/>
            </p:cNvSpPr>
            <p:nvPr/>
          </p:nvSpPr>
          <p:spPr bwMode="auto">
            <a:xfrm>
              <a:off x="992559" y="2073611"/>
              <a:ext cx="1191040" cy="26651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ko-KR" altLang="en-US" sz="800" b="1" dirty="0" smtClean="0">
                  <a:ea typeface="나눔고딕" panose="020D0604000000000000" pitchFamily="50" charset="-127"/>
                </a:rPr>
                <a:t>관리프로그램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  <a:p>
              <a:pPr algn="ctr">
                <a:defRPr/>
              </a:pPr>
              <a:r>
                <a:rPr lang="en-US" altLang="ko-KR" sz="800" b="1" dirty="0">
                  <a:ea typeface="나눔고딕" panose="020D0604000000000000" pitchFamily="50" charset="-127"/>
                </a:rPr>
                <a:t>WAS </a:t>
              </a:r>
              <a:r>
                <a:rPr lang="en-US" altLang="ko-KR" sz="800" b="1" dirty="0" smtClean="0">
                  <a:ea typeface="나눔고딕" panose="020D0604000000000000" pitchFamily="50" charset="-127"/>
                </a:rPr>
                <a:t>#1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</p:txBody>
        </p:sp>
        <p:sp>
          <p:nvSpPr>
            <p:cNvPr id="399" name="직사각형 398"/>
            <p:cNvSpPr/>
            <p:nvPr/>
          </p:nvSpPr>
          <p:spPr bwMode="auto">
            <a:xfrm>
              <a:off x="1049312" y="2379245"/>
              <a:ext cx="575724" cy="2138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b="1" dirty="0" err="1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NginX</a:t>
              </a:r>
              <a:endParaRPr kumimoji="0" lang="ko-KR" altLang="en-US" sz="9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</p:grpSp>
      <p:grpSp>
        <p:nvGrpSpPr>
          <p:cNvPr id="413" name="그룹 412"/>
          <p:cNvGrpSpPr/>
          <p:nvPr/>
        </p:nvGrpSpPr>
        <p:grpSpPr>
          <a:xfrm>
            <a:off x="2523780" y="5123533"/>
            <a:ext cx="1570963" cy="783971"/>
            <a:chOff x="992559" y="2072398"/>
            <a:chExt cx="1570963" cy="783971"/>
          </a:xfrm>
        </p:grpSpPr>
        <p:grpSp>
          <p:nvGrpSpPr>
            <p:cNvPr id="414" name="그룹 413"/>
            <p:cNvGrpSpPr/>
            <p:nvPr/>
          </p:nvGrpSpPr>
          <p:grpSpPr>
            <a:xfrm>
              <a:off x="992559" y="2072398"/>
              <a:ext cx="1570963" cy="783971"/>
              <a:chOff x="910792" y="2388852"/>
              <a:chExt cx="1465618" cy="783971"/>
            </a:xfrm>
          </p:grpSpPr>
          <p:grpSp>
            <p:nvGrpSpPr>
              <p:cNvPr id="417" name="그룹 416"/>
              <p:cNvGrpSpPr/>
              <p:nvPr/>
            </p:nvGrpSpPr>
            <p:grpSpPr>
              <a:xfrm>
                <a:off x="964999" y="2685301"/>
                <a:ext cx="1356560" cy="432650"/>
                <a:chOff x="881938" y="3581534"/>
                <a:chExt cx="1410335" cy="555163"/>
              </a:xfrm>
            </p:grpSpPr>
            <p:sp>
              <p:nvSpPr>
                <p:cNvPr id="419" name="직사각형 418"/>
                <p:cNvSpPr/>
                <p:nvPr/>
              </p:nvSpPr>
              <p:spPr bwMode="auto">
                <a:xfrm>
                  <a:off x="1511033" y="3581534"/>
                  <a:ext cx="781240" cy="27438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JBOSS EAP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420" name="직사각형 419"/>
                <p:cNvSpPr/>
                <p:nvPr/>
              </p:nvSpPr>
              <p:spPr bwMode="auto">
                <a:xfrm>
                  <a:off x="881938" y="3914652"/>
                  <a:ext cx="1410335" cy="22204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Linux Ent.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418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910792" y="2388852"/>
                <a:ext cx="1465618" cy="783971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415" name="Rectangle 28"/>
            <p:cNvSpPr>
              <a:spLocks noChangeAspect="1" noChangeArrowheads="1"/>
            </p:cNvSpPr>
            <p:nvPr/>
          </p:nvSpPr>
          <p:spPr bwMode="auto">
            <a:xfrm>
              <a:off x="992559" y="2073611"/>
              <a:ext cx="1191040" cy="26651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ko-KR" altLang="en-US" sz="800" b="1" dirty="0" smtClean="0">
                  <a:ea typeface="나눔고딕" panose="020D0604000000000000" pitchFamily="50" charset="-127"/>
                </a:rPr>
                <a:t>관리프로그램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  <a:p>
              <a:pPr algn="ctr">
                <a:defRPr/>
              </a:pPr>
              <a:r>
                <a:rPr lang="en-US" altLang="ko-KR" sz="800" b="1" dirty="0">
                  <a:ea typeface="나눔고딕" panose="020D0604000000000000" pitchFamily="50" charset="-127"/>
                </a:rPr>
                <a:t>WAS </a:t>
              </a:r>
              <a:r>
                <a:rPr lang="en-US" altLang="ko-KR" sz="800" b="1" dirty="0" smtClean="0">
                  <a:ea typeface="나눔고딕" panose="020D0604000000000000" pitchFamily="50" charset="-127"/>
                </a:rPr>
                <a:t>#1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</p:txBody>
        </p:sp>
        <p:sp>
          <p:nvSpPr>
            <p:cNvPr id="416" name="직사각형 415"/>
            <p:cNvSpPr/>
            <p:nvPr/>
          </p:nvSpPr>
          <p:spPr bwMode="auto">
            <a:xfrm>
              <a:off x="1049312" y="2379245"/>
              <a:ext cx="575724" cy="2138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b="1" dirty="0" err="1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NginX</a:t>
              </a:r>
              <a:endParaRPr kumimoji="0" lang="ko-KR" altLang="en-US" sz="9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</p:grpSp>
      <p:grpSp>
        <p:nvGrpSpPr>
          <p:cNvPr id="1081" name="그룹 1080"/>
          <p:cNvGrpSpPr/>
          <p:nvPr/>
        </p:nvGrpSpPr>
        <p:grpSpPr>
          <a:xfrm>
            <a:off x="6305001" y="4831748"/>
            <a:ext cx="3102797" cy="1394190"/>
            <a:chOff x="6170683" y="4858623"/>
            <a:chExt cx="3108346" cy="1325504"/>
          </a:xfrm>
        </p:grpSpPr>
        <p:grpSp>
          <p:nvGrpSpPr>
            <p:cNvPr id="336" name="그룹 335"/>
            <p:cNvGrpSpPr/>
            <p:nvPr/>
          </p:nvGrpSpPr>
          <p:grpSpPr>
            <a:xfrm>
              <a:off x="6170683" y="4864360"/>
              <a:ext cx="1465618" cy="848677"/>
              <a:chOff x="5471349" y="1840065"/>
              <a:chExt cx="1465618" cy="848677"/>
            </a:xfrm>
          </p:grpSpPr>
          <p:grpSp>
            <p:nvGrpSpPr>
              <p:cNvPr id="337" name="그룹 336"/>
              <p:cNvGrpSpPr/>
              <p:nvPr/>
            </p:nvGrpSpPr>
            <p:grpSpPr>
              <a:xfrm>
                <a:off x="5471349" y="1840065"/>
                <a:ext cx="1465618" cy="848677"/>
                <a:chOff x="5471349" y="1989400"/>
                <a:chExt cx="1465618" cy="848677"/>
              </a:xfrm>
            </p:grpSpPr>
            <p:sp>
              <p:nvSpPr>
                <p:cNvPr id="339" name="Rectangle 28"/>
                <p:cNvSpPr>
                  <a:spLocks noChangeAspect="1" noChangeArrowheads="1"/>
                </p:cNvSpPr>
                <p:nvPr/>
              </p:nvSpPr>
              <p:spPr bwMode="auto">
                <a:xfrm>
                  <a:off x="5471349" y="1989400"/>
                  <a:ext cx="1111251" cy="292038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lIns="54000" tIns="25200" rIns="54000" bIns="25200" anchor="ctr"/>
                <a:lstStyle/>
                <a:p>
                  <a:pPr algn="ctr">
                    <a:defRPr/>
                  </a:pPr>
                  <a:r>
                    <a:rPr lang="ko-KR" altLang="en-US" sz="900" b="1" dirty="0" smtClean="0">
                      <a:ea typeface="나눔고딕" panose="020D0604000000000000" pitchFamily="50" charset="-127"/>
                    </a:rPr>
                    <a:t>오픈아키텍처</a:t>
                  </a:r>
                  <a:endParaRPr lang="en-US" altLang="ko-KR" sz="900" b="1" dirty="0" smtClean="0">
                    <a:ea typeface="나눔고딕" panose="020D0604000000000000" pitchFamily="50" charset="-127"/>
                  </a:endParaRPr>
                </a:p>
                <a:p>
                  <a:pPr algn="ctr">
                    <a:defRPr/>
                  </a:pPr>
                  <a:r>
                    <a:rPr lang="en-US" altLang="ko-KR" sz="900" b="1" dirty="0" smtClean="0">
                      <a:ea typeface="나눔고딕" panose="020D0604000000000000" pitchFamily="50" charset="-127"/>
                    </a:rPr>
                    <a:t>DB</a:t>
                  </a:r>
                  <a:r>
                    <a:rPr lang="ko-KR" altLang="en-US" sz="900" b="1" dirty="0" smtClean="0">
                      <a:ea typeface="나눔고딕" panose="020D0604000000000000" pitchFamily="50" charset="-127"/>
                    </a:rPr>
                    <a:t> </a:t>
                  </a:r>
                  <a:r>
                    <a:rPr lang="en-US" altLang="ko-KR" sz="900" b="1" dirty="0" smtClean="0">
                      <a:ea typeface="나눔고딕" panose="020D0604000000000000" pitchFamily="50" charset="-127"/>
                    </a:rPr>
                    <a:t>#1 (Active)</a:t>
                  </a:r>
                  <a:endParaRPr lang="en-US" altLang="ko-KR" sz="900" b="1" dirty="0">
                    <a:ea typeface="나눔고딕" panose="020D0604000000000000" pitchFamily="50" charset="-127"/>
                  </a:endParaRPr>
                </a:p>
              </p:txBody>
            </p:sp>
            <p:grpSp>
              <p:nvGrpSpPr>
                <p:cNvPr id="340" name="그룹 339"/>
                <p:cNvGrpSpPr/>
                <p:nvPr/>
              </p:nvGrpSpPr>
              <p:grpSpPr>
                <a:xfrm>
                  <a:off x="5615365" y="2359398"/>
                  <a:ext cx="1188000" cy="421530"/>
                  <a:chOff x="962157" y="3677473"/>
                  <a:chExt cx="1235092" cy="540895"/>
                </a:xfrm>
              </p:grpSpPr>
              <p:sp>
                <p:nvSpPr>
                  <p:cNvPr id="342" name="직사각형 341"/>
                  <p:cNvSpPr/>
                  <p:nvPr/>
                </p:nvSpPr>
                <p:spPr bwMode="auto">
                  <a:xfrm>
                    <a:off x="962157" y="3677473"/>
                    <a:ext cx="1229805" cy="23872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kumimoji="0" lang="en-US" altLang="ko-KR" sz="900" b="1" dirty="0" smtClean="0">
                        <a:solidFill>
                          <a:schemeClr val="tx2">
                            <a:lumMod val="50000"/>
                          </a:schemeClr>
                        </a:solidFill>
                        <a:ea typeface="나눔고딕" panose="020D0604000000000000" pitchFamily="50" charset="-127"/>
                      </a:rPr>
                      <a:t>ORACLE/CDC/SDE</a:t>
                    </a:r>
                    <a:endParaRPr kumimoji="0" lang="ko-KR" altLang="en-US" sz="900" b="1" dirty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343" name="직사각형 342"/>
                  <p:cNvSpPr/>
                  <p:nvPr/>
                </p:nvSpPr>
                <p:spPr bwMode="auto">
                  <a:xfrm>
                    <a:off x="967444" y="3979639"/>
                    <a:ext cx="1229805" cy="23872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altLang="ko-KR" sz="900" b="1" dirty="0" smtClean="0">
                        <a:solidFill>
                          <a:schemeClr val="tx2">
                            <a:lumMod val="50000"/>
                          </a:schemeClr>
                        </a:solidFill>
                        <a:ea typeface="나눔고딕" panose="020D0604000000000000" pitchFamily="50" charset="-127"/>
                      </a:rPr>
                      <a:t>IBM AIX</a:t>
                    </a:r>
                    <a:endParaRPr kumimoji="0" lang="ko-KR" altLang="en-US" sz="900" b="1" dirty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endParaRPr>
                  </a:p>
                </p:txBody>
              </p:sp>
            </p:grpSp>
            <p:sp>
              <p:nvSpPr>
                <p:cNvPr id="341" name="Rectangle 26"/>
                <p:cNvSpPr>
                  <a:spLocks noChangeAspect="1" noChangeArrowheads="1"/>
                </p:cNvSpPr>
                <p:nvPr/>
              </p:nvSpPr>
              <p:spPr bwMode="auto">
                <a:xfrm>
                  <a:off x="5471349" y="1989401"/>
                  <a:ext cx="1465618" cy="848676"/>
                </a:xfrm>
                <a:prstGeom prst="rect">
                  <a:avLst/>
                </a:prstGeom>
                <a:noFill/>
                <a:ln w="21590" algn="ctr">
                  <a:solidFill>
                    <a:schemeClr val="tx1">
                      <a:lumMod val="50000"/>
                      <a:lumOff val="50000"/>
                    </a:schemeClr>
                  </a:solidFill>
                  <a:miter lim="800000"/>
                  <a:headEnd/>
                  <a:tailEnd/>
                </a:ln>
              </p:spPr>
              <p:txBody>
                <a:bodyPr lIns="54000" tIns="25200" rIns="54000" bIns="25200" anchor="ctr"/>
                <a:lstStyle/>
                <a:p>
                  <a:endParaRPr lang="ko-KR" altLang="en-US" b="1">
                    <a:latin typeface="+mn-lt"/>
                    <a:ea typeface="나눔고딕" panose="020D0604000000000000" pitchFamily="50" charset="-127"/>
                  </a:endParaRPr>
                </a:p>
              </p:txBody>
            </p:sp>
          </p:grpSp>
          <p:pic>
            <p:nvPicPr>
              <p:cNvPr id="338" name="Picture 33" descr="ICON_1Storage_NoShadow_Q207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61319" y="1917950"/>
                <a:ext cx="178030" cy="1917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22" name="그룹 421"/>
            <p:cNvGrpSpPr/>
            <p:nvPr/>
          </p:nvGrpSpPr>
          <p:grpSpPr>
            <a:xfrm>
              <a:off x="7813411" y="4858623"/>
              <a:ext cx="1465618" cy="848677"/>
              <a:chOff x="5471349" y="1840065"/>
              <a:chExt cx="1465618" cy="848677"/>
            </a:xfrm>
          </p:grpSpPr>
          <p:grpSp>
            <p:nvGrpSpPr>
              <p:cNvPr id="423" name="그룹 422"/>
              <p:cNvGrpSpPr/>
              <p:nvPr/>
            </p:nvGrpSpPr>
            <p:grpSpPr>
              <a:xfrm>
                <a:off x="5471349" y="1840065"/>
                <a:ext cx="1465618" cy="848677"/>
                <a:chOff x="5471349" y="1989400"/>
                <a:chExt cx="1465618" cy="848677"/>
              </a:xfrm>
            </p:grpSpPr>
            <p:sp>
              <p:nvSpPr>
                <p:cNvPr id="425" name="Rectangle 28"/>
                <p:cNvSpPr>
                  <a:spLocks noChangeAspect="1" noChangeArrowheads="1"/>
                </p:cNvSpPr>
                <p:nvPr/>
              </p:nvSpPr>
              <p:spPr bwMode="auto">
                <a:xfrm>
                  <a:off x="5471349" y="1989400"/>
                  <a:ext cx="1111251" cy="292038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lIns="54000" tIns="25200" rIns="54000" bIns="25200" anchor="ctr"/>
                <a:lstStyle/>
                <a:p>
                  <a:pPr algn="ctr">
                    <a:defRPr/>
                  </a:pPr>
                  <a:r>
                    <a:rPr lang="ko-KR" altLang="en-US" sz="900" b="1" dirty="0" smtClean="0">
                      <a:ea typeface="나눔고딕" panose="020D0604000000000000" pitchFamily="50" charset="-127"/>
                    </a:rPr>
                    <a:t>오픈아키텍처</a:t>
                  </a:r>
                  <a:endParaRPr lang="en-US" altLang="ko-KR" sz="900" b="1" dirty="0" smtClean="0">
                    <a:ea typeface="나눔고딕" panose="020D0604000000000000" pitchFamily="50" charset="-127"/>
                  </a:endParaRPr>
                </a:p>
                <a:p>
                  <a:pPr algn="ctr">
                    <a:defRPr/>
                  </a:pPr>
                  <a:r>
                    <a:rPr lang="en-US" altLang="ko-KR" sz="900" b="1" dirty="0" smtClean="0">
                      <a:ea typeface="나눔고딕" panose="020D0604000000000000" pitchFamily="50" charset="-127"/>
                    </a:rPr>
                    <a:t>DB</a:t>
                  </a:r>
                  <a:r>
                    <a:rPr lang="ko-KR" altLang="en-US" sz="900" b="1" dirty="0" smtClean="0">
                      <a:ea typeface="나눔고딕" panose="020D0604000000000000" pitchFamily="50" charset="-127"/>
                    </a:rPr>
                    <a:t> </a:t>
                  </a:r>
                  <a:r>
                    <a:rPr lang="en-US" altLang="ko-KR" sz="900" b="1" dirty="0" smtClean="0">
                      <a:ea typeface="나눔고딕" panose="020D0604000000000000" pitchFamily="50" charset="-127"/>
                    </a:rPr>
                    <a:t>#2 (Standby)</a:t>
                  </a:r>
                  <a:endParaRPr lang="en-US" altLang="ko-KR" sz="900" b="1" dirty="0">
                    <a:ea typeface="나눔고딕" panose="020D0604000000000000" pitchFamily="50" charset="-127"/>
                  </a:endParaRPr>
                </a:p>
              </p:txBody>
            </p:sp>
            <p:grpSp>
              <p:nvGrpSpPr>
                <p:cNvPr id="426" name="그룹 425"/>
                <p:cNvGrpSpPr/>
                <p:nvPr/>
              </p:nvGrpSpPr>
              <p:grpSpPr>
                <a:xfrm>
                  <a:off x="5615365" y="2359398"/>
                  <a:ext cx="1188000" cy="421530"/>
                  <a:chOff x="962157" y="3677473"/>
                  <a:chExt cx="1235092" cy="540895"/>
                </a:xfrm>
              </p:grpSpPr>
              <p:sp>
                <p:nvSpPr>
                  <p:cNvPr id="428" name="직사각형 427"/>
                  <p:cNvSpPr/>
                  <p:nvPr/>
                </p:nvSpPr>
                <p:spPr bwMode="auto">
                  <a:xfrm>
                    <a:off x="962157" y="3677473"/>
                    <a:ext cx="1229805" cy="23872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kumimoji="0" lang="en-US" altLang="ko-KR" sz="900" b="1" dirty="0" smtClean="0">
                        <a:solidFill>
                          <a:schemeClr val="tx2">
                            <a:lumMod val="50000"/>
                          </a:schemeClr>
                        </a:solidFill>
                        <a:ea typeface="나눔고딕" panose="020D0604000000000000" pitchFamily="50" charset="-127"/>
                      </a:rPr>
                      <a:t>ORACLE/CDC/SDE</a:t>
                    </a:r>
                    <a:endParaRPr kumimoji="0" lang="ko-KR" altLang="en-US" sz="900" b="1" dirty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429" name="직사각형 428"/>
                  <p:cNvSpPr/>
                  <p:nvPr/>
                </p:nvSpPr>
                <p:spPr bwMode="auto">
                  <a:xfrm>
                    <a:off x="967444" y="3979639"/>
                    <a:ext cx="1229805" cy="23872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altLang="ko-KR" sz="900" b="1" dirty="0" smtClean="0">
                        <a:solidFill>
                          <a:schemeClr val="tx2">
                            <a:lumMod val="50000"/>
                          </a:schemeClr>
                        </a:solidFill>
                        <a:ea typeface="나눔고딕" panose="020D0604000000000000" pitchFamily="50" charset="-127"/>
                      </a:rPr>
                      <a:t>IBM AIX</a:t>
                    </a:r>
                    <a:endParaRPr kumimoji="0" lang="ko-KR" altLang="en-US" sz="900" b="1" dirty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endParaRPr>
                  </a:p>
                </p:txBody>
              </p:sp>
            </p:grpSp>
            <p:sp>
              <p:nvSpPr>
                <p:cNvPr id="427" name="Rectangle 26"/>
                <p:cNvSpPr>
                  <a:spLocks noChangeAspect="1" noChangeArrowheads="1"/>
                </p:cNvSpPr>
                <p:nvPr/>
              </p:nvSpPr>
              <p:spPr bwMode="auto">
                <a:xfrm>
                  <a:off x="5471349" y="1989401"/>
                  <a:ext cx="1465618" cy="848676"/>
                </a:xfrm>
                <a:prstGeom prst="rect">
                  <a:avLst/>
                </a:prstGeom>
                <a:noFill/>
                <a:ln w="21590" algn="ctr">
                  <a:solidFill>
                    <a:schemeClr val="tx1">
                      <a:lumMod val="50000"/>
                      <a:lumOff val="50000"/>
                    </a:schemeClr>
                  </a:solidFill>
                  <a:miter lim="800000"/>
                  <a:headEnd/>
                  <a:tailEnd/>
                </a:ln>
              </p:spPr>
              <p:txBody>
                <a:bodyPr lIns="54000" tIns="25200" rIns="54000" bIns="25200" anchor="ctr"/>
                <a:lstStyle/>
                <a:p>
                  <a:endParaRPr lang="ko-KR" altLang="en-US" b="1">
                    <a:latin typeface="+mn-lt"/>
                    <a:ea typeface="나눔고딕" panose="020D0604000000000000" pitchFamily="50" charset="-127"/>
                  </a:endParaRPr>
                </a:p>
              </p:txBody>
            </p:sp>
          </p:grpSp>
          <p:pic>
            <p:nvPicPr>
              <p:cNvPr id="424" name="Picture 33" descr="ICON_1Storage_NoShadow_Q207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61319" y="1917950"/>
                <a:ext cx="178030" cy="1917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34" name="그룹 433"/>
            <p:cNvGrpSpPr/>
            <p:nvPr/>
          </p:nvGrpSpPr>
          <p:grpSpPr>
            <a:xfrm>
              <a:off x="7813411" y="5851823"/>
              <a:ext cx="977514" cy="332304"/>
              <a:chOff x="6569964" y="2779471"/>
              <a:chExt cx="977514" cy="332304"/>
            </a:xfrm>
          </p:grpSpPr>
          <p:pic>
            <p:nvPicPr>
              <p:cNvPr id="435" name="Picture 1116" descr="k2a_t2000_1"/>
              <p:cNvPicPr>
                <a:picLocks noChangeAspect="1" noChangeArrowheads="1"/>
              </p:cNvPicPr>
              <p:nvPr/>
            </p:nvPicPr>
            <p:blipFill>
              <a:blip r:embed="rId6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6740949" y="2779471"/>
                <a:ext cx="601758" cy="1905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436" name="TextBox 435"/>
              <p:cNvSpPr txBox="1"/>
              <p:nvPr/>
            </p:nvSpPr>
            <p:spPr>
              <a:xfrm>
                <a:off x="6569964" y="2927109"/>
                <a:ext cx="977514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600" dirty="0" err="1">
                    <a:latin typeface="+mn-lt"/>
                  </a:rPr>
                  <a:t>데이터마트</a:t>
                </a:r>
                <a:r>
                  <a:rPr lang="en-US" altLang="ko-KR" sz="600" dirty="0">
                    <a:latin typeface="+mn-lt"/>
                  </a:rPr>
                  <a:t> </a:t>
                </a:r>
                <a:r>
                  <a:rPr lang="ko-KR" altLang="en-US" sz="600" dirty="0">
                    <a:latin typeface="+mn-lt"/>
                  </a:rPr>
                  <a:t>스토리지</a:t>
                </a:r>
              </a:p>
            </p:txBody>
          </p:sp>
        </p:grpSp>
        <p:cxnSp>
          <p:nvCxnSpPr>
            <p:cNvPr id="437" name="꺾인 연결선 436"/>
            <p:cNvCxnSpPr>
              <a:stCxn id="435" idx="3"/>
              <a:endCxn id="427" idx="2"/>
            </p:cNvCxnSpPr>
            <p:nvPr/>
          </p:nvCxnSpPr>
          <p:spPr bwMode="auto">
            <a:xfrm flipH="1" flipV="1">
              <a:off x="8546220" y="5707300"/>
              <a:ext cx="39934" cy="239822"/>
            </a:xfrm>
            <a:prstGeom prst="bentConnector4">
              <a:avLst>
                <a:gd name="adj1" fmla="val -572445"/>
                <a:gd name="adj2" fmla="val 69868"/>
              </a:avLst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꺾인 연결선 439"/>
            <p:cNvCxnSpPr>
              <a:stCxn id="435" idx="1"/>
              <a:endCxn id="343" idx="2"/>
            </p:cNvCxnSpPr>
            <p:nvPr/>
          </p:nvCxnSpPr>
          <p:spPr bwMode="auto">
            <a:xfrm rot="10800000">
              <a:off x="6911242" y="5655888"/>
              <a:ext cx="1073154" cy="291234"/>
            </a:xfrm>
            <a:prstGeom prst="bentConnector2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4" name="직사각형 443"/>
          <p:cNvSpPr/>
          <p:nvPr/>
        </p:nvSpPr>
        <p:spPr bwMode="auto">
          <a:xfrm>
            <a:off x="3929997" y="1760381"/>
            <a:ext cx="868309" cy="173236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dirty="0">
                <a:solidFill>
                  <a:srgbClr val="FF0000"/>
                </a:solidFill>
                <a:ea typeface="나눔고딕" panose="020D0604000000000000" pitchFamily="50" charset="-127"/>
              </a:rPr>
              <a:t>신규장비도입</a:t>
            </a:r>
            <a:endParaRPr lang="en-US" altLang="ko-KR" sz="1000" b="1" dirty="0">
              <a:solidFill>
                <a:srgbClr val="FF0000"/>
              </a:solidFill>
              <a:ea typeface="나눔고딕" panose="020D0604000000000000" pitchFamily="50" charset="-127"/>
            </a:endParaRPr>
          </a:p>
        </p:txBody>
      </p:sp>
      <p:grpSp>
        <p:nvGrpSpPr>
          <p:cNvPr id="446" name="그룹 445"/>
          <p:cNvGrpSpPr/>
          <p:nvPr/>
        </p:nvGrpSpPr>
        <p:grpSpPr>
          <a:xfrm>
            <a:off x="4640133" y="4842960"/>
            <a:ext cx="1465618" cy="1023194"/>
            <a:chOff x="5471349" y="1840065"/>
            <a:chExt cx="1465618" cy="848677"/>
          </a:xfrm>
        </p:grpSpPr>
        <p:grpSp>
          <p:nvGrpSpPr>
            <p:cNvPr id="447" name="그룹 446"/>
            <p:cNvGrpSpPr/>
            <p:nvPr/>
          </p:nvGrpSpPr>
          <p:grpSpPr>
            <a:xfrm>
              <a:off x="5471349" y="1840065"/>
              <a:ext cx="1465618" cy="848677"/>
              <a:chOff x="5471349" y="1989400"/>
              <a:chExt cx="1465618" cy="848677"/>
            </a:xfrm>
          </p:grpSpPr>
          <p:sp>
            <p:nvSpPr>
              <p:cNvPr id="449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5471349" y="1989400"/>
                <a:ext cx="1111251" cy="29203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lIns="54000" tIns="25200" rIns="54000" bIns="25200" anchor="ctr"/>
              <a:lstStyle/>
              <a:p>
                <a:pPr algn="ctr">
                  <a:defRPr/>
                </a:pPr>
                <a:r>
                  <a:rPr lang="en-US" altLang="ko-KR" sz="900" b="1" dirty="0" smtClean="0">
                    <a:ea typeface="나눔고딕" panose="020D0604000000000000" pitchFamily="50" charset="-127"/>
                  </a:rPr>
                  <a:t>ETL</a:t>
                </a:r>
                <a:r>
                  <a:rPr lang="ko-KR" altLang="en-US" sz="900" b="1" dirty="0" err="1" smtClean="0">
                    <a:ea typeface="나눔고딕" panose="020D0604000000000000" pitchFamily="50" charset="-127"/>
                  </a:rPr>
                  <a:t>연동서버</a:t>
                </a:r>
                <a:r>
                  <a:rPr lang="ko-KR" altLang="en-US" sz="900" b="1" dirty="0" smtClean="0">
                    <a:ea typeface="나눔고딕" panose="020D0604000000000000" pitchFamily="50" charset="-127"/>
                  </a:rPr>
                  <a:t> </a:t>
                </a:r>
                <a:r>
                  <a:rPr lang="en-US" altLang="ko-KR" sz="900" b="1" dirty="0" smtClean="0">
                    <a:ea typeface="나눔고딕" panose="020D0604000000000000" pitchFamily="50" charset="-127"/>
                  </a:rPr>
                  <a:t>#1 (Active)</a:t>
                </a:r>
                <a:endParaRPr lang="en-US" altLang="ko-KR" sz="900" b="1" dirty="0"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450" name="그룹 449"/>
              <p:cNvGrpSpPr/>
              <p:nvPr/>
            </p:nvGrpSpPr>
            <p:grpSpPr>
              <a:xfrm>
                <a:off x="5615365" y="2359398"/>
                <a:ext cx="1188000" cy="421530"/>
                <a:chOff x="962157" y="3677473"/>
                <a:chExt cx="1235092" cy="540895"/>
              </a:xfrm>
            </p:grpSpPr>
            <p:sp>
              <p:nvSpPr>
                <p:cNvPr id="452" name="직사각형 451"/>
                <p:cNvSpPr/>
                <p:nvPr/>
              </p:nvSpPr>
              <p:spPr bwMode="auto">
                <a:xfrm>
                  <a:off x="962157" y="3677473"/>
                  <a:ext cx="1229805" cy="238729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err="1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DataStage</a:t>
                  </a:r>
                  <a:endParaRPr kumimoji="0" lang="en-US" altLang="ko-KR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err="1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DataTransform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453" name="직사각형 452"/>
                <p:cNvSpPr/>
                <p:nvPr/>
              </p:nvSpPr>
              <p:spPr bwMode="auto">
                <a:xfrm>
                  <a:off x="967444" y="3979639"/>
                  <a:ext cx="1229805" cy="238729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Windows 2008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451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5471349" y="1989401"/>
                <a:ext cx="1465618" cy="848676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pic>
          <p:nvPicPr>
            <p:cNvPr id="448" name="Picture 33" descr="ICON_1Storage_NoShadow_Q207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61319" y="1917950"/>
              <a:ext cx="178030" cy="191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8" name="직사각형 457"/>
          <p:cNvSpPr/>
          <p:nvPr/>
        </p:nvSpPr>
        <p:spPr bwMode="auto">
          <a:xfrm>
            <a:off x="3404313" y="4691520"/>
            <a:ext cx="868309" cy="173236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dirty="0" smtClean="0">
                <a:solidFill>
                  <a:srgbClr val="FF0000"/>
                </a:solidFill>
                <a:ea typeface="나눔고딕" panose="020D0604000000000000" pitchFamily="50" charset="-127"/>
              </a:rPr>
              <a:t>신규장비도입</a:t>
            </a:r>
            <a:endParaRPr lang="en-US" altLang="ko-KR" sz="1000" b="1" dirty="0">
              <a:solidFill>
                <a:srgbClr val="FF0000"/>
              </a:solidFill>
              <a:ea typeface="나눔고딕" panose="020D0604000000000000" pitchFamily="50" charset="-127"/>
            </a:endParaRPr>
          </a:p>
        </p:txBody>
      </p:sp>
      <p:cxnSp>
        <p:nvCxnSpPr>
          <p:cNvPr id="460" name="꺾인 연결선 459"/>
          <p:cNvCxnSpPr>
            <a:stCxn id="451" idx="0"/>
            <a:endCxn id="341" idx="0"/>
          </p:cNvCxnSpPr>
          <p:nvPr/>
        </p:nvCxnSpPr>
        <p:spPr bwMode="auto">
          <a:xfrm rot="5400000" flipH="1" flipV="1">
            <a:off x="6202133" y="4008592"/>
            <a:ext cx="5178" cy="1663560"/>
          </a:xfrm>
          <a:prstGeom prst="bentConnector3">
            <a:avLst>
              <a:gd name="adj1" fmla="val 4514832"/>
            </a:avLst>
          </a:prstGeom>
          <a:ln>
            <a:prstDash val="dash"/>
            <a:headEnd type="triangl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꺾인 연결선 462"/>
          <p:cNvCxnSpPr>
            <a:stCxn id="451" idx="0"/>
            <a:endCxn id="204" idx="0"/>
          </p:cNvCxnSpPr>
          <p:nvPr/>
        </p:nvCxnSpPr>
        <p:spPr bwMode="auto">
          <a:xfrm rot="5400000" flipH="1" flipV="1">
            <a:off x="4287103" y="2925906"/>
            <a:ext cx="3002895" cy="831216"/>
          </a:xfrm>
          <a:prstGeom prst="bentConnector3">
            <a:avLst>
              <a:gd name="adj1" fmla="val 107613"/>
            </a:avLst>
          </a:prstGeom>
          <a:ln>
            <a:prstDash val="dash"/>
            <a:headEnd type="triangl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6" name="직사각형 465"/>
          <p:cNvSpPr/>
          <p:nvPr/>
        </p:nvSpPr>
        <p:spPr bwMode="auto">
          <a:xfrm>
            <a:off x="7339072" y="1491278"/>
            <a:ext cx="580984" cy="233363"/>
          </a:xfrm>
          <a:prstGeom prst="rect">
            <a:avLst/>
          </a:prstGeom>
          <a:noFill/>
          <a:ln w="12700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7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RAC</a:t>
            </a:r>
            <a:r>
              <a:rPr lang="ko-KR" altLang="en-US" sz="7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구성</a:t>
            </a:r>
            <a:endParaRPr lang="en-US" altLang="ko-KR" sz="7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467" name="직사각형 466"/>
          <p:cNvSpPr/>
          <p:nvPr/>
        </p:nvSpPr>
        <p:spPr bwMode="auto">
          <a:xfrm>
            <a:off x="8163479" y="4512966"/>
            <a:ext cx="580984" cy="233363"/>
          </a:xfrm>
          <a:prstGeom prst="rect">
            <a:avLst/>
          </a:prstGeom>
          <a:noFill/>
          <a:ln w="12700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7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RAC</a:t>
            </a:r>
            <a:r>
              <a:rPr lang="ko-KR" altLang="en-US" sz="7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구성</a:t>
            </a:r>
            <a:endParaRPr lang="en-US" altLang="ko-KR" sz="7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cxnSp>
        <p:nvCxnSpPr>
          <p:cNvPr id="468" name="꺾인 연결선 467"/>
          <p:cNvCxnSpPr>
            <a:stCxn id="424" idx="0"/>
            <a:endCxn id="338" idx="0"/>
          </p:cNvCxnSpPr>
          <p:nvPr/>
        </p:nvCxnSpPr>
        <p:spPr bwMode="auto">
          <a:xfrm rot="16200000" flipH="1" flipV="1">
            <a:off x="8398584" y="4096788"/>
            <a:ext cx="6034" cy="1639795"/>
          </a:xfrm>
          <a:prstGeom prst="bentConnector3">
            <a:avLst>
              <a:gd name="adj1" fmla="val -3788532"/>
            </a:avLst>
          </a:prstGeom>
          <a:ln>
            <a:solidFill>
              <a:schemeClr val="bg1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꺾인 연결선 471"/>
          <p:cNvCxnSpPr>
            <a:stCxn id="247" idx="0"/>
            <a:endCxn id="248" idx="0"/>
          </p:cNvCxnSpPr>
          <p:nvPr/>
        </p:nvCxnSpPr>
        <p:spPr bwMode="auto">
          <a:xfrm rot="16200000" flipH="1" flipV="1">
            <a:off x="7581615" y="1081523"/>
            <a:ext cx="5145" cy="1667708"/>
          </a:xfrm>
          <a:prstGeom prst="bentConnector3">
            <a:avLst>
              <a:gd name="adj1" fmla="val -4813450"/>
            </a:avLst>
          </a:prstGeom>
          <a:ln>
            <a:solidFill>
              <a:schemeClr val="bg1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7" name="직사각형 476"/>
          <p:cNvSpPr/>
          <p:nvPr/>
        </p:nvSpPr>
        <p:spPr bwMode="auto">
          <a:xfrm>
            <a:off x="5004730" y="2755033"/>
            <a:ext cx="580984" cy="233363"/>
          </a:xfrm>
          <a:prstGeom prst="rect">
            <a:avLst/>
          </a:prstGeom>
          <a:noFill/>
          <a:ln w="12700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b="1" dirty="0" err="1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데이터복제</a:t>
            </a:r>
            <a:endParaRPr lang="en-US" altLang="ko-KR" sz="7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9516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ko-KR" altLang="en-US" dirty="0" smtClean="0">
                <a:latin typeface="+mn-lt"/>
                <a:ea typeface="나눔고딕 ExtraBold" panose="020D0904000000000000" pitchFamily="50" charset="-127"/>
              </a:rPr>
              <a:t>어플리케이션 아키텍처 </a:t>
            </a:r>
            <a:r>
              <a:rPr lang="en-US" altLang="ko-KR" smtClean="0">
                <a:latin typeface="+mn-lt"/>
                <a:ea typeface="나눔고딕 ExtraBold" panose="020D0904000000000000" pitchFamily="50" charset="-127"/>
              </a:rPr>
              <a:t>– </a:t>
            </a:r>
            <a:r>
              <a:rPr lang="en-US" altLang="ko-KR" smtClean="0">
                <a:latin typeface="+mn-lt"/>
                <a:ea typeface="나눔고딕 ExtraBold" panose="020D0904000000000000" pitchFamily="50" charset="-127"/>
              </a:rPr>
              <a:t>Module </a:t>
            </a:r>
            <a:r>
              <a:rPr lang="en-US" altLang="ko-KR" dirty="0" smtClean="0">
                <a:latin typeface="+mn-lt"/>
                <a:ea typeface="나눔고딕 ExtraBold" panose="020D0904000000000000" pitchFamily="50" charset="-127"/>
              </a:rPr>
              <a:t>View</a:t>
            </a:r>
            <a:endParaRPr lang="ko-KR" altLang="en-US" dirty="0">
              <a:latin typeface="+mn-lt"/>
              <a:ea typeface="나눔고딕 ExtraBold" panose="020D0904000000000000" pitchFamily="50" charset="-127"/>
            </a:endParaRPr>
          </a:p>
        </p:txBody>
      </p:sp>
      <p:sp>
        <p:nvSpPr>
          <p:cNvPr id="51" name="TextBox 102"/>
          <p:cNvSpPr txBox="1">
            <a:spLocks noChangeArrowheads="1"/>
          </p:cNvSpPr>
          <p:nvPr/>
        </p:nvSpPr>
        <p:spPr bwMode="auto">
          <a:xfrm>
            <a:off x="-103651" y="720441"/>
            <a:ext cx="323087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400" kern="0" dirty="0" smtClean="0">
                <a:ln>
                  <a:solidFill>
                    <a:sysClr val="windowText" lastClr="000000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서울시 디지털 시장실 </a:t>
            </a:r>
            <a:endParaRPr kumimoji="0" lang="ko-KR" altLang="en-US" sz="1400" kern="0" dirty="0">
              <a:ln>
                <a:solidFill>
                  <a:sysClr val="windowText" lastClr="000000"/>
                </a:solidFill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3" name="Rectangle 5"/>
          <p:cNvSpPr>
            <a:spLocks noChangeArrowheads="1"/>
          </p:cNvSpPr>
          <p:nvPr/>
        </p:nvSpPr>
        <p:spPr bwMode="gray">
          <a:xfrm>
            <a:off x="3999456" y="5389716"/>
            <a:ext cx="1121585" cy="343540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Spring Framework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64" name="Rectangle 5"/>
          <p:cNvSpPr>
            <a:spLocks noChangeArrowheads="1"/>
          </p:cNvSpPr>
          <p:nvPr/>
        </p:nvSpPr>
        <p:spPr bwMode="gray">
          <a:xfrm>
            <a:off x="3999456" y="4456052"/>
            <a:ext cx="4382454" cy="849806"/>
          </a:xfrm>
          <a:prstGeom prst="rect">
            <a:avLst/>
          </a:prstGeom>
          <a:gradFill>
            <a:gsLst>
              <a:gs pos="0">
                <a:schemeClr val="bg1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</a:gradFill>
          <a:ln>
            <a:noFill/>
          </a:ln>
          <a:effectLst>
            <a:outerShdw blurRad="63500" dist="88900" dir="2700000" algn="tl" rotWithShape="0">
              <a:prstClr val="black">
                <a:alpha val="24000"/>
              </a:prstClr>
            </a:outerShdw>
            <a:softEdge rad="3175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en-US" altLang="ko-KR" sz="1000" b="1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            DataService Layer</a:t>
            </a:r>
          </a:p>
        </p:txBody>
      </p:sp>
      <p:sp>
        <p:nvSpPr>
          <p:cNvPr id="67" name="Rectangle 5"/>
          <p:cNvSpPr>
            <a:spLocks noChangeArrowheads="1"/>
          </p:cNvSpPr>
          <p:nvPr/>
        </p:nvSpPr>
        <p:spPr bwMode="gray">
          <a:xfrm>
            <a:off x="8510386" y="1856262"/>
            <a:ext cx="1175444" cy="3449596"/>
          </a:xfrm>
          <a:prstGeom prst="rect">
            <a:avLst/>
          </a:prstGeom>
          <a:gradFill>
            <a:gsLst>
              <a:gs pos="0">
                <a:schemeClr val="bg1"/>
              </a:gs>
              <a:gs pos="74000">
                <a:schemeClr val="accent3">
                  <a:lumMod val="60000"/>
                  <a:lumOff val="40000"/>
                </a:schemeClr>
              </a:gs>
              <a:gs pos="83000">
                <a:schemeClr val="accent3">
                  <a:lumMod val="60000"/>
                  <a:lumOff val="40000"/>
                </a:schemeClr>
              </a:gs>
              <a:gs pos="100000">
                <a:schemeClr val="accent3">
                  <a:lumMod val="20000"/>
                  <a:lumOff val="80000"/>
                </a:schemeClr>
              </a:gs>
            </a:gsLst>
            <a:lin ang="2700000" scaled="1"/>
          </a:gradFill>
          <a:ln>
            <a:noFill/>
          </a:ln>
          <a:effectLst>
            <a:outerShdw blurRad="63500" dist="88900" dir="2700000" algn="tl" rotWithShape="0">
              <a:prstClr val="black">
                <a:alpha val="24000"/>
              </a:prstClr>
            </a:outerShdw>
            <a:softEdge rad="3175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en-US" altLang="ko-KR" sz="1000" b="1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Global Layer</a:t>
            </a:r>
            <a:endParaRPr kumimoji="0" lang="en-US" altLang="ko-KR" sz="1000" b="1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68" name="Rectangle 5"/>
          <p:cNvSpPr>
            <a:spLocks noChangeArrowheads="1"/>
          </p:cNvSpPr>
          <p:nvPr/>
        </p:nvSpPr>
        <p:spPr bwMode="gray">
          <a:xfrm>
            <a:off x="3999456" y="1856261"/>
            <a:ext cx="4382454" cy="2459518"/>
          </a:xfrm>
          <a:prstGeom prst="rect">
            <a:avLst/>
          </a:prstGeom>
          <a:gradFill>
            <a:gsLst>
              <a:gs pos="0">
                <a:schemeClr val="bg1"/>
              </a:gs>
              <a:gs pos="74000">
                <a:schemeClr val="accent2">
                  <a:lumMod val="40000"/>
                  <a:lumOff val="60000"/>
                </a:schemeClr>
              </a:gs>
              <a:gs pos="8300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2700000" scaled="1"/>
          </a:gradFill>
          <a:ln>
            <a:noFill/>
          </a:ln>
          <a:effectLst>
            <a:outerShdw blurRad="63500" dist="88900" dir="2700000" algn="tl" rotWithShape="0">
              <a:prstClr val="black">
                <a:alpha val="24000"/>
              </a:prstClr>
            </a:outerShdw>
            <a:softEdge rad="3175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en-US" altLang="ko-KR" sz="1000" b="1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Service Layer</a:t>
            </a:r>
          </a:p>
        </p:txBody>
      </p:sp>
      <p:sp>
        <p:nvSpPr>
          <p:cNvPr id="69" name="Rectangle 5"/>
          <p:cNvSpPr>
            <a:spLocks noChangeArrowheads="1"/>
          </p:cNvSpPr>
          <p:nvPr/>
        </p:nvSpPr>
        <p:spPr bwMode="gray">
          <a:xfrm>
            <a:off x="3999456" y="1185588"/>
            <a:ext cx="5686374" cy="568445"/>
          </a:xfrm>
          <a:prstGeom prst="rect">
            <a:avLst/>
          </a:prstGeom>
          <a:gradFill>
            <a:gsLst>
              <a:gs pos="0">
                <a:schemeClr val="bg1"/>
              </a:gs>
              <a:gs pos="37000">
                <a:schemeClr val="accent1">
                  <a:lumMod val="45000"/>
                  <a:lumOff val="55000"/>
                </a:schemeClr>
              </a:gs>
              <a:gs pos="77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</a:gradFill>
          <a:ln>
            <a:noFill/>
          </a:ln>
          <a:effectLst>
            <a:outerShdw blurRad="63500" dist="88900" dir="2700000" algn="tl" rotWithShape="0">
              <a:prstClr val="black">
                <a:alpha val="24000"/>
              </a:prstClr>
            </a:outerShdw>
            <a:softEdge rad="3175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en-US" altLang="ko-KR" sz="1000" b="1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Façade Layer</a:t>
            </a:r>
            <a:endParaRPr kumimoji="0" lang="en-US" altLang="ko-KR" sz="1000" b="1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0" name="Rectangle 5"/>
          <p:cNvSpPr>
            <a:spLocks noChangeArrowheads="1"/>
          </p:cNvSpPr>
          <p:nvPr/>
        </p:nvSpPr>
        <p:spPr bwMode="gray">
          <a:xfrm>
            <a:off x="1879959" y="1180697"/>
            <a:ext cx="1748192" cy="4037193"/>
          </a:xfrm>
          <a:prstGeom prst="rect">
            <a:avLst/>
          </a:prstGeom>
          <a:gradFill>
            <a:gsLst>
              <a:gs pos="0">
                <a:schemeClr val="bg1"/>
              </a:gs>
              <a:gs pos="74000">
                <a:schemeClr val="accent2">
                  <a:lumMod val="40000"/>
                  <a:lumOff val="60000"/>
                </a:schemeClr>
              </a:gs>
              <a:gs pos="8300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2700000" scaled="1"/>
          </a:gradFill>
          <a:ln>
            <a:noFill/>
          </a:ln>
          <a:effectLst>
            <a:outerShdw blurRad="63500" dist="88900" dir="2700000" algn="tl" rotWithShape="0">
              <a:prstClr val="black">
                <a:alpha val="24000"/>
              </a:prstClr>
            </a:outerShdw>
            <a:softEdge rad="3175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en-US" altLang="ko-KR" sz="1000" b="1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Presentation Layer</a:t>
            </a:r>
            <a:endParaRPr kumimoji="0" lang="en-US" altLang="ko-KR" sz="1000" b="1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1" name="Rectangle 5"/>
          <p:cNvSpPr>
            <a:spLocks noChangeArrowheads="1"/>
          </p:cNvSpPr>
          <p:nvPr/>
        </p:nvSpPr>
        <p:spPr bwMode="gray">
          <a:xfrm>
            <a:off x="8593534" y="2254070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Domain POJO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2" name="Rectangle 5"/>
          <p:cNvSpPr>
            <a:spLocks noChangeArrowheads="1"/>
          </p:cNvSpPr>
          <p:nvPr/>
        </p:nvSpPr>
        <p:spPr bwMode="gray">
          <a:xfrm>
            <a:off x="8593534" y="2630687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Configuration</a:t>
            </a:r>
            <a:b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3" name="Rectangle 5"/>
          <p:cNvSpPr>
            <a:spLocks noChangeArrowheads="1"/>
          </p:cNvSpPr>
          <p:nvPr/>
        </p:nvSpPr>
        <p:spPr bwMode="gray">
          <a:xfrm>
            <a:off x="8593534" y="3007302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Exception</a:t>
            </a:r>
            <a:b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4" name="Rectangle 5"/>
          <p:cNvSpPr>
            <a:spLocks noChangeArrowheads="1"/>
          </p:cNvSpPr>
          <p:nvPr/>
        </p:nvSpPr>
        <p:spPr bwMode="gray">
          <a:xfrm>
            <a:off x="8593534" y="3381103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Logging</a:t>
            </a:r>
            <a:b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5" name="Rectangle 5"/>
          <p:cNvSpPr>
            <a:spLocks noChangeArrowheads="1"/>
          </p:cNvSpPr>
          <p:nvPr/>
        </p:nvSpPr>
        <p:spPr bwMode="gray">
          <a:xfrm>
            <a:off x="8593534" y="3753594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Authentication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6" name="Rectangle 5"/>
          <p:cNvSpPr>
            <a:spLocks noChangeArrowheads="1"/>
          </p:cNvSpPr>
          <p:nvPr/>
        </p:nvSpPr>
        <p:spPr bwMode="gray">
          <a:xfrm>
            <a:off x="8593534" y="4128186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Exception</a:t>
            </a:r>
            <a:b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7" name="Rectangle 5"/>
          <p:cNvSpPr>
            <a:spLocks noChangeArrowheads="1"/>
          </p:cNvSpPr>
          <p:nvPr/>
        </p:nvSpPr>
        <p:spPr bwMode="gray">
          <a:xfrm>
            <a:off x="4118986" y="4851207"/>
            <a:ext cx="963249" cy="3435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DBMS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Adapter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8" name="Rectangle 5"/>
          <p:cNvSpPr>
            <a:spLocks noChangeArrowheads="1"/>
          </p:cNvSpPr>
          <p:nvPr/>
        </p:nvSpPr>
        <p:spPr bwMode="gray">
          <a:xfrm>
            <a:off x="5180579" y="4854225"/>
            <a:ext cx="964272" cy="3435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OpenAPI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Adapter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9" name="Rectangle 5"/>
          <p:cNvSpPr>
            <a:spLocks noChangeArrowheads="1"/>
          </p:cNvSpPr>
          <p:nvPr/>
        </p:nvSpPr>
        <p:spPr bwMode="gray">
          <a:xfrm>
            <a:off x="6243195" y="4852642"/>
            <a:ext cx="963249" cy="3435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File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Adapter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80" name="Rectangle 5"/>
          <p:cNvSpPr>
            <a:spLocks noChangeArrowheads="1"/>
          </p:cNvSpPr>
          <p:nvPr/>
        </p:nvSpPr>
        <p:spPr bwMode="gray">
          <a:xfrm>
            <a:off x="7299496" y="4860210"/>
            <a:ext cx="963249" cy="3435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CCTV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Adapter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81" name="Rectangle 5"/>
          <p:cNvSpPr>
            <a:spLocks noChangeArrowheads="1"/>
          </p:cNvSpPr>
          <p:nvPr/>
        </p:nvSpPr>
        <p:spPr bwMode="gray">
          <a:xfrm>
            <a:off x="8593534" y="4503612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MultiLanguage</a:t>
            </a:r>
            <a:b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82" name="Rectangle 5"/>
          <p:cNvSpPr>
            <a:spLocks noChangeArrowheads="1"/>
          </p:cNvSpPr>
          <p:nvPr/>
        </p:nvSpPr>
        <p:spPr bwMode="gray">
          <a:xfrm>
            <a:off x="8593534" y="4880831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Message</a:t>
            </a:r>
            <a:b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83" name="Rectangle 5"/>
          <p:cNvSpPr>
            <a:spLocks noChangeArrowheads="1"/>
          </p:cNvSpPr>
          <p:nvPr/>
        </p:nvSpPr>
        <p:spPr bwMode="gray">
          <a:xfrm>
            <a:off x="5178890" y="2205006"/>
            <a:ext cx="1101999" cy="1200659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Business</a:t>
            </a:r>
            <a:b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Logic</a:t>
            </a:r>
          </a:p>
        </p:txBody>
      </p:sp>
      <p:sp>
        <p:nvSpPr>
          <p:cNvPr id="84" name="Rectangle 5"/>
          <p:cNvSpPr>
            <a:spLocks noChangeArrowheads="1"/>
          </p:cNvSpPr>
          <p:nvPr/>
        </p:nvSpPr>
        <p:spPr bwMode="gray">
          <a:xfrm>
            <a:off x="7414358" y="2220050"/>
            <a:ext cx="835127" cy="313261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IoC Container</a:t>
            </a:r>
          </a:p>
        </p:txBody>
      </p:sp>
      <p:sp>
        <p:nvSpPr>
          <p:cNvPr id="85" name="Rectangle 5"/>
          <p:cNvSpPr>
            <a:spLocks noChangeArrowheads="1"/>
          </p:cNvSpPr>
          <p:nvPr/>
        </p:nvSpPr>
        <p:spPr bwMode="gray">
          <a:xfrm>
            <a:off x="7414356" y="2639763"/>
            <a:ext cx="835127" cy="313261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Transaction</a:t>
            </a:r>
          </a:p>
        </p:txBody>
      </p:sp>
      <p:sp>
        <p:nvSpPr>
          <p:cNvPr id="86" name="Rectangle 5"/>
          <p:cNvSpPr>
            <a:spLocks noChangeArrowheads="1"/>
          </p:cNvSpPr>
          <p:nvPr/>
        </p:nvSpPr>
        <p:spPr bwMode="gray">
          <a:xfrm>
            <a:off x="7414356" y="3054754"/>
            <a:ext cx="835127" cy="313261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Logging</a:t>
            </a:r>
          </a:p>
        </p:txBody>
      </p:sp>
      <p:sp>
        <p:nvSpPr>
          <p:cNvPr id="88" name="Rectangle 5"/>
          <p:cNvSpPr>
            <a:spLocks noChangeArrowheads="1"/>
          </p:cNvSpPr>
          <p:nvPr/>
        </p:nvSpPr>
        <p:spPr bwMode="gray">
          <a:xfrm>
            <a:off x="7414356" y="3863553"/>
            <a:ext cx="835127" cy="313261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Exception</a:t>
            </a:r>
          </a:p>
        </p:txBody>
      </p:sp>
      <p:sp>
        <p:nvSpPr>
          <p:cNvPr id="89" name="Rectangle 5"/>
          <p:cNvSpPr>
            <a:spLocks noChangeArrowheads="1"/>
          </p:cNvSpPr>
          <p:nvPr/>
        </p:nvSpPr>
        <p:spPr bwMode="gray">
          <a:xfrm>
            <a:off x="7414356" y="3461471"/>
            <a:ext cx="835127" cy="313261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Security</a:t>
            </a:r>
          </a:p>
        </p:txBody>
      </p:sp>
      <p:sp>
        <p:nvSpPr>
          <p:cNvPr id="90" name="Rectangle 5"/>
          <p:cNvSpPr>
            <a:spLocks noChangeArrowheads="1"/>
          </p:cNvSpPr>
          <p:nvPr/>
        </p:nvSpPr>
        <p:spPr bwMode="gray">
          <a:xfrm>
            <a:off x="4142916" y="2203471"/>
            <a:ext cx="837533" cy="1203807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Pre</a:t>
            </a:r>
          </a:p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Condition</a:t>
            </a:r>
          </a:p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AOP </a:t>
            </a:r>
          </a:p>
        </p:txBody>
      </p:sp>
      <p:sp>
        <p:nvSpPr>
          <p:cNvPr id="91" name="Rectangle 5"/>
          <p:cNvSpPr>
            <a:spLocks noChangeArrowheads="1"/>
          </p:cNvSpPr>
          <p:nvPr/>
        </p:nvSpPr>
        <p:spPr bwMode="gray">
          <a:xfrm>
            <a:off x="6485542" y="2205744"/>
            <a:ext cx="809553" cy="1199921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After</a:t>
            </a:r>
          </a:p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Condition</a:t>
            </a:r>
          </a:p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AOP </a:t>
            </a:r>
          </a:p>
        </p:txBody>
      </p:sp>
      <p:sp>
        <p:nvSpPr>
          <p:cNvPr id="92" name="Rectangle 5"/>
          <p:cNvSpPr>
            <a:spLocks noChangeArrowheads="1"/>
          </p:cNvSpPr>
          <p:nvPr/>
        </p:nvSpPr>
        <p:spPr bwMode="gray">
          <a:xfrm>
            <a:off x="3999456" y="6146187"/>
            <a:ext cx="5686374" cy="271755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Java V/M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93" name="Rectangle 5"/>
          <p:cNvSpPr>
            <a:spLocks noChangeArrowheads="1"/>
          </p:cNvSpPr>
          <p:nvPr/>
        </p:nvSpPr>
        <p:spPr bwMode="gray">
          <a:xfrm>
            <a:off x="3999456" y="5805264"/>
            <a:ext cx="5686374" cy="271755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Jboss EAP - WAS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96" name="Rectangle 5"/>
          <p:cNvSpPr>
            <a:spLocks noChangeArrowheads="1"/>
          </p:cNvSpPr>
          <p:nvPr/>
        </p:nvSpPr>
        <p:spPr bwMode="gray">
          <a:xfrm>
            <a:off x="5192453" y="5386426"/>
            <a:ext cx="1067364" cy="343540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Spring Team Suite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97" name="Rectangle 5"/>
          <p:cNvSpPr>
            <a:spLocks noChangeArrowheads="1"/>
          </p:cNvSpPr>
          <p:nvPr/>
        </p:nvSpPr>
        <p:spPr bwMode="gray">
          <a:xfrm>
            <a:off x="6331229" y="5383791"/>
            <a:ext cx="1067364" cy="343540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STS Plug-in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98" name="Rectangle 5"/>
          <p:cNvSpPr>
            <a:spLocks noChangeArrowheads="1"/>
          </p:cNvSpPr>
          <p:nvPr/>
        </p:nvSpPr>
        <p:spPr bwMode="gray">
          <a:xfrm>
            <a:off x="7470005" y="5383791"/>
            <a:ext cx="1067364" cy="343540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Code Template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99" name="Rectangle 5"/>
          <p:cNvSpPr>
            <a:spLocks noChangeArrowheads="1"/>
          </p:cNvSpPr>
          <p:nvPr/>
        </p:nvSpPr>
        <p:spPr bwMode="gray">
          <a:xfrm>
            <a:off x="8605286" y="5383791"/>
            <a:ext cx="1080543" cy="343540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Utility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01" name="Rectangle 5"/>
          <p:cNvSpPr>
            <a:spLocks noChangeArrowheads="1"/>
          </p:cNvSpPr>
          <p:nvPr/>
        </p:nvSpPr>
        <p:spPr bwMode="gray">
          <a:xfrm>
            <a:off x="4142916" y="1415912"/>
            <a:ext cx="5422531" cy="24705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ServicePipeLineBroker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02" name="Rectangle 5"/>
          <p:cNvSpPr>
            <a:spLocks noChangeArrowheads="1"/>
          </p:cNvSpPr>
          <p:nvPr/>
        </p:nvSpPr>
        <p:spPr bwMode="gray">
          <a:xfrm>
            <a:off x="2067106" y="1444017"/>
            <a:ext cx="1193705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Front Controller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03" name="Rectangle 5"/>
          <p:cNvSpPr>
            <a:spLocks noChangeArrowheads="1"/>
          </p:cNvSpPr>
          <p:nvPr/>
        </p:nvSpPr>
        <p:spPr bwMode="gray">
          <a:xfrm>
            <a:off x="2059225" y="2072656"/>
            <a:ext cx="1205859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Controller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04" name="Rectangle 5"/>
          <p:cNvSpPr>
            <a:spLocks noChangeArrowheads="1"/>
          </p:cNvSpPr>
          <p:nvPr/>
        </p:nvSpPr>
        <p:spPr bwMode="gray">
          <a:xfrm>
            <a:off x="2059224" y="2701680"/>
            <a:ext cx="1205859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View Resolver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05" name="Rectangle 5"/>
          <p:cNvSpPr>
            <a:spLocks noChangeArrowheads="1"/>
          </p:cNvSpPr>
          <p:nvPr/>
        </p:nvSpPr>
        <p:spPr bwMode="gray">
          <a:xfrm>
            <a:off x="2059225" y="4379774"/>
            <a:ext cx="1197978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Bi-Matrix Connector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06" name="Rectangle 5"/>
          <p:cNvSpPr>
            <a:spLocks noChangeArrowheads="1"/>
          </p:cNvSpPr>
          <p:nvPr/>
        </p:nvSpPr>
        <p:spPr bwMode="gray">
          <a:xfrm>
            <a:off x="2059225" y="4758522"/>
            <a:ext cx="1197978" cy="334345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Cctv View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Connector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07" name="Rectangle 5"/>
          <p:cNvSpPr>
            <a:spLocks noChangeArrowheads="1"/>
          </p:cNvSpPr>
          <p:nvPr/>
        </p:nvSpPr>
        <p:spPr bwMode="gray">
          <a:xfrm>
            <a:off x="2060241" y="3244906"/>
            <a:ext cx="1197978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JSP/HTML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08" name="Rectangle 5"/>
          <p:cNvSpPr>
            <a:spLocks noChangeArrowheads="1"/>
          </p:cNvSpPr>
          <p:nvPr/>
        </p:nvSpPr>
        <p:spPr bwMode="gray">
          <a:xfrm>
            <a:off x="204524" y="3818806"/>
            <a:ext cx="1323381" cy="1401133"/>
          </a:xfrm>
          <a:prstGeom prst="rect">
            <a:avLst/>
          </a:prstGeom>
          <a:gradFill>
            <a:gsLst>
              <a:gs pos="0">
                <a:schemeClr val="bg1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</a:gradFill>
          <a:ln>
            <a:noFill/>
          </a:ln>
          <a:effectLst>
            <a:outerShdw blurRad="63500" dist="88900" dir="2700000" algn="tl" rotWithShape="0">
              <a:prstClr val="black">
                <a:alpha val="24000"/>
              </a:prstClr>
            </a:outerShdw>
            <a:softEdge rad="3175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en-US" altLang="ko-KR" sz="1000" b="1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Visualization Layer</a:t>
            </a:r>
          </a:p>
        </p:txBody>
      </p:sp>
      <p:grpSp>
        <p:nvGrpSpPr>
          <p:cNvPr id="1077" name="그룹 1076"/>
          <p:cNvGrpSpPr/>
          <p:nvPr/>
        </p:nvGrpSpPr>
        <p:grpSpPr>
          <a:xfrm>
            <a:off x="417755" y="5586017"/>
            <a:ext cx="1211873" cy="764419"/>
            <a:chOff x="10180204" y="3113876"/>
            <a:chExt cx="1211873" cy="764419"/>
          </a:xfrm>
          <a:effectLst/>
        </p:grpSpPr>
        <p:grpSp>
          <p:nvGrpSpPr>
            <p:cNvPr id="7" name="그룹 6"/>
            <p:cNvGrpSpPr/>
            <p:nvPr/>
          </p:nvGrpSpPr>
          <p:grpSpPr>
            <a:xfrm>
              <a:off x="10180204" y="3113876"/>
              <a:ext cx="558550" cy="764419"/>
              <a:chOff x="10624603" y="3309812"/>
              <a:chExt cx="1117099" cy="1524637"/>
            </a:xfrm>
          </p:grpSpPr>
          <p:sp>
            <p:nvSpPr>
              <p:cNvPr id="52" name="TextBox 104"/>
              <p:cNvSpPr txBox="1">
                <a:spLocks noChangeArrowheads="1"/>
              </p:cNvSpPr>
              <p:nvPr/>
            </p:nvSpPr>
            <p:spPr bwMode="auto">
              <a:xfrm>
                <a:off x="10624603" y="4404745"/>
                <a:ext cx="1117099" cy="4297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800" kern="0" dirty="0" smtClean="0">
                    <a:ln>
                      <a:solidFill>
                        <a:sysClr val="windowText" lastClr="000000"/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BI</a:t>
                </a:r>
                <a:r>
                  <a:rPr kumimoji="0" lang="ko-KR" altLang="en-US" sz="800" kern="0" dirty="0" smtClean="0">
                    <a:ln>
                      <a:solidFill>
                        <a:sysClr val="windowText" lastClr="000000"/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서버</a:t>
                </a:r>
                <a:endParaRPr kumimoji="0" lang="ko-KR" altLang="en-US" sz="800" kern="0" dirty="0">
                  <a:ln>
                    <a:solidFill>
                      <a:sysClr val="windowText" lastClr="000000"/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109" name="Picture 2" descr="D:\011_designed_source\06_ahnlab_source\04_ICON\01_server\01_basic_server.png"/>
              <p:cNvPicPr>
                <a:picLocks noChangeAspect="1" noChangeArrowheads="1"/>
              </p:cNvPicPr>
              <p:nvPr/>
            </p:nvPicPr>
            <p:blipFill>
              <a:blip r:embed="rId3">
                <a:grayscl/>
              </a:blip>
              <a:srcRect/>
              <a:stretch>
                <a:fillRect/>
              </a:stretch>
            </p:blipFill>
            <p:spPr bwMode="auto">
              <a:xfrm>
                <a:off x="10886052" y="3309812"/>
                <a:ext cx="476913" cy="10548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pic>
          <p:nvPicPr>
            <p:cNvPr id="112" name="Picture 4" descr="C:\Users\minji\AppData\Local\Microsoft\Windows\INetCache\IE\IXK16C2W\database256[1].gif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44826" y="3440801"/>
              <a:ext cx="217395" cy="2173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3" name="TextBox 104"/>
            <p:cNvSpPr txBox="1">
              <a:spLocks noChangeArrowheads="1"/>
            </p:cNvSpPr>
            <p:nvPr/>
          </p:nvSpPr>
          <p:spPr bwMode="auto">
            <a:xfrm>
              <a:off x="10274978" y="3130913"/>
              <a:ext cx="1117099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kern="0" dirty="0" err="1" smtClean="0">
                  <a:ln>
                    <a:solidFill>
                      <a:sysClr val="windowText" lastClr="000000"/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Config</a:t>
              </a:r>
              <a:endParaRPr kumimoji="0" lang="en-US" altLang="ko-KR" sz="800" kern="0" dirty="0" smtClean="0">
                <a:ln>
                  <a:solidFill>
                    <a:sysClr val="windowText" lastClr="000000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kern="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Repository</a:t>
              </a:r>
              <a:endParaRPr kumimoji="0" lang="ko-KR" altLang="en-US" sz="800" kern="0" dirty="0">
                <a:ln>
                  <a:solidFill>
                    <a:sysClr val="windowText" lastClr="000000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114" name="Rectangle 5"/>
          <p:cNvSpPr>
            <a:spLocks noChangeArrowheads="1"/>
          </p:cNvSpPr>
          <p:nvPr/>
        </p:nvSpPr>
        <p:spPr bwMode="gray">
          <a:xfrm>
            <a:off x="318391" y="4696074"/>
            <a:ext cx="1102674" cy="38417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i</a:t>
            </a: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-PORTAL 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Server Module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16" name="Rectangle 5"/>
          <p:cNvSpPr>
            <a:spLocks noChangeArrowheads="1"/>
          </p:cNvSpPr>
          <p:nvPr/>
        </p:nvSpPr>
        <p:spPr bwMode="gray">
          <a:xfrm>
            <a:off x="321313" y="4125065"/>
            <a:ext cx="1102674" cy="38417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i</a:t>
            </a: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-CANVAS Engine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cxnSp>
        <p:nvCxnSpPr>
          <p:cNvPr id="118" name="꺾인 연결선 117"/>
          <p:cNvCxnSpPr>
            <a:stCxn id="103" idx="0"/>
            <a:endCxn id="102" idx="2"/>
          </p:cNvCxnSpPr>
          <p:nvPr/>
        </p:nvCxnSpPr>
        <p:spPr>
          <a:xfrm rot="5400000" flipH="1" flipV="1">
            <a:off x="2520508" y="1929205"/>
            <a:ext cx="285099" cy="1804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19" name="꺾인 연결선 118"/>
          <p:cNvCxnSpPr>
            <a:stCxn id="101" idx="1"/>
            <a:endCxn id="103" idx="3"/>
          </p:cNvCxnSpPr>
          <p:nvPr/>
        </p:nvCxnSpPr>
        <p:spPr>
          <a:xfrm rot="10800000" flipV="1">
            <a:off x="3265084" y="1539436"/>
            <a:ext cx="877832" cy="704989"/>
          </a:xfrm>
          <a:prstGeom prst="bentConnector3">
            <a:avLst>
              <a:gd name="adj1" fmla="val 50000"/>
            </a:avLst>
          </a:prstGeom>
          <a:ln w="19050">
            <a:gradFill>
              <a:gsLst>
                <a:gs pos="0">
                  <a:schemeClr val="tx2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5400000" scaled="1"/>
            </a:gradFill>
            <a:headEnd type="triangle" w="med" len="med"/>
            <a:tailEnd type="triangl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20" name="꺾인 연결선 119"/>
          <p:cNvCxnSpPr>
            <a:stCxn id="90" idx="0"/>
            <a:endCxn id="101" idx="2"/>
          </p:cNvCxnSpPr>
          <p:nvPr/>
        </p:nvCxnSpPr>
        <p:spPr>
          <a:xfrm rot="5400000" flipH="1" flipV="1">
            <a:off x="5437678" y="786968"/>
            <a:ext cx="540509" cy="2292499"/>
          </a:xfrm>
          <a:prstGeom prst="bentConnector3">
            <a:avLst>
              <a:gd name="adj1" fmla="val 73334"/>
            </a:avLst>
          </a:prstGeom>
          <a:ln w="19050"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100000">
                  <a:schemeClr val="tx2">
                    <a:lumMod val="75000"/>
                  </a:schemeClr>
                </a:gs>
              </a:gsLst>
              <a:lin ang="5400000" scaled="1"/>
              <a:tileRect/>
            </a:gradFill>
            <a:headEnd type="triangle" w="med" len="med"/>
            <a:tailEnd type="triangl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22" name="Rectangle 5"/>
          <p:cNvSpPr>
            <a:spLocks noChangeArrowheads="1"/>
          </p:cNvSpPr>
          <p:nvPr/>
        </p:nvSpPr>
        <p:spPr bwMode="gray">
          <a:xfrm>
            <a:off x="4142917" y="3488269"/>
            <a:ext cx="1496916" cy="688545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Runnable AOP</a:t>
            </a:r>
          </a:p>
        </p:txBody>
      </p:sp>
      <p:sp>
        <p:nvSpPr>
          <p:cNvPr id="123" name="Rectangle 5"/>
          <p:cNvSpPr>
            <a:spLocks noChangeArrowheads="1"/>
          </p:cNvSpPr>
          <p:nvPr/>
        </p:nvSpPr>
        <p:spPr bwMode="gray">
          <a:xfrm>
            <a:off x="5827565" y="3488269"/>
            <a:ext cx="1471932" cy="688545"/>
          </a:xfrm>
          <a:prstGeom prst="rect">
            <a:avLst/>
          </a:prstGeom>
          <a:solidFill>
            <a:srgbClr val="FD9595">
              <a:alpha val="43000"/>
            </a:srgbClr>
          </a:solidFill>
          <a:ln w="254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Exception AOP</a:t>
            </a:r>
          </a:p>
        </p:txBody>
      </p:sp>
      <p:cxnSp>
        <p:nvCxnSpPr>
          <p:cNvPr id="138" name="꺾인 연결선 137"/>
          <p:cNvCxnSpPr>
            <a:stCxn id="104" idx="0"/>
            <a:endCxn id="103" idx="2"/>
          </p:cNvCxnSpPr>
          <p:nvPr/>
        </p:nvCxnSpPr>
        <p:spPr>
          <a:xfrm rot="5400000" flipH="1" flipV="1">
            <a:off x="2519412" y="2558938"/>
            <a:ext cx="285484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45" name="꺾인 연결선 144"/>
          <p:cNvCxnSpPr>
            <a:stCxn id="105" idx="3"/>
            <a:endCxn id="104" idx="3"/>
          </p:cNvCxnSpPr>
          <p:nvPr/>
        </p:nvCxnSpPr>
        <p:spPr>
          <a:xfrm flipV="1">
            <a:off x="3257203" y="2873450"/>
            <a:ext cx="7880" cy="1678094"/>
          </a:xfrm>
          <a:prstGeom prst="bentConnector3">
            <a:avLst>
              <a:gd name="adj1" fmla="val 3001015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49" name="꺾인 연결선 148"/>
          <p:cNvCxnSpPr>
            <a:stCxn id="80" idx="0"/>
            <a:endCxn id="83" idx="2"/>
          </p:cNvCxnSpPr>
          <p:nvPr/>
        </p:nvCxnSpPr>
        <p:spPr>
          <a:xfrm rot="16200000" flipV="1">
            <a:off x="6028234" y="3107322"/>
            <a:ext cx="1454545" cy="2051231"/>
          </a:xfrm>
          <a:prstGeom prst="bentConnector3">
            <a:avLst>
              <a:gd name="adj1" fmla="val 10641"/>
            </a:avLst>
          </a:prstGeom>
          <a:ln w="19050">
            <a:gradFill flip="none" rotWithShape="1">
              <a:gsLst>
                <a:gs pos="31000">
                  <a:schemeClr val="tx2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5400000" scaled="1"/>
              <a:tileRect/>
            </a:gra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55" name="꺾인 연결선 154"/>
          <p:cNvCxnSpPr>
            <a:stCxn id="114" idx="0"/>
            <a:endCxn id="116" idx="2"/>
          </p:cNvCxnSpPr>
          <p:nvPr/>
        </p:nvCxnSpPr>
        <p:spPr>
          <a:xfrm rot="5400000" flipH="1" flipV="1">
            <a:off x="777771" y="4601195"/>
            <a:ext cx="186836" cy="2922"/>
          </a:xfrm>
          <a:prstGeom prst="bentConnector3">
            <a:avLst>
              <a:gd name="adj1" fmla="val 50000"/>
            </a:avLst>
          </a:prstGeom>
          <a:ln w="19050">
            <a:solidFill>
              <a:schemeClr val="tx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60" name="Rectangle 5"/>
          <p:cNvSpPr>
            <a:spLocks noChangeArrowheads="1"/>
          </p:cNvSpPr>
          <p:nvPr/>
        </p:nvSpPr>
        <p:spPr bwMode="gray">
          <a:xfrm>
            <a:off x="2059225" y="3622629"/>
            <a:ext cx="1197978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EXCEL/PDF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61" name="Rectangle 5"/>
          <p:cNvSpPr>
            <a:spLocks noChangeArrowheads="1"/>
          </p:cNvSpPr>
          <p:nvPr/>
        </p:nvSpPr>
        <p:spPr bwMode="gray">
          <a:xfrm>
            <a:off x="2059225" y="4005044"/>
            <a:ext cx="1197978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XML/JSON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cxnSp>
        <p:nvCxnSpPr>
          <p:cNvPr id="170" name="꺾인 연결선 169"/>
          <p:cNvCxnSpPr>
            <a:stCxn id="107" idx="3"/>
            <a:endCxn id="104" idx="3"/>
          </p:cNvCxnSpPr>
          <p:nvPr/>
        </p:nvCxnSpPr>
        <p:spPr>
          <a:xfrm flipV="1">
            <a:off x="3258219" y="2873450"/>
            <a:ext cx="6864" cy="543226"/>
          </a:xfrm>
          <a:prstGeom prst="bentConnector3">
            <a:avLst>
              <a:gd name="adj1" fmla="val 343042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73" name="꺾인 연결선 172"/>
          <p:cNvCxnSpPr>
            <a:stCxn id="160" idx="3"/>
            <a:endCxn id="104" idx="3"/>
          </p:cNvCxnSpPr>
          <p:nvPr/>
        </p:nvCxnSpPr>
        <p:spPr>
          <a:xfrm flipV="1">
            <a:off x="3257203" y="2873450"/>
            <a:ext cx="7880" cy="920949"/>
          </a:xfrm>
          <a:prstGeom prst="bentConnector3">
            <a:avLst>
              <a:gd name="adj1" fmla="val 3001015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76" name="꺾인 연결선 175"/>
          <p:cNvCxnSpPr>
            <a:stCxn id="161" idx="3"/>
            <a:endCxn id="104" idx="3"/>
          </p:cNvCxnSpPr>
          <p:nvPr/>
        </p:nvCxnSpPr>
        <p:spPr>
          <a:xfrm flipV="1">
            <a:off x="3257203" y="2873450"/>
            <a:ext cx="7880" cy="1303364"/>
          </a:xfrm>
          <a:prstGeom prst="bentConnector3">
            <a:avLst>
              <a:gd name="adj1" fmla="val 3001015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83" name="꺾인 연결선 182"/>
          <p:cNvCxnSpPr>
            <a:stCxn id="1025" idx="3"/>
            <a:endCxn id="77" idx="1"/>
          </p:cNvCxnSpPr>
          <p:nvPr/>
        </p:nvCxnSpPr>
        <p:spPr>
          <a:xfrm flipV="1">
            <a:off x="3508169" y="5022977"/>
            <a:ext cx="610817" cy="81081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grpSp>
        <p:nvGrpSpPr>
          <p:cNvPr id="1029" name="그룹 1028"/>
          <p:cNvGrpSpPr/>
          <p:nvPr/>
        </p:nvGrpSpPr>
        <p:grpSpPr>
          <a:xfrm>
            <a:off x="2840658" y="5506452"/>
            <a:ext cx="913609" cy="852292"/>
            <a:chOff x="2712538" y="5332851"/>
            <a:chExt cx="913609" cy="852292"/>
          </a:xfrm>
          <a:effectLst/>
        </p:grpSpPr>
        <p:sp>
          <p:nvSpPr>
            <p:cNvPr id="1025" name="직사각형 1024"/>
            <p:cNvSpPr/>
            <p:nvPr/>
          </p:nvSpPr>
          <p:spPr bwMode="auto">
            <a:xfrm>
              <a:off x="2975188" y="5463196"/>
              <a:ext cx="404861" cy="393986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headEnd/>
              <a:tailE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latinLnBrk="0">
                <a:lnSpc>
                  <a:spcPts val="1400"/>
                </a:lnSpc>
                <a:spcAft>
                  <a:spcPct val="30000"/>
                </a:spcAft>
              </a:pPr>
              <a:endParaRPr lang="ko-KR" altLang="en-US" sz="1200" kern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산돌고딕 M" pitchFamily="18" charset="-127"/>
                <a:ea typeface="산돌고딕 M" pitchFamily="18" charset="-127"/>
              </a:endParaRPr>
            </a:p>
          </p:txBody>
        </p:sp>
        <p:grpSp>
          <p:nvGrpSpPr>
            <p:cNvPr id="1071" name="그룹 1070"/>
            <p:cNvGrpSpPr/>
            <p:nvPr/>
          </p:nvGrpSpPr>
          <p:grpSpPr>
            <a:xfrm>
              <a:off x="2712538" y="5332851"/>
              <a:ext cx="913609" cy="852292"/>
              <a:chOff x="1461411" y="6435546"/>
              <a:chExt cx="1148394" cy="1199018"/>
            </a:xfrm>
          </p:grpSpPr>
          <p:pic>
            <p:nvPicPr>
              <p:cNvPr id="65" name="Picture 2" descr="http://icons.iconarchive.com/icons/gakuseisean/ivista-2/128/Misc-Database-3-icon.png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61411" y="6435546"/>
                <a:ext cx="974084" cy="8991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86" name="TextBox 104"/>
              <p:cNvSpPr txBox="1">
                <a:spLocks noChangeArrowheads="1"/>
              </p:cNvSpPr>
              <p:nvPr/>
            </p:nvSpPr>
            <p:spPr bwMode="auto">
              <a:xfrm>
                <a:off x="1492706" y="7331474"/>
                <a:ext cx="1117099" cy="3030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800" kern="0" dirty="0" smtClean="0">
                    <a:ln>
                      <a:solidFill>
                        <a:sysClr val="windowText" lastClr="000000"/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시각화</a:t>
                </a:r>
                <a:r>
                  <a:rPr kumimoji="0" lang="en-US" altLang="ko-KR" sz="800" kern="0" dirty="0" smtClean="0">
                    <a:ln>
                      <a:solidFill>
                        <a:sysClr val="windowText" lastClr="000000"/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DB</a:t>
                </a:r>
                <a:endParaRPr kumimoji="0" lang="ko-KR" altLang="en-US" sz="800" kern="0" dirty="0">
                  <a:ln>
                    <a:solidFill>
                      <a:sysClr val="windowText" lastClr="000000"/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grpSp>
        <p:nvGrpSpPr>
          <p:cNvPr id="1074" name="그룹 1073"/>
          <p:cNvGrpSpPr/>
          <p:nvPr/>
        </p:nvGrpSpPr>
        <p:grpSpPr>
          <a:xfrm>
            <a:off x="1455585" y="5603054"/>
            <a:ext cx="1117099" cy="759658"/>
            <a:chOff x="10713101" y="4234745"/>
            <a:chExt cx="1117099" cy="759658"/>
          </a:xfrm>
          <a:effectLst/>
        </p:grpSpPr>
        <p:pic>
          <p:nvPicPr>
            <p:cNvPr id="193" name="그림 2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01196" y="4234745"/>
              <a:ext cx="740910" cy="544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6" name="TextBox 104"/>
            <p:cNvSpPr txBox="1">
              <a:spLocks noChangeArrowheads="1"/>
            </p:cNvSpPr>
            <p:nvPr/>
          </p:nvSpPr>
          <p:spPr bwMode="auto">
            <a:xfrm>
              <a:off x="10713101" y="4778959"/>
              <a:ext cx="1117099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kern="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CCTV</a:t>
              </a:r>
              <a:r>
                <a:rPr kumimoji="0" lang="ko-KR" altLang="en-US" sz="800" kern="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재생 통합</a:t>
              </a:r>
              <a:r>
                <a:rPr kumimoji="0" lang="en-US" altLang="ko-KR" sz="800" kern="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UI</a:t>
              </a:r>
              <a:endParaRPr kumimoji="0" lang="ko-KR" altLang="en-US" sz="800" kern="0" dirty="0">
                <a:ln>
                  <a:solidFill>
                    <a:sysClr val="windowText" lastClr="000000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17" name="Rectangle 5"/>
          <p:cNvSpPr>
            <a:spLocks noChangeArrowheads="1"/>
          </p:cNvSpPr>
          <p:nvPr/>
        </p:nvSpPr>
        <p:spPr bwMode="gray">
          <a:xfrm>
            <a:off x="202271" y="1171582"/>
            <a:ext cx="1323167" cy="235950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63500" dist="88900" dir="2700000" algn="tl" rotWithShape="0">
              <a:prstClr val="black">
                <a:alpha val="24000"/>
              </a:prstClr>
            </a:outerShdw>
            <a:softEdge rad="3175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en-US" altLang="ko-KR" sz="1000" b="1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Client</a:t>
            </a:r>
            <a:endParaRPr kumimoji="0" lang="en-US" altLang="ko-KR" sz="1000" b="1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pic>
        <p:nvPicPr>
          <p:cNvPr id="227" name="Picture 4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72" y="1501596"/>
            <a:ext cx="1039969" cy="70932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2" name="그룹 231"/>
          <p:cNvGrpSpPr/>
          <p:nvPr/>
        </p:nvGrpSpPr>
        <p:grpSpPr>
          <a:xfrm>
            <a:off x="364934" y="2937074"/>
            <a:ext cx="432000" cy="432000"/>
            <a:chOff x="8553448" y="1844824"/>
            <a:chExt cx="432000" cy="432000"/>
          </a:xfrm>
          <a:effectLst/>
        </p:grpSpPr>
        <p:sp>
          <p:nvSpPr>
            <p:cNvPr id="233" name="타원 232"/>
            <p:cNvSpPr/>
            <p:nvPr/>
          </p:nvSpPr>
          <p:spPr>
            <a:xfrm>
              <a:off x="8553448" y="1844824"/>
              <a:ext cx="432000" cy="432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234" name="그림 233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77724" y="1867756"/>
              <a:ext cx="386135" cy="386135"/>
            </a:xfrm>
            <a:prstGeom prst="rect">
              <a:avLst/>
            </a:prstGeom>
          </p:spPr>
        </p:pic>
      </p:grpSp>
      <p:grpSp>
        <p:nvGrpSpPr>
          <p:cNvPr id="235" name="그룹 234"/>
          <p:cNvGrpSpPr/>
          <p:nvPr/>
        </p:nvGrpSpPr>
        <p:grpSpPr>
          <a:xfrm>
            <a:off x="560041" y="2539898"/>
            <a:ext cx="432000" cy="432000"/>
            <a:chOff x="8696193" y="2541972"/>
            <a:chExt cx="432000" cy="432000"/>
          </a:xfrm>
          <a:effectLst/>
        </p:grpSpPr>
        <p:sp>
          <p:nvSpPr>
            <p:cNvPr id="236" name="타원 235"/>
            <p:cNvSpPr/>
            <p:nvPr/>
          </p:nvSpPr>
          <p:spPr>
            <a:xfrm>
              <a:off x="8696193" y="2541972"/>
              <a:ext cx="432000" cy="432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237" name="그림 236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21816" y="2580174"/>
              <a:ext cx="388475" cy="388475"/>
            </a:xfrm>
            <a:prstGeom prst="rect">
              <a:avLst/>
            </a:prstGeom>
          </p:spPr>
        </p:pic>
      </p:grpSp>
      <p:grpSp>
        <p:nvGrpSpPr>
          <p:cNvPr id="238" name="그룹 237"/>
          <p:cNvGrpSpPr/>
          <p:nvPr/>
        </p:nvGrpSpPr>
        <p:grpSpPr>
          <a:xfrm>
            <a:off x="243299" y="2222841"/>
            <a:ext cx="432000" cy="432000"/>
            <a:chOff x="8770791" y="3215421"/>
            <a:chExt cx="432000" cy="432000"/>
          </a:xfrm>
          <a:effectLst/>
        </p:grpSpPr>
        <p:sp>
          <p:nvSpPr>
            <p:cNvPr id="239" name="타원 238"/>
            <p:cNvSpPr/>
            <p:nvPr/>
          </p:nvSpPr>
          <p:spPr>
            <a:xfrm>
              <a:off x="8770791" y="3215421"/>
              <a:ext cx="432000" cy="432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240" name="그림 239"/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16" t="8927" r="10248" b="11292"/>
            <a:stretch/>
          </p:blipFill>
          <p:spPr>
            <a:xfrm>
              <a:off x="8807939" y="3257264"/>
              <a:ext cx="344208" cy="327166"/>
            </a:xfrm>
            <a:prstGeom prst="rect">
              <a:avLst/>
            </a:prstGeom>
          </p:spPr>
        </p:pic>
      </p:grpSp>
      <p:grpSp>
        <p:nvGrpSpPr>
          <p:cNvPr id="241" name="그룹 240"/>
          <p:cNvGrpSpPr/>
          <p:nvPr/>
        </p:nvGrpSpPr>
        <p:grpSpPr>
          <a:xfrm>
            <a:off x="908832" y="2805335"/>
            <a:ext cx="432000" cy="432000"/>
            <a:chOff x="8770791" y="3894433"/>
            <a:chExt cx="432000" cy="432000"/>
          </a:xfrm>
          <a:effectLst/>
        </p:grpSpPr>
        <p:sp>
          <p:nvSpPr>
            <p:cNvPr id="242" name="타원 241"/>
            <p:cNvSpPr/>
            <p:nvPr/>
          </p:nvSpPr>
          <p:spPr>
            <a:xfrm>
              <a:off x="8770791" y="3894433"/>
              <a:ext cx="432000" cy="432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243" name="그림 242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94892" y="3924287"/>
              <a:ext cx="388475" cy="388475"/>
            </a:xfrm>
            <a:prstGeom prst="rect">
              <a:avLst/>
            </a:prstGeom>
          </p:spPr>
        </p:pic>
      </p:grpSp>
      <p:grpSp>
        <p:nvGrpSpPr>
          <p:cNvPr id="244" name="그룹 243"/>
          <p:cNvGrpSpPr/>
          <p:nvPr/>
        </p:nvGrpSpPr>
        <p:grpSpPr>
          <a:xfrm>
            <a:off x="958337" y="2349470"/>
            <a:ext cx="436765" cy="432000"/>
            <a:chOff x="8770791" y="4493584"/>
            <a:chExt cx="436765" cy="432000"/>
          </a:xfrm>
          <a:effectLst/>
        </p:grpSpPr>
        <p:sp>
          <p:nvSpPr>
            <p:cNvPr id="245" name="타원 244"/>
            <p:cNvSpPr/>
            <p:nvPr/>
          </p:nvSpPr>
          <p:spPr>
            <a:xfrm>
              <a:off x="8770791" y="4493584"/>
              <a:ext cx="432000" cy="432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246" name="그림 245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80233" y="4495923"/>
              <a:ext cx="427323" cy="427323"/>
            </a:xfrm>
            <a:prstGeom prst="rect">
              <a:avLst/>
            </a:prstGeom>
          </p:spPr>
        </p:pic>
      </p:grpSp>
      <p:cxnSp>
        <p:nvCxnSpPr>
          <p:cNvPr id="133" name="꺾인 연결선 132"/>
          <p:cNvCxnSpPr>
            <a:stCxn id="106" idx="3"/>
            <a:endCxn id="104" idx="3"/>
          </p:cNvCxnSpPr>
          <p:nvPr/>
        </p:nvCxnSpPr>
        <p:spPr>
          <a:xfrm flipV="1">
            <a:off x="3257203" y="2873450"/>
            <a:ext cx="7880" cy="2052245"/>
          </a:xfrm>
          <a:prstGeom prst="bentConnector3">
            <a:avLst>
              <a:gd name="adj1" fmla="val 3001015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75" name="꺾인 연결선 174"/>
          <p:cNvCxnSpPr>
            <a:stCxn id="193" idx="0"/>
            <a:endCxn id="106" idx="2"/>
          </p:cNvCxnSpPr>
          <p:nvPr/>
        </p:nvCxnSpPr>
        <p:spPr>
          <a:xfrm rot="5400000" flipH="1" flipV="1">
            <a:off x="2081081" y="5025922"/>
            <a:ext cx="510187" cy="644079"/>
          </a:xfrm>
          <a:prstGeom prst="bentConnector3">
            <a:avLst>
              <a:gd name="adj1" fmla="val 46883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89" name="꺾인 연결선 188"/>
          <p:cNvCxnSpPr>
            <a:stCxn id="79" idx="0"/>
            <a:endCxn id="83" idx="2"/>
          </p:cNvCxnSpPr>
          <p:nvPr/>
        </p:nvCxnSpPr>
        <p:spPr>
          <a:xfrm rot="16200000" flipV="1">
            <a:off x="5503867" y="3631689"/>
            <a:ext cx="1446977" cy="994930"/>
          </a:xfrm>
          <a:prstGeom prst="bentConnector3">
            <a:avLst>
              <a:gd name="adj1" fmla="val 10435"/>
            </a:avLst>
          </a:prstGeom>
          <a:ln w="19050">
            <a:gradFill flip="none" rotWithShape="1">
              <a:gsLst>
                <a:gs pos="100000">
                  <a:schemeClr val="tx2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5400000" scaled="1"/>
              <a:tileRect/>
            </a:gra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94" name="꺾인 연결선 193"/>
          <p:cNvCxnSpPr>
            <a:stCxn id="78" idx="0"/>
            <a:endCxn id="83" idx="2"/>
          </p:cNvCxnSpPr>
          <p:nvPr/>
        </p:nvCxnSpPr>
        <p:spPr>
          <a:xfrm rot="5400000" flipH="1" flipV="1">
            <a:off x="4972022" y="4096358"/>
            <a:ext cx="1448560" cy="67175"/>
          </a:xfrm>
          <a:prstGeom prst="bentConnector3">
            <a:avLst>
              <a:gd name="adj1" fmla="val 10478"/>
            </a:avLst>
          </a:prstGeom>
          <a:ln w="19050">
            <a:gradFill flip="none" rotWithShape="1">
              <a:gsLst>
                <a:gs pos="74000">
                  <a:schemeClr val="tx2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6200000" scaled="1"/>
              <a:tileRect/>
            </a:gra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97" name="꺾인 연결선 196"/>
          <p:cNvCxnSpPr>
            <a:stCxn id="77" idx="0"/>
            <a:endCxn id="83" idx="2"/>
          </p:cNvCxnSpPr>
          <p:nvPr/>
        </p:nvCxnSpPr>
        <p:spPr>
          <a:xfrm rot="5400000" flipH="1" flipV="1">
            <a:off x="4442479" y="3563797"/>
            <a:ext cx="1445542" cy="1129279"/>
          </a:xfrm>
          <a:prstGeom prst="bentConnector3">
            <a:avLst>
              <a:gd name="adj1" fmla="val 10396"/>
            </a:avLst>
          </a:prstGeom>
          <a:ln w="19050">
            <a:gradFill flip="none" rotWithShape="1">
              <a:gsLst>
                <a:gs pos="44000">
                  <a:schemeClr val="tx2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5400000" scaled="1"/>
              <a:tileRect/>
            </a:gra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056" name="직선 화살표 연결선 1055"/>
          <p:cNvCxnSpPr>
            <a:stCxn id="90" idx="3"/>
            <a:endCxn id="83" idx="1"/>
          </p:cNvCxnSpPr>
          <p:nvPr/>
        </p:nvCxnSpPr>
        <p:spPr bwMode="auto">
          <a:xfrm flipV="1">
            <a:off x="4980449" y="2805336"/>
            <a:ext cx="198441" cy="39"/>
          </a:xfrm>
          <a:prstGeom prst="straightConnector1">
            <a:avLst/>
          </a:prstGeom>
          <a:noFill/>
          <a:ln w="19050">
            <a:solidFill>
              <a:schemeClr val="accent2">
                <a:lumMod val="75000"/>
              </a:schemeClr>
            </a:solidFill>
            <a:round/>
            <a:headEnd/>
            <a:tailEnd type="triangle"/>
          </a:ln>
          <a:effectLst/>
        </p:spPr>
      </p:cxnSp>
      <p:cxnSp>
        <p:nvCxnSpPr>
          <p:cNvPr id="1058" name="직선 화살표 연결선 1057"/>
          <p:cNvCxnSpPr>
            <a:stCxn id="83" idx="3"/>
            <a:endCxn id="91" idx="1"/>
          </p:cNvCxnSpPr>
          <p:nvPr/>
        </p:nvCxnSpPr>
        <p:spPr bwMode="auto">
          <a:xfrm>
            <a:off x="6280889" y="2805336"/>
            <a:ext cx="204653" cy="369"/>
          </a:xfrm>
          <a:prstGeom prst="straightConnector1">
            <a:avLst/>
          </a:prstGeom>
          <a:noFill/>
          <a:ln w="19050">
            <a:solidFill>
              <a:schemeClr val="accent2">
                <a:lumMod val="75000"/>
              </a:schemeClr>
            </a:solidFill>
            <a:round/>
            <a:headEnd/>
            <a:tailEnd type="triangle"/>
          </a:ln>
          <a:effectLst/>
        </p:spPr>
      </p:cxnSp>
      <p:cxnSp>
        <p:nvCxnSpPr>
          <p:cNvPr id="209" name="꺾인 연결선 208"/>
          <p:cNvCxnSpPr>
            <a:stCxn id="116" idx="3"/>
            <a:endCxn id="105" idx="1"/>
          </p:cNvCxnSpPr>
          <p:nvPr/>
        </p:nvCxnSpPr>
        <p:spPr>
          <a:xfrm>
            <a:off x="1423987" y="4317152"/>
            <a:ext cx="635238" cy="234392"/>
          </a:xfrm>
          <a:prstGeom prst="bentConnector3">
            <a:avLst>
              <a:gd name="adj1" fmla="val 50000"/>
            </a:avLst>
          </a:prstGeom>
          <a:ln w="19050">
            <a:gradFill>
              <a:gsLst>
                <a:gs pos="0">
                  <a:schemeClr val="tx2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5400000" scaled="1"/>
            </a:gra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12" name="꺾인 연결선 211"/>
          <p:cNvCxnSpPr>
            <a:stCxn id="109" idx="0"/>
            <a:endCxn id="114" idx="2"/>
          </p:cNvCxnSpPr>
          <p:nvPr/>
        </p:nvCxnSpPr>
        <p:spPr>
          <a:xfrm rot="5400000" flipH="1" flipV="1">
            <a:off x="515833" y="5232123"/>
            <a:ext cx="505770" cy="20201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17" name="꺾인 연결선 116"/>
          <p:cNvCxnSpPr>
            <a:stCxn id="102" idx="1"/>
          </p:cNvCxnSpPr>
          <p:nvPr/>
        </p:nvCxnSpPr>
        <p:spPr>
          <a:xfrm rot="10800000">
            <a:off x="1138062" y="1615403"/>
            <a:ext cx="929045" cy="385"/>
          </a:xfrm>
          <a:prstGeom prst="bentConnector3">
            <a:avLst>
              <a:gd name="adj1" fmla="val 50000"/>
            </a:avLst>
          </a:prstGeom>
          <a:ln w="19050">
            <a:gradFill flip="none" rotWithShape="1">
              <a:gsLst>
                <a:gs pos="0">
                  <a:schemeClr val="tx2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1"/>
              <a:tileRect/>
            </a:gradFill>
            <a:headEnd type="triangle" w="med" len="med"/>
            <a:tailEnd type="triangl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pic>
        <p:nvPicPr>
          <p:cNvPr id="228" name="Picture 2"/>
          <p:cNvPicPr>
            <a:picLocks noChangeAspect="1" noChangeArrowheads="1"/>
          </p:cNvPicPr>
          <p:nvPr/>
        </p:nvPicPr>
        <p:blipFill>
          <a:blip r:embed="rId1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911" y="1442722"/>
            <a:ext cx="312530" cy="45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7054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ko-KR" altLang="en-US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서버 애플리케이션 컴포넌트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" name="Rectangle 137"/>
          <p:cNvSpPr>
            <a:spLocks noChangeArrowheads="1"/>
          </p:cNvSpPr>
          <p:nvPr/>
        </p:nvSpPr>
        <p:spPr bwMode="gray">
          <a:xfrm>
            <a:off x="2222696" y="1124744"/>
            <a:ext cx="4855076" cy="3419475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r>
              <a:rPr kumimoji="0" lang="ko-KR" altLang="en-US" sz="1050" b="1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다운로드 모듈</a:t>
            </a:r>
            <a:endParaRPr kumimoji="0" lang="en-US" altLang="ko-KR" sz="1050" b="1" dirty="0"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gray">
          <a:xfrm>
            <a:off x="2613393" y="2210905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Scheduler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gray">
          <a:xfrm>
            <a:off x="2613393" y="1778857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Download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Controller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9" name="Rectangle 5"/>
          <p:cNvSpPr>
            <a:spLocks noChangeArrowheads="1"/>
          </p:cNvSpPr>
          <p:nvPr/>
        </p:nvSpPr>
        <p:spPr bwMode="gray">
          <a:xfrm>
            <a:off x="350488" y="2714000"/>
            <a:ext cx="1509117" cy="68827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en-US" altLang="ko-KR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Console</a:t>
            </a:r>
            <a:endParaRPr kumimoji="0" lang="en-US" altLang="ko-KR" sz="1000" b="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20" name="Rectangle 137"/>
          <p:cNvSpPr>
            <a:spLocks noChangeArrowheads="1"/>
          </p:cNvSpPr>
          <p:nvPr/>
        </p:nvSpPr>
        <p:spPr bwMode="gray">
          <a:xfrm>
            <a:off x="194472" y="2386331"/>
            <a:ext cx="1794199" cy="13307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r>
              <a:rPr lang="en-US" altLang="ko-KR" sz="1050" b="1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Management Console</a:t>
            </a:r>
            <a:endParaRPr kumimoji="0" lang="en-US" altLang="ko-KR" sz="1050" b="1" dirty="0"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22" name="Rectangle 5"/>
          <p:cNvSpPr>
            <a:spLocks noChangeArrowheads="1"/>
          </p:cNvSpPr>
          <p:nvPr/>
        </p:nvSpPr>
        <p:spPr bwMode="gray">
          <a:xfrm>
            <a:off x="506057" y="2941444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Java Script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Library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cxnSp>
        <p:nvCxnSpPr>
          <p:cNvPr id="23" name="꺾인 연결선 22"/>
          <p:cNvCxnSpPr>
            <a:stCxn id="18" idx="1"/>
            <a:endCxn id="22" idx="3"/>
          </p:cNvCxnSpPr>
          <p:nvPr/>
        </p:nvCxnSpPr>
        <p:spPr>
          <a:xfrm rot="10800000" flipV="1">
            <a:off x="1704035" y="1950626"/>
            <a:ext cx="909358" cy="1162587"/>
          </a:xfrm>
          <a:prstGeom prst="bentConnector3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24" name="TextBox 23"/>
          <p:cNvSpPr txBox="1"/>
          <p:nvPr/>
        </p:nvSpPr>
        <p:spPr>
          <a:xfrm>
            <a:off x="1988669" y="1750573"/>
            <a:ext cx="40107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HTTP</a:t>
            </a:r>
            <a:endParaRPr lang="ko-KR" altLang="en-US" sz="7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Rectangle 5"/>
          <p:cNvSpPr>
            <a:spLocks noChangeArrowheads="1"/>
          </p:cNvSpPr>
          <p:nvPr/>
        </p:nvSpPr>
        <p:spPr bwMode="gray">
          <a:xfrm>
            <a:off x="2457824" y="1530793"/>
            <a:ext cx="3975981" cy="118320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en-US" altLang="ko-KR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Spring Controller</a:t>
            </a:r>
            <a:endParaRPr kumimoji="0" lang="en-US" altLang="ko-KR" sz="1000" b="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26" name="Rectangle 5"/>
          <p:cNvSpPr>
            <a:spLocks noChangeArrowheads="1"/>
          </p:cNvSpPr>
          <p:nvPr/>
        </p:nvSpPr>
        <p:spPr bwMode="gray">
          <a:xfrm>
            <a:off x="3861981" y="2211955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EhCache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27" name="Rectangle 5"/>
          <p:cNvSpPr>
            <a:spLocks noChangeArrowheads="1"/>
          </p:cNvSpPr>
          <p:nvPr/>
        </p:nvSpPr>
        <p:spPr bwMode="gray">
          <a:xfrm>
            <a:off x="3861981" y="1779907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History Log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28" name="Rectangle 5"/>
          <p:cNvSpPr>
            <a:spLocks noChangeArrowheads="1"/>
          </p:cNvSpPr>
          <p:nvPr/>
        </p:nvSpPr>
        <p:spPr bwMode="gray">
          <a:xfrm>
            <a:off x="5110568" y="2214561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Data Compressor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29" name="Rectangle 5"/>
          <p:cNvSpPr>
            <a:spLocks noChangeArrowheads="1"/>
          </p:cNvSpPr>
          <p:nvPr/>
        </p:nvSpPr>
        <p:spPr bwMode="gray">
          <a:xfrm>
            <a:off x="5110568" y="1782513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ORM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cxnSp>
        <p:nvCxnSpPr>
          <p:cNvPr id="33" name="꺾인 연결선 32"/>
          <p:cNvCxnSpPr>
            <a:stCxn id="36" idx="1"/>
            <a:endCxn id="29" idx="3"/>
          </p:cNvCxnSpPr>
          <p:nvPr/>
        </p:nvCxnSpPr>
        <p:spPr>
          <a:xfrm rot="10800000" flipV="1">
            <a:off x="6308546" y="1823815"/>
            <a:ext cx="1558802" cy="130468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35" name="Rectangle 5"/>
          <p:cNvSpPr>
            <a:spLocks noChangeArrowheads="1"/>
          </p:cNvSpPr>
          <p:nvPr/>
        </p:nvSpPr>
        <p:spPr bwMode="gray">
          <a:xfrm>
            <a:off x="3709337" y="3092894"/>
            <a:ext cx="1509117" cy="118320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en-US" altLang="ko-KR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File Store</a:t>
            </a:r>
            <a:endParaRPr kumimoji="0" lang="en-US" altLang="ko-KR" sz="1000" b="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pic>
        <p:nvPicPr>
          <p:cNvPr id="36" name="Picture 2" descr="http://icons.iconarchive.com/icons/gakuseisean/ivista-2/128/Misc-Database-3-ic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7348" y="1374237"/>
            <a:ext cx="974084" cy="899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8" name="꺾인 연결선 35"/>
          <p:cNvCxnSpPr>
            <a:stCxn id="26" idx="2"/>
            <a:endCxn id="35" idx="0"/>
          </p:cNvCxnSpPr>
          <p:nvPr/>
        </p:nvCxnSpPr>
        <p:spPr>
          <a:xfrm rot="16200000" flipH="1">
            <a:off x="4193734" y="2822731"/>
            <a:ext cx="537399" cy="2926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grpSp>
        <p:nvGrpSpPr>
          <p:cNvPr id="3" name="그룹 38"/>
          <p:cNvGrpSpPr/>
          <p:nvPr/>
        </p:nvGrpSpPr>
        <p:grpSpPr>
          <a:xfrm>
            <a:off x="205928" y="4725144"/>
            <a:ext cx="9427592" cy="1584176"/>
            <a:chOff x="982508" y="4869160"/>
            <a:chExt cx="6541808" cy="1263916"/>
          </a:xfrm>
        </p:grpSpPr>
        <p:sp>
          <p:nvSpPr>
            <p:cNvPr id="40" name="Rectangle 8"/>
            <p:cNvSpPr>
              <a:spLocks noChangeArrowheads="1"/>
            </p:cNvSpPr>
            <p:nvPr/>
          </p:nvSpPr>
          <p:spPr bwMode="auto">
            <a:xfrm>
              <a:off x="2324842" y="4869160"/>
              <a:ext cx="5199474" cy="243287"/>
            </a:xfrm>
            <a:prstGeom prst="rect">
              <a:avLst/>
            </a:prstGeom>
            <a:solidFill>
              <a:srgbClr val="EAEAEA"/>
            </a:solidFill>
            <a:ln w="952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ko-KR" sz="100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Calibri" pitchFamily="34" charset="0"/>
                </a:rPr>
                <a:t>Function</a:t>
              </a:r>
              <a:endPara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endParaRPr>
            </a:p>
          </p:txBody>
        </p:sp>
        <p:sp>
          <p:nvSpPr>
            <p:cNvPr id="41" name="Rectangle 9"/>
            <p:cNvSpPr>
              <a:spLocks noChangeArrowheads="1"/>
            </p:cNvSpPr>
            <p:nvPr/>
          </p:nvSpPr>
          <p:spPr bwMode="auto">
            <a:xfrm>
              <a:off x="982508" y="4869160"/>
              <a:ext cx="1269390" cy="243287"/>
            </a:xfrm>
            <a:prstGeom prst="rect">
              <a:avLst/>
            </a:prstGeom>
            <a:solidFill>
              <a:srgbClr val="EAEAEA"/>
            </a:solidFill>
            <a:ln w="952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ko-KR" sz="100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Calibri" pitchFamily="34" charset="0"/>
                </a:rPr>
                <a:t>Component</a:t>
              </a:r>
              <a:endPara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endParaRPr>
            </a:p>
          </p:txBody>
        </p:sp>
        <p:sp>
          <p:nvSpPr>
            <p:cNvPr id="42" name="Rectangle 5"/>
            <p:cNvSpPr>
              <a:spLocks noChangeArrowheads="1"/>
            </p:cNvSpPr>
            <p:nvPr/>
          </p:nvSpPr>
          <p:spPr bwMode="auto">
            <a:xfrm>
              <a:off x="982508" y="5156462"/>
              <a:ext cx="1287449" cy="232044"/>
            </a:xfrm>
            <a:prstGeom prst="rect">
              <a:avLst/>
            </a:prstGeom>
            <a:solidFill>
              <a:srgbClr val="F8F8F8"/>
            </a:solidFill>
            <a:ln w="9525" algn="ctr">
              <a:solidFill>
                <a:srgbClr val="969696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777777"/>
              </a:outerShdw>
            </a:effectLst>
          </p:spPr>
          <p:txBody>
            <a:bodyPr anchor="ctr"/>
            <a:lstStyle/>
            <a:p>
              <a:pPr algn="ctr" eaLnBrk="0" hangingPunct="0">
                <a:spcBef>
                  <a:spcPct val="30000"/>
                </a:spcBef>
                <a:defRPr/>
              </a:pPr>
              <a:r>
                <a:rPr lang="ko-KR" altLang="en-US" sz="1000" dirty="0" err="1" smtClean="0">
                  <a:latin typeface="나눔고딕" panose="020D0604000000000000" pitchFamily="50" charset="-127"/>
                  <a:ea typeface="나눔고딕" panose="020D0604000000000000" pitchFamily="50" charset="-127"/>
                  <a:cs typeface="Calibri" pitchFamily="34" charset="0"/>
                </a:rPr>
                <a:t>어드민</a:t>
              </a:r>
              <a:r>
                <a:rPr lang="ko-KR" altLang="en-US" sz="100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Calibri" pitchFamily="34" charset="0"/>
                </a:rPr>
                <a:t> 콘솔</a:t>
              </a:r>
              <a:endPara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endParaRPr>
            </a:p>
          </p:txBody>
        </p:sp>
        <p:sp>
          <p:nvSpPr>
            <p:cNvPr id="43" name="Rectangle 13"/>
            <p:cNvSpPr>
              <a:spLocks noChangeArrowheads="1"/>
            </p:cNvSpPr>
            <p:nvPr/>
          </p:nvSpPr>
          <p:spPr bwMode="auto">
            <a:xfrm>
              <a:off x="2340441" y="5156463"/>
              <a:ext cx="5183875" cy="232045"/>
            </a:xfrm>
            <a:prstGeom prst="rect">
              <a:avLst/>
            </a:prstGeom>
            <a:solidFill>
              <a:srgbClr val="DDDDDD"/>
            </a:solidFill>
            <a:ln w="9525" algn="ctr">
              <a:solidFill>
                <a:srgbClr val="969696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777777"/>
              </a:outerShdw>
            </a:effectLst>
          </p:spPr>
          <p:txBody>
            <a:bodyPr anchor="ctr"/>
            <a:lstStyle/>
            <a:p>
              <a:pPr marL="171450" indent="-171450" algn="l" eaLnBrk="0" hangingPunct="0">
                <a:buFont typeface="Arial" pitchFamily="34" charset="0"/>
                <a:buChar char="•"/>
              </a:pPr>
              <a:r>
                <a:rPr lang="ko-KR" altLang="en-US" sz="100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Calibri" pitchFamily="34" charset="0"/>
                </a:rPr>
                <a:t>다운로드 서비스 통계 및 모니터링을 위한 관리 콘솔 제공</a:t>
              </a:r>
              <a:endPara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endParaRPr>
            </a:p>
          </p:txBody>
        </p:sp>
        <p:sp>
          <p:nvSpPr>
            <p:cNvPr id="44" name="Rectangle 5"/>
            <p:cNvSpPr>
              <a:spLocks noChangeArrowheads="1"/>
            </p:cNvSpPr>
            <p:nvPr/>
          </p:nvSpPr>
          <p:spPr bwMode="auto">
            <a:xfrm>
              <a:off x="982508" y="5453457"/>
              <a:ext cx="1287449" cy="384032"/>
            </a:xfrm>
            <a:prstGeom prst="rect">
              <a:avLst/>
            </a:prstGeom>
            <a:solidFill>
              <a:srgbClr val="F8F8F8"/>
            </a:solidFill>
            <a:ln w="9525" algn="ctr">
              <a:solidFill>
                <a:srgbClr val="969696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777777"/>
              </a:outerShdw>
            </a:effectLst>
          </p:spPr>
          <p:txBody>
            <a:bodyPr anchor="ctr"/>
            <a:lstStyle/>
            <a:p>
              <a:pPr algn="ctr" eaLnBrk="0" hangingPunct="0">
                <a:spcBef>
                  <a:spcPct val="30000"/>
                </a:spcBef>
                <a:defRPr/>
              </a:pPr>
              <a:r>
                <a:rPr lang="ko-KR" altLang="en-US" sz="100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Calibri" pitchFamily="34" charset="0"/>
                </a:rPr>
                <a:t>컨트롤러</a:t>
              </a:r>
              <a:endPara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endParaRPr>
            </a:p>
          </p:txBody>
        </p:sp>
        <p:sp>
          <p:nvSpPr>
            <p:cNvPr id="45" name="Rectangle 13"/>
            <p:cNvSpPr>
              <a:spLocks noChangeArrowheads="1"/>
            </p:cNvSpPr>
            <p:nvPr/>
          </p:nvSpPr>
          <p:spPr bwMode="auto">
            <a:xfrm>
              <a:off x="2340441" y="5453456"/>
              <a:ext cx="5183875" cy="384032"/>
            </a:xfrm>
            <a:prstGeom prst="rect">
              <a:avLst/>
            </a:prstGeom>
            <a:solidFill>
              <a:srgbClr val="DDDDDD"/>
            </a:solidFill>
            <a:ln w="9525" algn="ctr">
              <a:solidFill>
                <a:srgbClr val="969696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777777"/>
              </a:outerShdw>
            </a:effectLst>
          </p:spPr>
          <p:txBody>
            <a:bodyPr anchor="ctr"/>
            <a:lstStyle/>
            <a:p>
              <a:pPr marL="171450" indent="-171450" eaLnBrk="0" hangingPunct="0">
                <a:buFont typeface="Arial" pitchFamily="34" charset="0"/>
                <a:buChar char="•"/>
              </a:pPr>
              <a:r>
                <a:rPr lang="en-US" altLang="ko-KR" sz="100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Calibri" pitchFamily="34" charset="0"/>
                </a:rPr>
                <a:t>Spring</a:t>
              </a:r>
              <a:r>
                <a:rPr lang="ko-KR" altLang="en-US" sz="100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Calibri" pitchFamily="34" charset="0"/>
                </a:rPr>
                <a:t> </a:t>
              </a:r>
              <a:r>
                <a:rPr lang="en-US" altLang="ko-KR" sz="100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Calibri" pitchFamily="34" charset="0"/>
                </a:rPr>
                <a:t>MVC</a:t>
              </a:r>
              <a:r>
                <a:rPr lang="ko-KR" altLang="en-US" sz="100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Calibri" pitchFamily="34" charset="0"/>
                </a:rPr>
                <a:t>를 통한 컨트롤러를 제공하고 다운로드 시 카운트를 업데이트</a:t>
              </a:r>
              <a:endPara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endParaRPr>
            </a:p>
            <a:p>
              <a:pPr marL="171450" indent="-171450" eaLnBrk="0" hangingPunct="0">
                <a:buFont typeface="Arial" pitchFamily="34" charset="0"/>
                <a:buChar char="•"/>
              </a:pPr>
              <a:r>
                <a:rPr lang="ko-KR" altLang="en-US" sz="100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Calibri" pitchFamily="34" charset="0"/>
                </a:rPr>
                <a:t>파일은 스토어에서 로딩하여 메모리에 로딩하여 </a:t>
              </a:r>
              <a:r>
                <a:rPr lang="ko-KR" altLang="en-US" sz="1000" dirty="0" err="1" smtClean="0">
                  <a:latin typeface="나눔고딕" panose="020D0604000000000000" pitchFamily="50" charset="-127"/>
                  <a:ea typeface="나눔고딕" panose="020D0604000000000000" pitchFamily="50" charset="-127"/>
                  <a:cs typeface="Calibri" pitchFamily="34" charset="0"/>
                </a:rPr>
                <a:t>스트림을</a:t>
              </a:r>
              <a:r>
                <a:rPr lang="ko-KR" altLang="en-US" sz="100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Calibri" pitchFamily="34" charset="0"/>
                </a:rPr>
                <a:t> 통해 데이터를 전송</a:t>
              </a:r>
              <a:endPara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endParaRPr>
            </a:p>
          </p:txBody>
        </p:sp>
        <p:sp>
          <p:nvSpPr>
            <p:cNvPr id="46" name="Rectangle 5"/>
            <p:cNvSpPr>
              <a:spLocks noChangeArrowheads="1"/>
            </p:cNvSpPr>
            <p:nvPr/>
          </p:nvSpPr>
          <p:spPr bwMode="auto">
            <a:xfrm>
              <a:off x="982508" y="5901030"/>
              <a:ext cx="1287449" cy="232044"/>
            </a:xfrm>
            <a:prstGeom prst="rect">
              <a:avLst/>
            </a:prstGeom>
            <a:solidFill>
              <a:srgbClr val="F8F8F8"/>
            </a:solidFill>
            <a:ln w="9525" algn="ctr">
              <a:solidFill>
                <a:srgbClr val="969696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777777"/>
              </a:outerShdw>
            </a:effectLst>
          </p:spPr>
          <p:txBody>
            <a:bodyPr anchor="ctr"/>
            <a:lstStyle/>
            <a:p>
              <a:pPr algn="ctr" eaLnBrk="0" hangingPunct="0">
                <a:spcBef>
                  <a:spcPct val="30000"/>
                </a:spcBef>
                <a:defRPr/>
              </a:pPr>
              <a:r>
                <a:rPr lang="ko-KR" altLang="en-US" sz="100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Calibri" pitchFamily="34" charset="0"/>
                </a:rPr>
                <a:t>파일 저장소</a:t>
              </a:r>
              <a:endPara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endParaRPr>
            </a:p>
          </p:txBody>
        </p:sp>
        <p:sp>
          <p:nvSpPr>
            <p:cNvPr id="47" name="Rectangle 13"/>
            <p:cNvSpPr>
              <a:spLocks noChangeArrowheads="1"/>
            </p:cNvSpPr>
            <p:nvPr/>
          </p:nvSpPr>
          <p:spPr bwMode="auto">
            <a:xfrm>
              <a:off x="2340441" y="5901031"/>
              <a:ext cx="5183875" cy="232045"/>
            </a:xfrm>
            <a:prstGeom prst="rect">
              <a:avLst/>
            </a:prstGeom>
            <a:solidFill>
              <a:srgbClr val="DDDDDD"/>
            </a:solidFill>
            <a:ln w="9525" algn="ctr">
              <a:solidFill>
                <a:srgbClr val="969696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777777"/>
              </a:outerShdw>
            </a:effectLst>
          </p:spPr>
          <p:txBody>
            <a:bodyPr anchor="ctr"/>
            <a:lstStyle/>
            <a:p>
              <a:pPr marL="171450" indent="-171450" algn="l" eaLnBrk="0" hangingPunct="0">
                <a:buFont typeface="Arial" pitchFamily="34" charset="0"/>
                <a:buChar char="•"/>
              </a:pPr>
              <a:r>
                <a:rPr lang="ko-KR" altLang="en-US" sz="100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Calibri" pitchFamily="34" charset="0"/>
                </a:rPr>
                <a:t>네트워크 관리를 위한 화면 통신 데이터 </a:t>
              </a:r>
              <a:r>
                <a:rPr lang="en-US" altLang="ko-KR" sz="100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Calibri" pitchFamily="34" charset="0"/>
                </a:rPr>
                <a:t>API</a:t>
              </a:r>
              <a:r>
                <a:rPr lang="ko-KR" altLang="en-US" sz="100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Calibri" pitchFamily="34" charset="0"/>
                </a:rPr>
                <a:t>를 제공</a:t>
              </a:r>
              <a:endPara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endParaRPr>
            </a:p>
          </p:txBody>
        </p:sp>
      </p:grpSp>
      <p:pic>
        <p:nvPicPr>
          <p:cNvPr id="48" name="Picture 10" descr="http://icons.iconarchive.com/icons/hopstarter/sleek-xp-basic/128/Administrator-icon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844" y="3877453"/>
            <a:ext cx="457454" cy="457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직사각형 48"/>
          <p:cNvSpPr/>
          <p:nvPr/>
        </p:nvSpPr>
        <p:spPr>
          <a:xfrm>
            <a:off x="776536" y="4334907"/>
            <a:ext cx="57900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Admin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0" name="꺾인 연결선 49"/>
          <p:cNvCxnSpPr>
            <a:stCxn id="20" idx="2"/>
            <a:endCxn id="48" idx="0"/>
          </p:cNvCxnSpPr>
          <p:nvPr/>
        </p:nvCxnSpPr>
        <p:spPr>
          <a:xfrm rot="5400000">
            <a:off x="1011361" y="3797242"/>
            <a:ext cx="160422" cy="1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pic>
        <p:nvPicPr>
          <p:cNvPr id="1026" name="Picture 2" descr="http://icons.iconarchive.com/icons/icojam/blue-bits/128/database-search-icon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1346" y="3353172"/>
            <a:ext cx="765098" cy="765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TextBox 53"/>
          <p:cNvSpPr txBox="1"/>
          <p:nvPr/>
        </p:nvSpPr>
        <p:spPr>
          <a:xfrm>
            <a:off x="7755156" y="2278033"/>
            <a:ext cx="13023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 err="1" smtClean="0"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열린데이터광장</a:t>
            </a:r>
            <a:r>
              <a:rPr lang="ko-KR" altLang="en-US" sz="1100" b="1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 </a:t>
            </a:r>
            <a:r>
              <a:rPr lang="en-US" altLang="ko-KR" sz="1100" b="1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DB</a:t>
            </a:r>
            <a:endParaRPr lang="ko-KR" altLang="en-US" sz="1100" b="1" dirty="0" smtClean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431301" y="1583214"/>
            <a:ext cx="16561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Update(Download Count)</a:t>
            </a:r>
            <a:endParaRPr lang="ko-KR" altLang="en-US" sz="900" b="1" dirty="0" smtClean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  <p:pic>
        <p:nvPicPr>
          <p:cNvPr id="58" name="Picture 10" descr="http://icons.iconarchive.com/icons/hopstarter/sleek-xp-basic/128/Administrator-icon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171" y="1490660"/>
            <a:ext cx="457454" cy="457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직사각형 58"/>
          <p:cNvSpPr/>
          <p:nvPr/>
        </p:nvSpPr>
        <p:spPr>
          <a:xfrm>
            <a:off x="835317" y="1968340"/>
            <a:ext cx="44916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User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60" name="꺾인 연결선 59"/>
          <p:cNvCxnSpPr>
            <a:stCxn id="18" idx="1"/>
            <a:endCxn id="58" idx="3"/>
          </p:cNvCxnSpPr>
          <p:nvPr/>
        </p:nvCxnSpPr>
        <p:spPr>
          <a:xfrm rot="10800000">
            <a:off x="1288625" y="1719387"/>
            <a:ext cx="1324768" cy="231240"/>
          </a:xfrm>
          <a:prstGeom prst="bentConnector3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1853761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시스템 구성 아키텍처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pSp>
        <p:nvGrpSpPr>
          <p:cNvPr id="19" name="그룹 18"/>
          <p:cNvGrpSpPr/>
          <p:nvPr/>
        </p:nvGrpSpPr>
        <p:grpSpPr>
          <a:xfrm>
            <a:off x="802634" y="1484784"/>
            <a:ext cx="7880169" cy="2265921"/>
            <a:chOff x="802634" y="2132856"/>
            <a:chExt cx="8110806" cy="2731644"/>
          </a:xfrm>
        </p:grpSpPr>
        <p:cxnSp>
          <p:nvCxnSpPr>
            <p:cNvPr id="3" name="직선 연결선 2"/>
            <p:cNvCxnSpPr>
              <a:stCxn id="10" idx="1"/>
            </p:cNvCxnSpPr>
            <p:nvPr/>
          </p:nvCxnSpPr>
          <p:spPr>
            <a:xfrm flipH="1">
              <a:off x="3656856" y="3481029"/>
              <a:ext cx="2566153" cy="0"/>
            </a:xfrm>
            <a:prstGeom prst="line">
              <a:avLst/>
            </a:prstGeom>
            <a:ln w="38100" cmpd="sng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 Box 11"/>
            <p:cNvSpPr txBox="1">
              <a:spLocks noChangeArrowheads="1"/>
            </p:cNvSpPr>
            <p:nvPr/>
          </p:nvSpPr>
          <p:spPr bwMode="auto">
            <a:xfrm>
              <a:off x="2792760" y="2629322"/>
              <a:ext cx="720000" cy="1538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 fontAlgn="auto">
                <a:lnSpc>
                  <a:spcPct val="50000"/>
                </a:lnSpc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ko-KR" sz="800" b="1" i="1" dirty="0" smtClean="0">
                  <a:solidFill>
                    <a:schemeClr val="tx2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L4(Master)</a:t>
              </a:r>
            </a:p>
          </p:txBody>
        </p:sp>
        <p:sp>
          <p:nvSpPr>
            <p:cNvPr id="5" name="Text Box 11"/>
            <p:cNvSpPr txBox="1">
              <a:spLocks noChangeArrowheads="1"/>
            </p:cNvSpPr>
            <p:nvPr/>
          </p:nvSpPr>
          <p:spPr bwMode="auto">
            <a:xfrm>
              <a:off x="3800872" y="2629322"/>
              <a:ext cx="690994" cy="1538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 fontAlgn="auto">
                <a:lnSpc>
                  <a:spcPct val="50000"/>
                </a:lnSpc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ko-KR" sz="800" b="1" i="1" dirty="0" smtClean="0">
                  <a:solidFill>
                    <a:schemeClr val="tx2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L4(S</a:t>
              </a:r>
              <a:r>
                <a:rPr lang="en-US" altLang="ko-KR" sz="800" b="1" i="1" dirty="0">
                  <a:solidFill>
                    <a:schemeClr val="tx2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l</a:t>
              </a:r>
              <a:r>
                <a:rPr lang="en-US" altLang="ko-KR" sz="800" b="1" i="1" dirty="0" smtClean="0">
                  <a:solidFill>
                    <a:schemeClr val="tx2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ave)</a:t>
              </a:r>
            </a:p>
          </p:txBody>
        </p:sp>
        <p:pic>
          <p:nvPicPr>
            <p:cNvPr id="6" name="Picture 5" descr="C:\Users\ryujaejoon\AppData\Local\Microsoft\Windows\Temporary Internet Files\Content.IE5\4R1DIGBT\MC900428969[1]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1642" y="3226642"/>
              <a:ext cx="353853" cy="4903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모서리가 둥근 직사각형 6"/>
            <p:cNvSpPr/>
            <p:nvPr/>
          </p:nvSpPr>
          <p:spPr>
            <a:xfrm>
              <a:off x="4131753" y="2996952"/>
              <a:ext cx="774379" cy="275408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8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WEB</a:t>
              </a:r>
              <a:endParaRPr kumimoji="0"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8" name="Picture 5" descr="C:\Users\ryujaejoon\AppData\Local\Microsoft\Windows\Temporary Internet Files\Content.IE5\4R1DIGBT\MC900428969[1]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4897" y="3226642"/>
              <a:ext cx="353853" cy="4903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모서리가 둥근 직사각형 8"/>
            <p:cNvSpPr/>
            <p:nvPr/>
          </p:nvSpPr>
          <p:spPr>
            <a:xfrm>
              <a:off x="5025008" y="2996952"/>
              <a:ext cx="774379" cy="275408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8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WAS</a:t>
              </a:r>
              <a:endParaRPr kumimoji="0"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10" name="Picture 5" descr="C:\Users\ryujaejoon\AppData\Local\Microsoft\Windows\Temporary Internet Files\Content.IE5\4R1DIGBT\MC900428969[1]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23009" y="3235834"/>
              <a:ext cx="353853" cy="4903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모서리가 둥근 직사각형 10"/>
            <p:cNvSpPr/>
            <p:nvPr/>
          </p:nvSpPr>
          <p:spPr>
            <a:xfrm>
              <a:off x="6033120" y="3006144"/>
              <a:ext cx="774379" cy="275408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800" b="1" dirty="0" err="1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DataStore</a:t>
              </a:r>
              <a:endParaRPr kumimoji="0"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12" name="Picture 5" descr="C:\Users\ryujaejoon\AppData\Local\Microsoft\Windows\Temporary Internet Files\Content.IE5\4R1DIGBT\MC900428969[1]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28950" y="3237528"/>
              <a:ext cx="353853" cy="4903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모서리가 둥근 직사각형 12"/>
            <p:cNvSpPr/>
            <p:nvPr/>
          </p:nvSpPr>
          <p:spPr>
            <a:xfrm>
              <a:off x="8139061" y="2996952"/>
              <a:ext cx="774379" cy="275408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b="1" dirty="0" err="1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DataStore</a:t>
              </a:r>
              <a:endParaRPr kumimoji="0"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14" name="직선 연결선 13"/>
            <p:cNvCxnSpPr>
              <a:stCxn id="12" idx="1"/>
              <a:endCxn id="10" idx="3"/>
            </p:cNvCxnSpPr>
            <p:nvPr/>
          </p:nvCxnSpPr>
          <p:spPr>
            <a:xfrm flipH="1" flipV="1">
              <a:off x="6576862" y="3481029"/>
              <a:ext cx="1752088" cy="1694"/>
            </a:xfrm>
            <a:prstGeom prst="line">
              <a:avLst/>
            </a:prstGeom>
            <a:ln w="38100" cmpd="sng">
              <a:solidFill>
                <a:srgbClr val="C00000"/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모서리가 둥근 직사각형 14"/>
            <p:cNvSpPr/>
            <p:nvPr/>
          </p:nvSpPr>
          <p:spPr>
            <a:xfrm>
              <a:off x="7977336" y="4215710"/>
              <a:ext cx="911438" cy="280180"/>
            </a:xfrm>
            <a:prstGeom prst="roundRect">
              <a:avLst>
                <a:gd name="adj" fmla="val 27523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9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파일동기화</a:t>
              </a:r>
              <a:endParaRPr lang="en-US" altLang="ko-KR" sz="9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(SFTP)</a:t>
              </a:r>
              <a:endParaRPr kumimoji="0" lang="ko-KR" altLang="en-US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" name="Rectangle 49"/>
            <p:cNvSpPr>
              <a:spLocks noChangeArrowheads="1"/>
            </p:cNvSpPr>
            <p:nvPr/>
          </p:nvSpPr>
          <p:spPr bwMode="auto">
            <a:xfrm>
              <a:off x="4028540" y="2858931"/>
              <a:ext cx="2804339" cy="992530"/>
            </a:xfrm>
            <a:prstGeom prst="rect">
              <a:avLst/>
            </a:prstGeom>
            <a:noFill/>
            <a:ln w="28575">
              <a:solidFill>
                <a:srgbClr val="FF9900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83969" tIns="41985" rIns="83969" bIns="41985" anchor="ctr"/>
            <a:lstStyle/>
            <a:p>
              <a:endParaRPr kumimoji="0"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" name="모서리가 둥근 직사각형 16"/>
            <p:cNvSpPr/>
            <p:nvPr/>
          </p:nvSpPr>
          <p:spPr>
            <a:xfrm>
              <a:off x="4880992" y="2564904"/>
              <a:ext cx="1216123" cy="280180"/>
            </a:xfrm>
            <a:prstGeom prst="roundRect">
              <a:avLst>
                <a:gd name="adj" fmla="val 27523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신</a:t>
              </a:r>
              <a:r>
                <a:rPr kumimoji="0" lang="ko-KR" altLang="en-US" sz="10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규</a:t>
              </a:r>
            </a:p>
          </p:txBody>
        </p:sp>
        <p:cxnSp>
          <p:nvCxnSpPr>
            <p:cNvPr id="18" name="직선 연결선 17"/>
            <p:cNvCxnSpPr/>
            <p:nvPr/>
          </p:nvCxnSpPr>
          <p:spPr>
            <a:xfrm flipH="1">
              <a:off x="3368824" y="4530875"/>
              <a:ext cx="3288034" cy="0"/>
            </a:xfrm>
            <a:prstGeom prst="line">
              <a:avLst/>
            </a:prstGeom>
            <a:ln w="38100" cmpd="sng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8" name="Picture 5" descr="C:\Users\ryujaejoon\AppData\Local\Microsoft\Windows\Temporary Internet Files\Content.IE5\4R1DIGBT\MC900428969[1]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9682" y="4285680"/>
              <a:ext cx="353853" cy="4903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5" descr="C:\Users\ryujaejoon\AppData\Local\Microsoft\Windows\Temporary Internet Files\Content.IE5\4R1DIGBT\MC900428969[1]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85602" y="4261616"/>
              <a:ext cx="353853" cy="4903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" name="모서리가 둥근 직사각형 31"/>
            <p:cNvSpPr/>
            <p:nvPr/>
          </p:nvSpPr>
          <p:spPr>
            <a:xfrm>
              <a:off x="4525463" y="4067505"/>
              <a:ext cx="1015117" cy="275408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 err="1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열린데이터광장</a:t>
              </a:r>
              <a:endParaRPr kumimoji="0"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3" name="모서리가 둥근 직사각형 32"/>
            <p:cNvSpPr/>
            <p:nvPr/>
          </p:nvSpPr>
          <p:spPr>
            <a:xfrm>
              <a:off x="5594067" y="4064879"/>
              <a:ext cx="1015117" cy="275408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8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Open API</a:t>
              </a:r>
              <a:endParaRPr kumimoji="0"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34" name="직선 연결선 33"/>
            <p:cNvCxnSpPr/>
            <p:nvPr/>
          </p:nvCxnSpPr>
          <p:spPr>
            <a:xfrm>
              <a:off x="7332995" y="2142381"/>
              <a:ext cx="0" cy="2633689"/>
            </a:xfrm>
            <a:prstGeom prst="line">
              <a:avLst/>
            </a:prstGeom>
            <a:ln w="1587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6" name="그림 3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32172" y="2142381"/>
              <a:ext cx="238125" cy="409575"/>
            </a:xfrm>
            <a:prstGeom prst="rect">
              <a:avLst/>
            </a:prstGeom>
          </p:spPr>
        </p:pic>
        <p:pic>
          <p:nvPicPr>
            <p:cNvPr id="37" name="그림 3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78982" y="2132856"/>
              <a:ext cx="238125" cy="409575"/>
            </a:xfrm>
            <a:prstGeom prst="rect">
              <a:avLst/>
            </a:prstGeom>
          </p:spPr>
        </p:pic>
        <p:cxnSp>
          <p:nvCxnSpPr>
            <p:cNvPr id="38" name="구부러진 연결선 37"/>
            <p:cNvCxnSpPr>
              <a:cxnSpLocks noChangeShapeType="1"/>
              <a:stCxn id="37" idx="1"/>
              <a:endCxn id="36" idx="3"/>
            </p:cNvCxnSpPr>
            <p:nvPr/>
          </p:nvCxnSpPr>
          <p:spPr bwMode="auto">
            <a:xfrm rot="10800000" flipV="1">
              <a:off x="3270298" y="2337643"/>
              <a:ext cx="708685" cy="9525"/>
            </a:xfrm>
            <a:prstGeom prst="curvedConnector3">
              <a:avLst>
                <a:gd name="adj1" fmla="val 50000"/>
              </a:avLst>
            </a:prstGeom>
            <a:noFill/>
            <a:ln w="19050" algn="ctr">
              <a:solidFill>
                <a:schemeClr val="bg1">
                  <a:lumMod val="75000"/>
                </a:schemeClr>
              </a:solidFill>
              <a:prstDash val="sysDot"/>
              <a:round/>
              <a:headEnd type="triangle"/>
              <a:tailEnd type="triangle" w="med" len="med"/>
            </a:ln>
          </p:spPr>
        </p:cxnSp>
        <p:cxnSp>
          <p:nvCxnSpPr>
            <p:cNvPr id="39" name="직선 연결선 38"/>
            <p:cNvCxnSpPr/>
            <p:nvPr/>
          </p:nvCxnSpPr>
          <p:spPr>
            <a:xfrm flipH="1">
              <a:off x="3656856" y="2347169"/>
              <a:ext cx="17675" cy="2192204"/>
            </a:xfrm>
            <a:prstGeom prst="line">
              <a:avLst/>
            </a:prstGeom>
            <a:ln w="38100" cmpd="sng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/>
            <p:cNvCxnSpPr>
              <a:stCxn id="12" idx="1"/>
              <a:endCxn id="33" idx="3"/>
            </p:cNvCxnSpPr>
            <p:nvPr/>
          </p:nvCxnSpPr>
          <p:spPr>
            <a:xfrm flipH="1">
              <a:off x="6609184" y="3482723"/>
              <a:ext cx="1719766" cy="719860"/>
            </a:xfrm>
            <a:prstGeom prst="line">
              <a:avLst/>
            </a:prstGeom>
            <a:ln w="38100" cmpd="sng">
              <a:solidFill>
                <a:srgbClr val="C00000"/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/>
            <p:cNvCxnSpPr/>
            <p:nvPr/>
          </p:nvCxnSpPr>
          <p:spPr>
            <a:xfrm flipH="1">
              <a:off x="7616307" y="4356166"/>
              <a:ext cx="428174" cy="12070"/>
            </a:xfrm>
            <a:prstGeom prst="line">
              <a:avLst/>
            </a:prstGeom>
            <a:ln w="38100" cmpd="sng">
              <a:solidFill>
                <a:srgbClr val="C00000"/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9"/>
            <p:cNvSpPr>
              <a:spLocks noChangeArrowheads="1"/>
            </p:cNvSpPr>
            <p:nvPr/>
          </p:nvSpPr>
          <p:spPr bwMode="auto">
            <a:xfrm>
              <a:off x="4028540" y="3933055"/>
              <a:ext cx="2804339" cy="931445"/>
            </a:xfrm>
            <a:prstGeom prst="rect">
              <a:avLst/>
            </a:prstGeom>
            <a:noFill/>
            <a:ln w="28575">
              <a:solidFill>
                <a:srgbClr val="0070C0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83969" tIns="41985" rIns="83969" bIns="41985" anchor="ctr"/>
            <a:lstStyle/>
            <a:p>
              <a:endParaRPr kumimoji="0"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35" name="그림 3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7787" y="3281058"/>
              <a:ext cx="350417" cy="783821"/>
            </a:xfrm>
            <a:prstGeom prst="rect">
              <a:avLst/>
            </a:prstGeom>
          </p:spPr>
        </p:pic>
        <p:sp>
          <p:nvSpPr>
            <p:cNvPr id="48" name="모서리가 둥근 직사각형 47"/>
            <p:cNvSpPr/>
            <p:nvPr/>
          </p:nvSpPr>
          <p:spPr>
            <a:xfrm>
              <a:off x="4880992" y="4581128"/>
              <a:ext cx="1216123" cy="280180"/>
            </a:xfrm>
            <a:prstGeom prst="roundRect">
              <a:avLst>
                <a:gd name="adj" fmla="val 27523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기존</a:t>
              </a:r>
              <a:endParaRPr kumimoji="0"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1026" name="Picture 2" descr="http://icons.iconarchive.com/icons/hopstarter/sleek-xp-basic/128/Administrator-icon.pn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2634" y="4202582"/>
              <a:ext cx="386138" cy="4972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51" name="구부러진 연결선 50"/>
            <p:cNvCxnSpPr>
              <a:cxnSpLocks noChangeShapeType="1"/>
              <a:endCxn id="1026" idx="3"/>
            </p:cNvCxnSpPr>
            <p:nvPr/>
          </p:nvCxnSpPr>
          <p:spPr bwMode="auto">
            <a:xfrm rot="10800000" flipV="1">
              <a:off x="1188773" y="4313741"/>
              <a:ext cx="3392561" cy="137491"/>
            </a:xfrm>
            <a:prstGeom prst="curvedConnector3">
              <a:avLst>
                <a:gd name="adj1" fmla="val 50000"/>
              </a:avLst>
            </a:prstGeom>
            <a:noFill/>
            <a:ln w="19050" algn="ctr">
              <a:solidFill>
                <a:schemeClr val="bg2">
                  <a:lumMod val="50000"/>
                </a:schemeClr>
              </a:solidFill>
              <a:prstDash val="sysDot"/>
              <a:round/>
              <a:headEnd type="triangle" w="med" len="med"/>
              <a:tailEnd type="none" w="med" len="med"/>
            </a:ln>
          </p:spPr>
        </p:cxnSp>
        <p:sp>
          <p:nvSpPr>
            <p:cNvPr id="54" name="모서리가 둥근 직사각형 53"/>
            <p:cNvSpPr/>
            <p:nvPr/>
          </p:nvSpPr>
          <p:spPr>
            <a:xfrm>
              <a:off x="1582307" y="4072412"/>
              <a:ext cx="1568928" cy="280180"/>
            </a:xfrm>
            <a:prstGeom prst="roundRect">
              <a:avLst>
                <a:gd name="adj" fmla="val 27523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① 사용자 다운로드 요청</a:t>
              </a:r>
              <a:endParaRPr kumimoji="0"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55" name="구부러진 연결선 54"/>
            <p:cNvCxnSpPr>
              <a:cxnSpLocks noChangeShapeType="1"/>
              <a:stCxn id="6" idx="1"/>
              <a:endCxn id="32" idx="1"/>
            </p:cNvCxnSpPr>
            <p:nvPr/>
          </p:nvCxnSpPr>
          <p:spPr bwMode="auto">
            <a:xfrm rot="10800000" flipH="1" flipV="1">
              <a:off x="4321641" y="3471837"/>
              <a:ext cx="203821" cy="733372"/>
            </a:xfrm>
            <a:prstGeom prst="curvedConnector3">
              <a:avLst>
                <a:gd name="adj1" fmla="val -112157"/>
              </a:avLst>
            </a:prstGeom>
            <a:noFill/>
            <a:ln w="19050" algn="ctr">
              <a:solidFill>
                <a:schemeClr val="bg2">
                  <a:lumMod val="50000"/>
                </a:schemeClr>
              </a:solidFill>
              <a:prstDash val="sysDot"/>
              <a:round/>
              <a:headEnd type="triangle" w="med" len="med"/>
              <a:tailEnd type="none" w="med" len="med"/>
            </a:ln>
          </p:spPr>
        </p:cxnSp>
        <p:sp>
          <p:nvSpPr>
            <p:cNvPr id="61" name="모서리가 둥근 직사각형 60"/>
            <p:cNvSpPr/>
            <p:nvPr/>
          </p:nvSpPr>
          <p:spPr>
            <a:xfrm>
              <a:off x="3152800" y="3712372"/>
              <a:ext cx="1064307" cy="280180"/>
            </a:xfrm>
            <a:prstGeom prst="roundRect">
              <a:avLst>
                <a:gd name="adj" fmla="val 27523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② 요청 </a:t>
              </a:r>
              <a:r>
                <a:rPr kumimoji="0" lang="ko-KR" altLang="en-US" sz="1000" b="1" dirty="0" err="1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포워딩</a:t>
              </a:r>
              <a:endParaRPr kumimoji="0"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2" name="모서리가 둥근 직사각형 61"/>
            <p:cNvSpPr/>
            <p:nvPr/>
          </p:nvSpPr>
          <p:spPr>
            <a:xfrm>
              <a:off x="1712640" y="3072152"/>
              <a:ext cx="1800120" cy="280180"/>
            </a:xfrm>
            <a:prstGeom prst="roundRect">
              <a:avLst>
                <a:gd name="adj" fmla="val 27523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③ </a:t>
              </a:r>
              <a:r>
                <a:rPr kumimoji="0" lang="en-US" altLang="ko-KR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zip/</a:t>
              </a:r>
              <a:r>
                <a:rPr kumimoji="0" lang="en-US" altLang="ko-KR" sz="1000" b="1" dirty="0" err="1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json</a:t>
              </a:r>
              <a:r>
                <a:rPr kumimoji="0" lang="en-US" altLang="ko-KR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/csv/</a:t>
              </a:r>
              <a:r>
                <a:rPr kumimoji="0" lang="en-US" altLang="ko-KR" sz="1000" b="1" dirty="0" err="1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xls</a:t>
              </a:r>
              <a:r>
                <a:rPr kumimoji="0" lang="en-US" altLang="ko-KR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/map</a:t>
              </a:r>
              <a:endParaRPr kumimoji="0"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63" name="구부러진 연결선 62"/>
            <p:cNvCxnSpPr>
              <a:cxnSpLocks noChangeShapeType="1"/>
              <a:stCxn id="1026" idx="0"/>
              <a:endCxn id="7" idx="1"/>
            </p:cNvCxnSpPr>
            <p:nvPr/>
          </p:nvCxnSpPr>
          <p:spPr bwMode="auto">
            <a:xfrm rot="5400000" flipH="1" flipV="1">
              <a:off x="2029766" y="2100595"/>
              <a:ext cx="1067926" cy="3136050"/>
            </a:xfrm>
            <a:prstGeom prst="curvedConnector2">
              <a:avLst/>
            </a:prstGeom>
            <a:noFill/>
            <a:ln w="19050" algn="ctr">
              <a:solidFill>
                <a:schemeClr val="bg2">
                  <a:lumMod val="50000"/>
                </a:schemeClr>
              </a:solidFill>
              <a:prstDash val="sysDot"/>
              <a:round/>
              <a:headEnd type="triangle" w="med" len="med"/>
              <a:tailEnd type="none" w="med" len="med"/>
            </a:ln>
          </p:spPr>
        </p:cxnSp>
      </p:grpSp>
      <p:sp>
        <p:nvSpPr>
          <p:cNvPr id="21" name="TextBox 20"/>
          <p:cNvSpPr txBox="1"/>
          <p:nvPr/>
        </p:nvSpPr>
        <p:spPr>
          <a:xfrm>
            <a:off x="273050" y="908050"/>
            <a:ext cx="9217025" cy="307777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268288" indent="-268288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SzPct val="100000"/>
              <a:buFontTx/>
              <a:buBlip>
                <a:blip r:embed="rId6"/>
              </a:buBlip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kumimoji="0" sz="1400" b="1" kern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dirty="0" err="1" smtClean="0"/>
              <a:t>포워딩</a:t>
            </a:r>
            <a:r>
              <a:rPr lang="ko-KR" altLang="en-US" dirty="0" smtClean="0"/>
              <a:t> 데이터의 종류는 </a:t>
            </a:r>
            <a:r>
              <a:rPr lang="ko-KR" altLang="en-US" dirty="0" err="1" smtClean="0"/>
              <a:t>열린데이터</a:t>
            </a:r>
            <a:r>
              <a:rPr lang="ko-KR" altLang="en-US" dirty="0" smtClean="0"/>
              <a:t> 광장에서 취급하고 있는 데이터 중 </a:t>
            </a:r>
            <a:r>
              <a:rPr lang="en-US" altLang="ko-KR" dirty="0" smtClean="0"/>
              <a:t>100M </a:t>
            </a:r>
            <a:r>
              <a:rPr lang="ko-KR" altLang="en-US" dirty="0" smtClean="0"/>
              <a:t>이상의 데이터를 대상으로 함</a:t>
            </a:r>
            <a:endParaRPr lang="ko-KR" altLang="en-US" dirty="0"/>
          </a:p>
        </p:txBody>
      </p:sp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173555"/>
              </p:ext>
            </p:extLst>
          </p:nvPr>
        </p:nvGraphicFramePr>
        <p:xfrm>
          <a:off x="273051" y="4149080"/>
          <a:ext cx="9217026" cy="1650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6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2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7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0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항목</a:t>
                      </a:r>
                      <a:endParaRPr lang="ko-KR" altLang="en-US" sz="11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내용</a:t>
                      </a:r>
                      <a:endParaRPr lang="ko-KR" altLang="en-US" sz="11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비고</a:t>
                      </a:r>
                      <a:endParaRPr lang="ko-KR" altLang="en-US" sz="11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파일 포맷</a:t>
                      </a:r>
                      <a:endParaRPr lang="ko-KR" altLang="en-US" sz="11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ZIP, JSON, CSV, XLS, MAP </a:t>
                      </a:r>
                      <a:endParaRPr lang="ko-KR" altLang="en-US" sz="11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ZIP</a:t>
                      </a:r>
                      <a:r>
                        <a:rPr lang="en-US" altLang="ko-KR" sz="11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1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파일 이외의 데이터는 런타임으로 조회를 하므로 데이터의 크기를 사전에 예측하기 어려움</a:t>
                      </a:r>
                      <a:endParaRPr lang="ko-KR" altLang="en-US" sz="11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다운로드 처리 서버</a:t>
                      </a:r>
                      <a:endParaRPr lang="ko-KR" altLang="en-US" sz="11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신규 대용량 다운로드 서버에서 처리</a:t>
                      </a:r>
                      <a:endParaRPr lang="ko-KR" altLang="en-US" sz="11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기존 열린 데이터 광장</a:t>
                      </a:r>
                      <a:endParaRPr lang="ko-KR" altLang="en-US" sz="11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다운로드 링크 코드 변경</a:t>
                      </a:r>
                      <a:endParaRPr lang="ko-KR" altLang="en-US" sz="11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다운로드</a:t>
                      </a:r>
                      <a:r>
                        <a:rPr lang="ko-KR" altLang="en-US" sz="11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시 신규 서버로 리다이렉션 되도록 코드 변경 필요</a:t>
                      </a:r>
                      <a:endParaRPr lang="ko-KR" altLang="en-US" sz="11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0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비실시간성</a:t>
                      </a:r>
                      <a:r>
                        <a:rPr lang="ko-KR" altLang="en-US" sz="11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데이터</a:t>
                      </a:r>
                      <a:endParaRPr lang="ko-KR" altLang="en-US" sz="11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1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주기 이상의 데이터</a:t>
                      </a:r>
                      <a:endParaRPr lang="ko-KR" altLang="en-US" sz="11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사전에 스케줄러 등을 통해 다운로드 데이터를 미리 생성하여 둠</a:t>
                      </a:r>
                      <a:endParaRPr lang="ko-KR" altLang="en-US" sz="11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72480" y="5941846"/>
            <a:ext cx="6888424" cy="535531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none" rtlCol="0">
            <a:spAutoFit/>
          </a:bodyPr>
          <a:lstStyle/>
          <a:p>
            <a:pPr marL="171450" indent="-171450" fontAlgn="auto" latinLnBrk="0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SzPct val="100000"/>
              <a:buFont typeface="Arial" charset="0"/>
              <a:buChar char="•"/>
            </a:pPr>
            <a:r>
              <a:rPr kumimoji="0" lang="ko-KR" altLang="en-US" sz="12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신규 서버에서 데이터를 처리했을 때의 장점 모색이 필요 </a:t>
            </a:r>
            <a:r>
              <a:rPr kumimoji="0" lang="en-US" altLang="ko-KR" sz="12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kumimoji="0" lang="ko-KR" altLang="en-US" sz="12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kumimoji="0" lang="en-US" altLang="ko-KR" sz="12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kumimoji="0" lang="ko-KR" altLang="en-US" sz="12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가용성 증대</a:t>
            </a:r>
            <a:r>
              <a:rPr kumimoji="0" lang="en-US" altLang="ko-KR" sz="12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0" lang="ko-KR" altLang="en-US" sz="1200" b="1" kern="0" dirty="0" err="1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트래픽</a:t>
            </a:r>
            <a:r>
              <a:rPr kumimoji="0" lang="ko-KR" altLang="en-US" sz="12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분산</a:t>
            </a:r>
            <a:r>
              <a:rPr kumimoji="0" lang="en-US" altLang="ko-KR" sz="12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0" lang="ko-KR" altLang="en-US" sz="12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성능 증가 등</a:t>
            </a:r>
            <a:endParaRPr kumimoji="0" lang="en-US" altLang="ko-KR" sz="1200" b="1" kern="0" dirty="0" smtClean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fontAlgn="auto" latinLnBrk="0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SzPct val="100000"/>
              <a:buFont typeface="Arial" charset="0"/>
              <a:buChar char="•"/>
            </a:pPr>
            <a:r>
              <a:rPr kumimoji="0" lang="ko-KR" altLang="en-US" sz="12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기존 열린 데이터 광장의 코드 수정을 위하여 </a:t>
            </a:r>
            <a:r>
              <a:rPr kumimoji="0" lang="en-US" altLang="ko-KR" sz="1200" b="1" kern="0" dirty="0" smtClean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SVN</a:t>
            </a:r>
            <a:r>
              <a:rPr kumimoji="0" lang="ko-KR" altLang="en-US" sz="1200" b="1" kern="0" dirty="0" smtClean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 대한 액세스 및 소스 코드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095146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ko-KR" altLang="en-US" dirty="0" err="1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프로토타이핑</a:t>
            </a:r>
            <a:r>
              <a:rPr lang="ko-KR" altLang="en-US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기능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aphicFrame>
        <p:nvGraphicFramePr>
          <p:cNvPr id="3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697714"/>
              </p:ext>
            </p:extLst>
          </p:nvPr>
        </p:nvGraphicFramePr>
        <p:xfrm>
          <a:off x="273050" y="1340768"/>
          <a:ext cx="9217025" cy="271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7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9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71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lang="ko-KR" altLang="en-US" sz="1200" b="1" dirty="0" smtClean="0">
                          <a:solidFill>
                            <a:srgbClr val="292929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/>
                        </a:rPr>
                        <a:t>구분</a:t>
                      </a:r>
                      <a:endParaRPr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/>
                      </a:endParaRPr>
                    </a:p>
                  </a:txBody>
                  <a:tcPr marL="36000" marR="36000" marT="36000" marB="36000" anchor="ctr">
                    <a:lnL w="28575">
                      <a:solidFill>
                        <a:srgbClr val="0D227D"/>
                      </a:solidFill>
                      <a:prstDash val="solid"/>
                    </a:lnL>
                    <a:lnR w="12700">
                      <a:solidFill>
                        <a:srgbClr val="0D227D"/>
                      </a:solidFill>
                      <a:prstDash val="solid"/>
                    </a:lnR>
                    <a:lnT w="28575">
                      <a:solidFill>
                        <a:srgbClr val="0D227D"/>
                      </a:solidFill>
                      <a:prstDash val="solid"/>
                    </a:lnT>
                    <a:lnB w="12700">
                      <a:solidFill>
                        <a:srgbClr val="0D227D"/>
                      </a:solidFill>
                      <a:prstDash val="solid"/>
                    </a:lnB>
                    <a:solidFill>
                      <a:srgbClr val="B1B1B1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lang="ko-KR" altLang="en-US" sz="1200" b="1" dirty="0" smtClean="0">
                          <a:solidFill>
                            <a:srgbClr val="292929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/>
                        </a:rPr>
                        <a:t>설명</a:t>
                      </a:r>
                      <a:endParaRPr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/>
                      </a:endParaRPr>
                    </a:p>
                  </a:txBody>
                  <a:tcPr marL="36000" marR="36000" marT="36000" marB="36000" anchor="ctr">
                    <a:lnL w="12700">
                      <a:solidFill>
                        <a:srgbClr val="0D227D"/>
                      </a:solidFill>
                      <a:prstDash val="solid"/>
                    </a:lnL>
                    <a:lnR w="28575">
                      <a:solidFill>
                        <a:srgbClr val="0D227D"/>
                      </a:solidFill>
                      <a:prstDash val="solid"/>
                    </a:lnR>
                    <a:lnT w="28575">
                      <a:solidFill>
                        <a:srgbClr val="0D227D"/>
                      </a:solidFill>
                      <a:prstDash val="solid"/>
                    </a:lnT>
                    <a:lnB w="12700">
                      <a:solidFill>
                        <a:srgbClr val="0D227D"/>
                      </a:solidFill>
                      <a:prstDash val="solid"/>
                    </a:lnB>
                    <a:solidFill>
                      <a:srgbClr val="B1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26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lang="en-US" sz="1200" spc="-5" dirty="0" smtClean="0">
                          <a:solidFill>
                            <a:srgbClr val="292929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HTML</a:t>
                      </a:r>
                      <a:r>
                        <a:rPr lang="en-US" sz="1200" spc="-5" baseline="0" dirty="0" smtClean="0">
                          <a:solidFill>
                            <a:srgbClr val="292929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5 </a:t>
                      </a:r>
                      <a:r>
                        <a:rPr lang="ko-KR" altLang="en-US" sz="1200" spc="-5" baseline="0" dirty="0" smtClean="0">
                          <a:solidFill>
                            <a:srgbClr val="292929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표준 </a:t>
                      </a:r>
                      <a:r>
                        <a:rPr lang="en-US" altLang="ko-KR" sz="1200" spc="-5" baseline="0" dirty="0" smtClean="0">
                          <a:solidFill>
                            <a:srgbClr val="292929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API</a:t>
                      </a:r>
                      <a:endParaRPr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Gulim"/>
                      </a:endParaRPr>
                    </a:p>
                  </a:txBody>
                  <a:tcPr marL="36000" marR="36000" marT="36000" marB="36000" anchor="ctr">
                    <a:lnL w="28575">
                      <a:solidFill>
                        <a:srgbClr val="0D227D"/>
                      </a:solidFill>
                      <a:prstDash val="solid"/>
                    </a:lnL>
                    <a:lnR w="12700">
                      <a:solidFill>
                        <a:srgbClr val="0D227D"/>
                      </a:solidFill>
                      <a:prstDash val="solid"/>
                    </a:lnR>
                    <a:lnT w="12700">
                      <a:solidFill>
                        <a:srgbClr val="0D227D"/>
                      </a:solidFill>
                      <a:prstDash val="solid"/>
                    </a:lnT>
                    <a:lnB w="12700">
                      <a:solidFill>
                        <a:srgbClr val="0D227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File API (Let me call it as File Reader API) 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File API: Writer (also called as File Writer API) 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File API: Directories and System (also called as File System API)  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Gulim"/>
                      </a:endParaRPr>
                    </a:p>
                  </a:txBody>
                  <a:tcPr marL="36000" marR="36000" marT="36000" marB="36000" anchor="ctr">
                    <a:lnL w="12700">
                      <a:solidFill>
                        <a:srgbClr val="0D227D"/>
                      </a:solidFill>
                      <a:prstDash val="solid"/>
                    </a:lnL>
                    <a:lnR w="28575">
                      <a:solidFill>
                        <a:srgbClr val="0D227D"/>
                      </a:solidFill>
                      <a:prstDash val="solid"/>
                    </a:lnR>
                    <a:lnT w="12700">
                      <a:solidFill>
                        <a:srgbClr val="0D227D"/>
                      </a:solidFill>
                      <a:prstDash val="solid"/>
                    </a:lnT>
                    <a:lnB w="12700">
                      <a:solidFill>
                        <a:srgbClr val="0D227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039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lang="ko-KR" altLang="en-US" sz="12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지원 가능 브라우저</a:t>
                      </a:r>
                      <a:endParaRPr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Gulim"/>
                      </a:endParaRPr>
                    </a:p>
                  </a:txBody>
                  <a:tcPr marL="36000" marR="36000" marT="36000" marB="36000" anchor="ctr">
                    <a:lnL w="28575">
                      <a:solidFill>
                        <a:srgbClr val="0D227D"/>
                      </a:solidFill>
                      <a:prstDash val="solid"/>
                    </a:lnL>
                    <a:lnR w="12700">
                      <a:solidFill>
                        <a:srgbClr val="0D227D"/>
                      </a:solidFill>
                      <a:prstDash val="solid"/>
                    </a:lnR>
                    <a:lnT w="12700">
                      <a:solidFill>
                        <a:srgbClr val="0D227D"/>
                      </a:solidFill>
                      <a:prstDash val="solid"/>
                    </a:lnT>
                    <a:lnB w="12700">
                      <a:solidFill>
                        <a:srgbClr val="0D227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Microsoft Internet Explorer 10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Google Chrome 30 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Mozilla Firefox 24 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Safari 6 (Mac OS and iOS 7) 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Gulim"/>
                      </a:endParaRPr>
                    </a:p>
                  </a:txBody>
                  <a:tcPr marL="36000" marR="36000" marT="36000" marB="36000" anchor="ctr">
                    <a:lnL w="12700">
                      <a:solidFill>
                        <a:srgbClr val="0D227D"/>
                      </a:solidFill>
                      <a:prstDash val="solid"/>
                    </a:lnL>
                    <a:lnR w="28575">
                      <a:solidFill>
                        <a:srgbClr val="0D227D"/>
                      </a:solidFill>
                      <a:prstDash val="solid"/>
                    </a:lnR>
                    <a:lnT w="12700">
                      <a:solidFill>
                        <a:srgbClr val="0D227D"/>
                      </a:solidFill>
                      <a:prstDash val="solid"/>
                    </a:lnT>
                    <a:lnB w="12700">
                      <a:solidFill>
                        <a:srgbClr val="0D227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178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lang="ko-KR" altLang="en-US" sz="12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파일 읽기 및 조작</a:t>
                      </a:r>
                      <a:endParaRPr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Gulim"/>
                      </a:endParaRPr>
                    </a:p>
                  </a:txBody>
                  <a:tcPr marL="36000" marR="36000" marT="36000" marB="36000" anchor="ctr">
                    <a:lnL w="28575">
                      <a:solidFill>
                        <a:srgbClr val="0D227D"/>
                      </a:solidFill>
                      <a:prstDash val="solid"/>
                    </a:lnL>
                    <a:lnR w="12700">
                      <a:solidFill>
                        <a:srgbClr val="0D227D"/>
                      </a:solidFill>
                      <a:prstDash val="solid"/>
                    </a:lnR>
                    <a:lnT w="12700">
                      <a:solidFill>
                        <a:srgbClr val="0D227D"/>
                      </a:solidFill>
                      <a:prstDash val="solid"/>
                    </a:lnT>
                    <a:lnB w="12700">
                      <a:solidFill>
                        <a:srgbClr val="0D227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lang="en-US" altLang="ko-KR" sz="1200" dirty="0" smtClean="0"/>
                        <a:t>File</a:t>
                      </a:r>
                      <a:r>
                        <a:rPr lang="en-US" altLang="ko-KR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1200" dirty="0" smtClean="0"/>
                        <a:t>Blob</a:t>
                      </a:r>
                      <a:r>
                        <a:rPr lang="en-US" altLang="ko-KR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altLang="ko-KR" sz="1200" dirty="0" err="1" smtClean="0"/>
                        <a:t>FileList</a:t>
                      </a:r>
                      <a:r>
                        <a:rPr lang="en-US" altLang="ko-KR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altLang="ko-KR" sz="1200" dirty="0" err="1" smtClean="0"/>
                        <a:t>FileReader</a:t>
                      </a:r>
                      <a:endParaRPr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Gulim"/>
                      </a:endParaRPr>
                    </a:p>
                  </a:txBody>
                  <a:tcPr marL="36000" marR="36000" marT="36000" marB="36000" anchor="ctr">
                    <a:lnL w="12700">
                      <a:solidFill>
                        <a:srgbClr val="0D227D"/>
                      </a:solidFill>
                      <a:prstDash val="solid"/>
                    </a:lnL>
                    <a:lnR w="28575">
                      <a:solidFill>
                        <a:srgbClr val="0D227D"/>
                      </a:solidFill>
                      <a:prstDash val="solid"/>
                    </a:lnR>
                    <a:lnT w="12700">
                      <a:solidFill>
                        <a:srgbClr val="0D227D"/>
                      </a:solidFill>
                      <a:prstDash val="solid"/>
                    </a:lnT>
                    <a:lnB w="12700">
                      <a:solidFill>
                        <a:srgbClr val="0D227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40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lang="ko-KR" altLang="en-US" sz="12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생성 및 파일 쓰기</a:t>
                      </a:r>
                      <a:endParaRPr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Gulim"/>
                      </a:endParaRPr>
                    </a:p>
                  </a:txBody>
                  <a:tcPr marL="36000" marR="36000" marT="36000" marB="36000" anchor="ctr">
                    <a:lnL w="28575">
                      <a:solidFill>
                        <a:srgbClr val="0D227D"/>
                      </a:solidFill>
                      <a:prstDash val="solid"/>
                    </a:lnL>
                    <a:lnR w="12700">
                      <a:solidFill>
                        <a:srgbClr val="0D227D"/>
                      </a:solidFill>
                      <a:prstDash val="solid"/>
                    </a:lnR>
                    <a:lnT w="12700">
                      <a:solidFill>
                        <a:srgbClr val="0D227D"/>
                      </a:solidFill>
                      <a:prstDash val="solid"/>
                    </a:lnT>
                    <a:lnB w="12700">
                      <a:solidFill>
                        <a:srgbClr val="0D227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lang="en-US" altLang="ko-KR" sz="1200" dirty="0" smtClean="0"/>
                        <a:t>Blob()</a:t>
                      </a:r>
                      <a:r>
                        <a:rPr lang="en-US" altLang="ko-KR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altLang="ko-KR" sz="1200" dirty="0" err="1" smtClean="0"/>
                        <a:t>FileWriter</a:t>
                      </a:r>
                      <a:endParaRPr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Gulim"/>
                      </a:endParaRPr>
                    </a:p>
                  </a:txBody>
                  <a:tcPr marL="36000" marR="36000" marT="36000" marB="36000" anchor="ctr">
                    <a:lnL w="12700">
                      <a:solidFill>
                        <a:srgbClr val="0D227D"/>
                      </a:solidFill>
                      <a:prstDash val="solid"/>
                    </a:lnL>
                    <a:lnR w="28575">
                      <a:solidFill>
                        <a:srgbClr val="0D227D"/>
                      </a:solidFill>
                      <a:prstDash val="solid"/>
                    </a:lnR>
                    <a:lnT w="12700">
                      <a:solidFill>
                        <a:srgbClr val="0D227D"/>
                      </a:solidFill>
                      <a:prstDash val="solid"/>
                    </a:lnT>
                    <a:lnB w="12700">
                      <a:solidFill>
                        <a:srgbClr val="0D227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60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lang="ko-KR" altLang="en-US" sz="120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디렉토리</a:t>
                      </a:r>
                      <a:r>
                        <a:rPr lang="ko-KR" altLang="en-US" sz="12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 및 파일 액세스 </a:t>
                      </a:r>
                      <a:endParaRPr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Gulim"/>
                      </a:endParaRPr>
                    </a:p>
                  </a:txBody>
                  <a:tcPr marL="36000" marR="36000" marT="36000" marB="36000" anchor="ctr">
                    <a:lnL w="28575">
                      <a:solidFill>
                        <a:srgbClr val="0D227D"/>
                      </a:solidFill>
                      <a:prstDash val="solid"/>
                    </a:lnL>
                    <a:lnR w="12700">
                      <a:solidFill>
                        <a:srgbClr val="0D227D"/>
                      </a:solidFill>
                      <a:prstDash val="solid"/>
                    </a:lnR>
                    <a:lnT w="12700">
                      <a:solidFill>
                        <a:srgbClr val="0D227D"/>
                      </a:solidFill>
                      <a:prstDash val="solid"/>
                    </a:lnT>
                    <a:lnB w="12700">
                      <a:solidFill>
                        <a:srgbClr val="0D227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 marR="15049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lang="en-US" altLang="ko-KR" sz="1200" dirty="0" err="1" smtClean="0"/>
                        <a:t>DirectoryReader</a:t>
                      </a:r>
                      <a:r>
                        <a:rPr lang="en-US" altLang="ko-KR" sz="18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altLang="ko-KR" sz="1200" dirty="0" err="1" smtClean="0"/>
                        <a:t>FileEntry</a:t>
                      </a:r>
                      <a:r>
                        <a:rPr lang="en-US" altLang="ko-KR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1200" dirty="0" err="1" smtClean="0"/>
                        <a:t>DirectoryEntry</a:t>
                      </a:r>
                      <a:r>
                        <a:rPr lang="en-US" altLang="ko-KR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altLang="ko-KR" sz="1200" dirty="0" err="1" smtClean="0"/>
                        <a:t>LocalFileSystem</a:t>
                      </a:r>
                      <a:endParaRPr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Gulim"/>
                      </a:endParaRPr>
                    </a:p>
                  </a:txBody>
                  <a:tcPr marL="36000" marR="36000" marT="36000" marB="36000" anchor="ctr">
                    <a:lnL w="12700">
                      <a:solidFill>
                        <a:srgbClr val="0D227D"/>
                      </a:solidFill>
                      <a:prstDash val="solid"/>
                    </a:lnL>
                    <a:lnR w="28575">
                      <a:solidFill>
                        <a:srgbClr val="0D227D"/>
                      </a:solidFill>
                      <a:prstDash val="solid"/>
                    </a:lnR>
                    <a:lnT w="12700">
                      <a:solidFill>
                        <a:srgbClr val="0D227D"/>
                      </a:solidFill>
                      <a:prstDash val="solid"/>
                    </a:lnT>
                    <a:lnB w="12700">
                      <a:solidFill>
                        <a:srgbClr val="0D227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2480" y="908720"/>
            <a:ext cx="7205243" cy="307777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268288" indent="-268288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SzPct val="100000"/>
              <a:buFontTx/>
              <a:buBlip>
                <a:blip r:embed="rId2"/>
              </a:buBlip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kumimoji="0" sz="1400" b="1" kern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dirty="0"/>
              <a:t>HTML5</a:t>
            </a:r>
            <a:r>
              <a:rPr lang="ko-KR" altLang="en-US" dirty="0"/>
              <a:t>를 통한 </a:t>
            </a:r>
            <a:r>
              <a:rPr lang="en-US" altLang="ko-KR" dirty="0"/>
              <a:t>File Download </a:t>
            </a:r>
            <a:r>
              <a:rPr lang="ko-KR" altLang="en-US" dirty="0"/>
              <a:t>확인</a:t>
            </a:r>
            <a:endParaRPr lang="en-US" altLang="ko-KR" dirty="0"/>
          </a:p>
        </p:txBody>
      </p:sp>
      <p:graphicFrame>
        <p:nvGraphicFramePr>
          <p:cNvPr id="6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8756432"/>
              </p:ext>
            </p:extLst>
          </p:nvPr>
        </p:nvGraphicFramePr>
        <p:xfrm>
          <a:off x="273050" y="4581128"/>
          <a:ext cx="9217025" cy="1770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59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57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3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lang="ko-KR" altLang="en-US" sz="1200" b="1" dirty="0" smtClean="0">
                          <a:solidFill>
                            <a:srgbClr val="292929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/>
                        </a:rPr>
                        <a:t>구분</a:t>
                      </a:r>
                      <a:endParaRPr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/>
                      </a:endParaRPr>
                    </a:p>
                  </a:txBody>
                  <a:tcPr marL="36000" marR="36000" marT="36000" marB="36000" anchor="ctr">
                    <a:lnL w="28575">
                      <a:solidFill>
                        <a:srgbClr val="0D227D"/>
                      </a:solidFill>
                      <a:prstDash val="solid"/>
                    </a:lnL>
                    <a:lnR w="12700">
                      <a:solidFill>
                        <a:srgbClr val="0D227D"/>
                      </a:solidFill>
                      <a:prstDash val="solid"/>
                    </a:lnR>
                    <a:lnT w="28575">
                      <a:solidFill>
                        <a:srgbClr val="0D227D"/>
                      </a:solidFill>
                      <a:prstDash val="solid"/>
                    </a:lnT>
                    <a:lnB w="12700">
                      <a:solidFill>
                        <a:srgbClr val="0D227D"/>
                      </a:solidFill>
                      <a:prstDash val="solid"/>
                    </a:lnB>
                    <a:solidFill>
                      <a:srgbClr val="B1B1B1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lang="ko-KR" altLang="en-US" sz="1200" b="1" dirty="0" smtClean="0">
                          <a:solidFill>
                            <a:srgbClr val="292929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/>
                        </a:rPr>
                        <a:t>설명</a:t>
                      </a:r>
                      <a:endParaRPr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/>
                      </a:endParaRPr>
                    </a:p>
                  </a:txBody>
                  <a:tcPr marL="36000" marR="36000" marT="36000" marB="36000" anchor="ctr">
                    <a:lnL w="12700">
                      <a:solidFill>
                        <a:srgbClr val="0D227D"/>
                      </a:solidFill>
                      <a:prstDash val="solid"/>
                    </a:lnL>
                    <a:lnR w="28575">
                      <a:solidFill>
                        <a:srgbClr val="0D227D"/>
                      </a:solidFill>
                      <a:prstDash val="solid"/>
                    </a:lnR>
                    <a:lnT w="28575">
                      <a:solidFill>
                        <a:srgbClr val="0D227D"/>
                      </a:solidFill>
                      <a:prstDash val="solid"/>
                    </a:lnT>
                    <a:lnB w="12700">
                      <a:solidFill>
                        <a:srgbClr val="0D227D"/>
                      </a:solidFill>
                      <a:prstDash val="solid"/>
                    </a:lnB>
                    <a:solidFill>
                      <a:srgbClr val="B1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53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lang="en-US" sz="12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Servlet</a:t>
                      </a:r>
                      <a:r>
                        <a:rPr lang="en-US" sz="12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 File Downloader</a:t>
                      </a:r>
                      <a:endParaRPr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Gulim"/>
                      </a:endParaRPr>
                    </a:p>
                  </a:txBody>
                  <a:tcPr marL="36000" marR="36000" marT="36000" marB="36000" anchor="ctr">
                    <a:lnL w="28575">
                      <a:solidFill>
                        <a:srgbClr val="0D227D"/>
                      </a:solidFill>
                      <a:prstDash val="solid"/>
                    </a:lnL>
                    <a:lnR w="12700">
                      <a:solidFill>
                        <a:srgbClr val="0D227D"/>
                      </a:solidFill>
                      <a:prstDash val="solid"/>
                    </a:lnR>
                    <a:lnT w="12700">
                      <a:solidFill>
                        <a:srgbClr val="0D227D"/>
                      </a:solidFill>
                      <a:prstDash val="solid"/>
                    </a:lnT>
                    <a:lnB w="12700">
                      <a:solidFill>
                        <a:srgbClr val="0D227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public static void download(</a:t>
                      </a:r>
                      <a:r>
                        <a:rPr lang="en-US" altLang="ko-KR" sz="1200" kern="12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HttpServletRequest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 request, </a:t>
                      </a:r>
                      <a:r>
                        <a:rPr lang="en-US" altLang="ko-KR" sz="1200" kern="12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HttpServletResponse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 response, 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  <a:hlinkClick r:id="rId3"/>
                        </a:rPr>
                        <a:t>File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 file)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Gulim"/>
                      </a:endParaRPr>
                    </a:p>
                  </a:txBody>
                  <a:tcPr marL="36000" marR="36000" marT="36000" marB="36000" anchor="ctr">
                    <a:lnL w="12700">
                      <a:solidFill>
                        <a:srgbClr val="0D227D"/>
                      </a:solidFill>
                      <a:prstDash val="solid"/>
                    </a:lnL>
                    <a:lnR w="28575">
                      <a:solidFill>
                        <a:srgbClr val="0D227D"/>
                      </a:solidFill>
                      <a:prstDash val="solid"/>
                    </a:lnR>
                    <a:lnT w="12700">
                      <a:solidFill>
                        <a:srgbClr val="0D227D"/>
                      </a:solidFill>
                      <a:prstDash val="solid"/>
                    </a:lnT>
                    <a:lnB w="12700">
                      <a:solidFill>
                        <a:srgbClr val="0D227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44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lang="en-US" sz="12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Spring Controller</a:t>
                      </a:r>
                      <a:endParaRPr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Gulim"/>
                      </a:endParaRPr>
                    </a:p>
                  </a:txBody>
                  <a:tcPr marL="36000" marR="36000" marT="36000" marB="36000" anchor="ctr">
                    <a:lnL w="28575">
                      <a:solidFill>
                        <a:srgbClr val="0D227D"/>
                      </a:solidFill>
                      <a:prstDash val="solid"/>
                    </a:lnL>
                    <a:lnR w="12700">
                      <a:solidFill>
                        <a:srgbClr val="0D227D"/>
                      </a:solidFill>
                      <a:prstDash val="solid"/>
                    </a:lnR>
                    <a:lnT w="12700">
                      <a:solidFill>
                        <a:srgbClr val="0D227D"/>
                      </a:solidFill>
                      <a:prstDash val="solid"/>
                    </a:lnT>
                    <a:lnB w="12700">
                      <a:solidFill>
                        <a:srgbClr val="0D227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@</a:t>
                      </a:r>
                      <a:r>
                        <a:rPr lang="en-US" altLang="ko-KR" sz="1200" kern="12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RequestMapping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(value = "/files/{</a:t>
                      </a:r>
                      <a:r>
                        <a:rPr lang="en-US" altLang="ko-KR" sz="1200" kern="12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file_name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}", method = </a:t>
                      </a:r>
                      <a:r>
                        <a:rPr lang="en-US" altLang="ko-KR" sz="1200" kern="12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RequestMethod.GET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) public void </a:t>
                      </a:r>
                      <a:r>
                        <a:rPr lang="en-US" altLang="ko-KR" sz="1200" kern="12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getFile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( @</a:t>
                      </a:r>
                      <a:r>
                        <a:rPr lang="en-US" altLang="ko-KR" sz="1200" kern="12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PathVariable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("</a:t>
                      </a:r>
                      <a:r>
                        <a:rPr lang="en-US" altLang="ko-KR" sz="1200" kern="12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file_name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") String </a:t>
                      </a:r>
                      <a:r>
                        <a:rPr lang="en-US" altLang="ko-KR" sz="1200" kern="12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fileName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, </a:t>
                      </a:r>
                      <a:r>
                        <a:rPr lang="en-US" altLang="ko-KR" sz="1200" kern="12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HttpServletResponse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 response) { try { // get your file as </a:t>
                      </a:r>
                      <a:r>
                        <a:rPr lang="en-US" altLang="ko-KR" sz="1200" kern="12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InputStream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 </a:t>
                      </a:r>
                      <a:r>
                        <a:rPr lang="en-US" altLang="ko-KR" sz="1200" kern="12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InputStream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 is = ...; // copy it to response's </a:t>
                      </a:r>
                      <a:r>
                        <a:rPr lang="en-US" altLang="ko-KR" sz="1200" kern="12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OutputStream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 </a:t>
                      </a:r>
                      <a:r>
                        <a:rPr lang="en-US" altLang="ko-KR" sz="1200" kern="12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org.apache.commons.io.IOUtils.copy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(is, </a:t>
                      </a:r>
                      <a:r>
                        <a:rPr lang="en-US" altLang="ko-KR" sz="1200" kern="12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response.getOutputStream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()); </a:t>
                      </a:r>
                      <a:r>
                        <a:rPr lang="en-US" altLang="ko-KR" sz="1200" kern="12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response.flushBuffer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(); } catch (</a:t>
                      </a:r>
                      <a:r>
                        <a:rPr lang="en-US" altLang="ko-KR" sz="1200" kern="12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IOException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 ex) { log.info("Error writing file to output stream. Filename was '{}'", </a:t>
                      </a:r>
                      <a:r>
                        <a:rPr lang="en-US" altLang="ko-KR" sz="1200" kern="12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fileName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, ex); throw new </a:t>
                      </a:r>
                      <a:r>
                        <a:rPr lang="en-US" altLang="ko-KR" sz="1200" kern="12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RuntimeException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("</a:t>
                      </a:r>
                      <a:r>
                        <a:rPr lang="en-US" altLang="ko-KR" sz="1200" kern="12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IOError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 writing file to output stream"); } }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Gulim"/>
                      </a:endParaRPr>
                    </a:p>
                  </a:txBody>
                  <a:tcPr marL="36000" marR="36000" marT="36000" marB="36000" anchor="ctr">
                    <a:lnL w="12700">
                      <a:solidFill>
                        <a:srgbClr val="0D227D"/>
                      </a:solidFill>
                      <a:prstDash val="solid"/>
                    </a:lnL>
                    <a:lnR w="28575">
                      <a:solidFill>
                        <a:srgbClr val="0D227D"/>
                      </a:solidFill>
                      <a:prstDash val="solid"/>
                    </a:lnR>
                    <a:lnT w="12700">
                      <a:solidFill>
                        <a:srgbClr val="0D227D"/>
                      </a:solidFill>
                      <a:prstDash val="solid"/>
                    </a:lnT>
                    <a:lnB w="12700">
                      <a:solidFill>
                        <a:srgbClr val="0D227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2480" y="4149080"/>
            <a:ext cx="7205243" cy="338554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268288" indent="-268288" eaLnBrk="1" fontAlgn="auto" latinLnBrk="0" hangingPunct="1">
              <a:lnSpc>
                <a:spcPct val="110000"/>
              </a:lnSpc>
              <a:spcBef>
                <a:spcPct val="30000"/>
              </a:spcBef>
              <a:spcAft>
                <a:spcPts val="0"/>
              </a:spcAft>
              <a:buSzPct val="100000"/>
              <a:buFontTx/>
              <a:buBlip>
                <a:blip r:embed="rId2"/>
              </a:buBlip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kumimoji="0" sz="1600" b="0" kern="0">
                <a:solidFill>
                  <a:srgbClr val="000000"/>
                </a:solidFill>
                <a:latin typeface="산돌고딕 M" pitchFamily="18" charset="-127"/>
                <a:ea typeface="산돌고딕 M" pitchFamily="18" charset="-127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Java File Download</a:t>
            </a:r>
          </a:p>
        </p:txBody>
      </p:sp>
    </p:spTree>
    <p:extLst>
      <p:ext uri="{BB962C8B-B14F-4D97-AF65-F5344CB8AC3E}">
        <p14:creationId xmlns:p14="http://schemas.microsoft.com/office/powerpoint/2010/main" val="2537319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>
          <a:solidFill>
            <a:schemeClr val="tx1">
              <a:lumMod val="50000"/>
              <a:lumOff val="50000"/>
            </a:schemeClr>
          </a:solidFill>
          <a:headEnd/>
          <a:tailEnd/>
        </a:ln>
        <a:effectLst/>
      </a:spPr>
      <a:bodyPr wrap="none" rtlCol="0" anchor="ctr"/>
      <a:lstStyle>
        <a:defPPr algn="ctr" latinLnBrk="0">
          <a:lnSpc>
            <a:spcPts val="1400"/>
          </a:lnSpc>
          <a:spcAft>
            <a:spcPct val="30000"/>
          </a:spcAft>
          <a:defRPr sz="1200" kern="0" dirty="0" smtClean="0">
            <a:solidFill>
              <a:schemeClr val="tx1">
                <a:lumMod val="50000"/>
                <a:lumOff val="50000"/>
              </a:schemeClr>
            </a:solidFill>
            <a:latin typeface="산돌고딕 M" pitchFamily="18" charset="-127"/>
            <a:ea typeface="산돌고딕 M" pitchFamily="18" charset="-127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noFill/>
        <a:ln w="9525">
          <a:solidFill>
            <a:schemeClr val="tx1"/>
          </a:solidFill>
          <a:round/>
          <a:headEnd/>
          <a:tailEnd type="triangle" w="med" len="med"/>
        </a:ln>
      </a:spPr>
      <a:bodyPr/>
      <a:lstStyle/>
    </a:lnDef>
    <a:txDef>
      <a:spPr>
        <a:noFill/>
        <a:ln w="19050" algn="ctr">
          <a:noFill/>
          <a:round/>
          <a:headEnd/>
          <a:tailEnd/>
        </a:ln>
      </a:spPr>
      <a:bodyPr wrap="none" rtlCol="0">
        <a:spAutoFit/>
      </a:bodyPr>
      <a:lstStyle>
        <a:defPPr marL="268288" indent="-268288" fontAlgn="auto" latinLnBrk="0">
          <a:lnSpc>
            <a:spcPct val="110000"/>
          </a:lnSpc>
          <a:spcBef>
            <a:spcPct val="20000"/>
          </a:spcBef>
          <a:spcAft>
            <a:spcPts val="0"/>
          </a:spcAft>
          <a:buSzPct val="100000"/>
          <a:buFontTx/>
          <a:buBlip>
            <a:blip xmlns:r="http://schemas.openxmlformats.org/officeDocument/2006/relationships" r:embed="rId1"/>
          </a:buBlip>
          <a:defRPr kumimoji="0" sz="1400" b="1" kern="0" dirty="0" err="1" smtClean="0">
            <a:solidFill>
              <a:srgbClr val="000000"/>
            </a:solidFill>
            <a:latin typeface="산돌고딕 M" pitchFamily="18" charset="-127"/>
            <a:ea typeface="산돌고딕 M" pitchFamily="18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72106</TotalTime>
  <Words>690</Words>
  <Application>Microsoft Office PowerPoint</Application>
  <PresentationFormat>A4 용지(210x297mm)</PresentationFormat>
  <Paragraphs>236</Paragraphs>
  <Slides>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8" baseType="lpstr">
      <vt:lpstr>맑은 고딕</vt:lpstr>
      <vt:lpstr>나눔고딕</vt:lpstr>
      <vt:lpstr>Arial</vt:lpstr>
      <vt:lpstr>Wingdings 2</vt:lpstr>
      <vt:lpstr>굴림</vt:lpstr>
      <vt:lpstr>Calibri</vt:lpstr>
      <vt:lpstr>굴림</vt:lpstr>
      <vt:lpstr>맑은 고딕</vt:lpstr>
      <vt:lpstr>나눔고딕 ExtraBold</vt:lpstr>
      <vt:lpstr>산돌고딕 M</vt:lpstr>
      <vt:lpstr>1_Office 테마</vt:lpstr>
      <vt:lpstr>PowerPoint 프레젠테이션</vt:lpstr>
      <vt:lpstr>개요</vt:lpstr>
      <vt:lpstr>시스템 구성 아키텍처</vt:lpstr>
      <vt:lpstr>어플리케이션 아키텍처 – Module View</vt:lpstr>
      <vt:lpstr>서버 애플리케이션 컴포넌트</vt:lpstr>
      <vt:lpstr>시스템 구성 아키텍처</vt:lpstr>
      <vt:lpstr>프로토타이핑 기능</vt:lpstr>
    </vt:vector>
  </TitlesOfParts>
  <Company>Open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Open</dc:creator>
  <cp:lastModifiedBy>chang.sun won</cp:lastModifiedBy>
  <cp:revision>4426</cp:revision>
  <cp:lastPrinted>2012-05-24T11:23:39Z</cp:lastPrinted>
  <dcterms:created xsi:type="dcterms:W3CDTF">2010-06-22T00:01:58Z</dcterms:created>
  <dcterms:modified xsi:type="dcterms:W3CDTF">2016-09-06T10:03:40Z</dcterms:modified>
</cp:coreProperties>
</file>