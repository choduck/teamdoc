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89" r:id="rId2"/>
    <p:sldId id="1200" r:id="rId3"/>
    <p:sldId id="1206" r:id="rId4"/>
    <p:sldId id="1207" r:id="rId5"/>
    <p:sldId id="1208" r:id="rId6"/>
  </p:sldIdLst>
  <p:sldSz cx="9906000" cy="6858000" type="A4"/>
  <p:notesSz cx="6807200" cy="9939338"/>
  <p:embeddedFontLst>
    <p:embeddedFont>
      <p:font typeface="맑은 고딕" panose="020B0503020000020004" pitchFamily="50" charset="-127"/>
      <p:regular r:id="rId9"/>
      <p:bold r:id="rId10"/>
    </p:embeddedFont>
    <p:embeddedFont>
      <p:font typeface="Wingdings 2" panose="05020102010507070707" pitchFamily="18" charset="2"/>
      <p:regular r:id="rId11"/>
    </p:embeddedFont>
    <p:embeddedFont>
      <p:font typeface="산돌고딕 M" panose="020B0600000101010101" charset="-127"/>
      <p:regular r:id="rId12"/>
    </p:embeddedFont>
    <p:embeddedFont>
      <p:font typeface="나눔고딕 ExtraBold" panose="020B0600000101010101" charset="-127"/>
      <p:bold r:id="rId13"/>
    </p:embeddedFont>
    <p:embeddedFont>
      <p:font typeface="나눔고딕" panose="020B0600000101010101" charset="-127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pos="3120">
          <p15:clr>
            <a:srgbClr val="A4A3A4"/>
          </p15:clr>
        </p15:guide>
        <p15:guide id="4" pos="5978">
          <p15:clr>
            <a:srgbClr val="A4A3A4"/>
          </p15:clr>
        </p15:guide>
        <p15:guide id="5" pos="1260">
          <p15:clr>
            <a:srgbClr val="A4A3A4"/>
          </p15:clr>
        </p15:guide>
        <p15:guide id="6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  <p15:guide id="3" orient="horz" pos="3131">
          <p15:clr>
            <a:srgbClr val="A4A3A4"/>
          </p15:clr>
        </p15:guide>
        <p15:guide id="4" pos="214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DS" initials="S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C2"/>
    <a:srgbClr val="0000FF"/>
    <a:srgbClr val="FF5050"/>
    <a:srgbClr val="5E9EFF"/>
    <a:srgbClr val="000000"/>
    <a:srgbClr val="2F2FBF"/>
    <a:srgbClr val="009ED6"/>
    <a:srgbClr val="A2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6652" autoAdjust="0"/>
  </p:normalViewPr>
  <p:slideViewPr>
    <p:cSldViewPr showGuides="1">
      <p:cViewPr varScale="1">
        <p:scale>
          <a:sx n="115" d="100"/>
          <a:sy n="115" d="100"/>
        </p:scale>
        <p:origin x="1086" y="108"/>
      </p:cViewPr>
      <p:guideLst>
        <p:guide orient="horz" pos="572"/>
        <p:guide orient="horz" pos="2523"/>
        <p:guide pos="3120"/>
        <p:guide pos="5978"/>
        <p:guide pos="1260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4530"/>
    </p:cViewPr>
  </p:sorterViewPr>
  <p:notesViewPr>
    <p:cSldViewPr showGuides="1">
      <p:cViewPr varScale="1">
        <p:scale>
          <a:sx n="76" d="100"/>
          <a:sy n="76" d="100"/>
        </p:scale>
        <p:origin x="-2142" y="-114"/>
      </p:cViewPr>
      <p:guideLst>
        <p:guide orient="horz" pos="3108"/>
        <p:guide pos="2122"/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108" cy="496888"/>
          </a:xfrm>
          <a:prstGeom prst="rect">
            <a:avLst/>
          </a:prstGeom>
        </p:spPr>
        <p:txBody>
          <a:bodyPr vert="horz" lIns="92085" tIns="46043" rIns="92085" bIns="4604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490" y="1"/>
            <a:ext cx="2950108" cy="496888"/>
          </a:xfrm>
          <a:prstGeom prst="rect">
            <a:avLst/>
          </a:prstGeom>
        </p:spPr>
        <p:txBody>
          <a:bodyPr vert="horz" lIns="92085" tIns="46043" rIns="92085" bIns="4604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92B1A77-2514-48A0-BD20-7E252C7AE8D4}" type="datetimeFigureOut">
              <a:rPr lang="ko-KR" altLang="en-US"/>
              <a:pPr>
                <a:defRPr/>
              </a:pPr>
              <a:t>2016-09-28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53"/>
            <a:ext cx="2950108" cy="496887"/>
          </a:xfrm>
          <a:prstGeom prst="rect">
            <a:avLst/>
          </a:prstGeom>
        </p:spPr>
        <p:txBody>
          <a:bodyPr vert="horz" lIns="92085" tIns="46043" rIns="92085" bIns="4604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490" y="9440853"/>
            <a:ext cx="2950108" cy="496887"/>
          </a:xfrm>
          <a:prstGeom prst="rect">
            <a:avLst/>
          </a:prstGeom>
        </p:spPr>
        <p:txBody>
          <a:bodyPr vert="horz" lIns="92085" tIns="46043" rIns="92085" bIns="4604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E896C0-ABFC-4640-90F6-BEA7CFAD55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12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108" cy="496888"/>
          </a:xfrm>
          <a:prstGeom prst="rect">
            <a:avLst/>
          </a:prstGeom>
        </p:spPr>
        <p:txBody>
          <a:bodyPr vert="horz" lIns="93170" tIns="46585" rIns="93170" bIns="4658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490" y="1"/>
            <a:ext cx="2950108" cy="496888"/>
          </a:xfrm>
          <a:prstGeom prst="rect">
            <a:avLst/>
          </a:prstGeom>
        </p:spPr>
        <p:txBody>
          <a:bodyPr vert="horz" lIns="93170" tIns="46585" rIns="93170" bIns="4658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A335150-B964-4361-9F88-0596EA09F1A7}" type="datetimeFigureOut">
              <a:rPr lang="ko-KR" altLang="en-US"/>
              <a:pPr>
                <a:defRPr/>
              </a:pPr>
              <a:t>2016-09-28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5" rIns="93170" bIns="4658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42" y="4721226"/>
            <a:ext cx="5445119" cy="4471982"/>
          </a:xfrm>
          <a:prstGeom prst="rect">
            <a:avLst/>
          </a:prstGeom>
        </p:spPr>
        <p:txBody>
          <a:bodyPr vert="horz" lIns="93170" tIns="46585" rIns="93170" bIns="46585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53"/>
            <a:ext cx="2950108" cy="496887"/>
          </a:xfrm>
          <a:prstGeom prst="rect">
            <a:avLst/>
          </a:prstGeom>
        </p:spPr>
        <p:txBody>
          <a:bodyPr vert="horz" lIns="93170" tIns="46585" rIns="93170" bIns="4658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490" y="9440853"/>
            <a:ext cx="2950108" cy="496887"/>
          </a:xfrm>
          <a:prstGeom prst="rect">
            <a:avLst/>
          </a:prstGeom>
        </p:spPr>
        <p:txBody>
          <a:bodyPr vert="horz" lIns="93170" tIns="46585" rIns="93170" bIns="4658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EE1521E-0E94-4F91-B416-9BC668BD40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5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1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E1521E-0E94-4F91-B416-9BC668BD40F7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7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1357313"/>
            <a:ext cx="9906000" cy="164306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4800" b="1" dirty="0">
              <a:solidFill>
                <a:prstClr val="white"/>
              </a:solidFill>
            </a:endParaRP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A4C3C-21DF-4197-9F5D-84509D4370F2}" type="datetimeFigureOut">
              <a:rPr lang="ko-KR" altLang="en-US"/>
              <a:pPr>
                <a:defRPr/>
              </a:pPr>
              <a:t>2016-09-28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D8563-ACBB-4E40-87EE-AC553AB98C1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A432-65A6-4301-8132-FB2CBB4E8031}" type="datetimeFigureOut">
              <a:rPr lang="ko-KR" altLang="en-US"/>
              <a:pPr>
                <a:defRPr/>
              </a:pPr>
              <a:t>2016-09-28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7955C-9C63-457B-8582-A9D275EEFA4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F0DE-6E79-4B05-9974-9EF82E620E9C}" type="datetimeFigureOut">
              <a:rPr lang="ko-KR" altLang="en-US"/>
              <a:pPr>
                <a:defRPr/>
              </a:pPr>
              <a:t>2016-09-28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2227F-7A36-461C-9766-1D83FC66CB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 userDrawn="1"/>
        </p:nvSpPr>
        <p:spPr bwMode="auto">
          <a:xfrm>
            <a:off x="3627438" y="659765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  <p:pic>
        <p:nvPicPr>
          <p:cNvPr id="6" name="Picture 3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6597649"/>
            <a:ext cx="720080" cy="244475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8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4666357" y="6481258"/>
            <a:ext cx="574675" cy="3635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fld id="{16190FCE-2A33-4D39-9E95-7AFD816533BF}" type="slidenum">
              <a:rPr kumimoji="0" lang="ko-KR" altLang="en-US" sz="900" smtClean="0">
                <a:latin typeface="Calibri" pitchFamily="34" charset="0"/>
                <a:ea typeface="맑은 고딕" pitchFamily="50" charset="-127"/>
                <a:cs typeface="Calibri" pitchFamily="34" charset="0"/>
              </a:rPr>
              <a:pPr algn="ctr" eaLnBrk="1" latinLnBrk="0" hangingPunct="1">
                <a:defRPr/>
              </a:pPr>
              <a:t>‹#›</a:t>
            </a:fld>
            <a:endParaRPr kumimoji="0" lang="en-US" altLang="ko-KR" sz="900" dirty="0" smtClean="0">
              <a:latin typeface="Calibri" pitchFamily="34" charset="0"/>
              <a:ea typeface="맑은 고딕" pitchFamily="50" charset="-127"/>
              <a:cs typeface="Calibri" pitchFamily="34" charset="0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3627438" y="666994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113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7697787" cy="57785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50838" y="836613"/>
            <a:ext cx="9426575" cy="64770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40309-575B-4360-B403-25AC9C83F5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0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3B17EA-1083-4CF8-9F07-8184CB63137C}" type="datetimeFigureOut">
              <a:rPr lang="ko-KR" altLang="en-US"/>
              <a:pPr>
                <a:defRPr/>
              </a:pPr>
              <a:t>2016-09-28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8E731C5-69C2-4E8D-B466-3278D3FA575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88" r:id="rId1"/>
    <p:sldLayoutId id="2147486875" r:id="rId2"/>
    <p:sldLayoutId id="2147486876" r:id="rId3"/>
    <p:sldLayoutId id="2147486889" r:id="rId4"/>
    <p:sldLayoutId id="2147486890" r:id="rId5"/>
    <p:sldLayoutId id="2147486891" r:id="rId6"/>
    <p:sldLayoutId id="2147486892" r:id="rId7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68624" y="3429000"/>
            <a:ext cx="693420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sz="27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altLang="ko-KR" sz="24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2016. 08</a:t>
            </a:r>
            <a:endParaRPr lang="ko-KR" altLang="en-US" sz="2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 디지털 시민 시장실 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아키텍처 설계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95414" y="4720248"/>
            <a:ext cx="693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ko-KR" altLang="en-US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한국정보공학 </a:t>
            </a:r>
            <a:r>
              <a:rPr lang="ko-KR" altLang="en-US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디엔에스</a:t>
            </a: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ounded Rectangle 9"/>
          <p:cNvSpPr/>
          <p:nvPr/>
        </p:nvSpPr>
        <p:spPr bwMode="auto">
          <a:xfrm>
            <a:off x="800017" y="2978996"/>
            <a:ext cx="4148136" cy="1142039"/>
          </a:xfrm>
          <a:prstGeom prst="roundRect">
            <a:avLst>
              <a:gd name="adj" fmla="val 5344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FF0000"/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구성 아키텍처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77" name="꺾인 연결선 176"/>
          <p:cNvCxnSpPr>
            <a:endCxn id="185" idx="1"/>
          </p:cNvCxnSpPr>
          <p:nvPr/>
        </p:nvCxnSpPr>
        <p:spPr bwMode="auto">
          <a:xfrm rot="5400000" flipH="1" flipV="1">
            <a:off x="2033826" y="1380288"/>
            <a:ext cx="235916" cy="100429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 bwMode="auto">
          <a:xfrm>
            <a:off x="3003864" y="1556792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HTTP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129853" y="824420"/>
            <a:ext cx="5055466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 to Front-end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DB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데이터만 복제</a:t>
            </a:r>
            <a:r>
              <a:rPr lang="en-US" altLang="ko-KR" sz="14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Front-end 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와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네트워크망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내부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외부망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분리</a:t>
            </a:r>
            <a:endParaRPr lang="en-US" altLang="ko-KR" sz="14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1840540" y="837206"/>
            <a:ext cx="518176" cy="766571"/>
            <a:chOff x="665212" y="829405"/>
            <a:chExt cx="677702" cy="903390"/>
          </a:xfrm>
        </p:grpSpPr>
        <p:grpSp>
          <p:nvGrpSpPr>
            <p:cNvPr id="1031" name="그룹 1030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82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3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4" name="직사각형 183"/>
            <p:cNvSpPr/>
            <p:nvPr/>
          </p:nvSpPr>
          <p:spPr>
            <a:xfrm>
              <a:off x="705157" y="1442628"/>
              <a:ext cx="637757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USER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85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53929" y="1602550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TextBox 185"/>
          <p:cNvSpPr txBox="1"/>
          <p:nvPr/>
        </p:nvSpPr>
        <p:spPr>
          <a:xfrm>
            <a:off x="2661142" y="1927891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cxnSp>
        <p:nvCxnSpPr>
          <p:cNvPr id="192" name="꺾인 연결선 191"/>
          <p:cNvCxnSpPr>
            <a:stCxn id="392" idx="0"/>
            <a:endCxn id="185" idx="3"/>
          </p:cNvCxnSpPr>
          <p:nvPr/>
        </p:nvCxnSpPr>
        <p:spPr bwMode="auto">
          <a:xfrm rot="16200000" flipV="1">
            <a:off x="3254403" y="1487852"/>
            <a:ext cx="236147" cy="78939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85" idx="0"/>
            <a:endCxn id="184" idx="0"/>
          </p:cNvCxnSpPr>
          <p:nvPr/>
        </p:nvCxnSpPr>
        <p:spPr>
          <a:xfrm flipH="1" flipV="1">
            <a:off x="2114899" y="1357556"/>
            <a:ext cx="700955" cy="24499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/>
          <p:cNvSpPr/>
          <p:nvPr/>
        </p:nvSpPr>
        <p:spPr>
          <a:xfrm>
            <a:off x="416496" y="1494192"/>
            <a:ext cx="9063445" cy="2659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209220" y="3860059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Front-End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293535" y="6495620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Back-End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5446906" y="3111134"/>
            <a:ext cx="1465618" cy="848555"/>
            <a:chOff x="5000703" y="3156888"/>
            <a:chExt cx="1465618" cy="848555"/>
          </a:xfrm>
        </p:grpSpPr>
        <p:grpSp>
          <p:nvGrpSpPr>
            <p:cNvPr id="210" name="그룹 209"/>
            <p:cNvGrpSpPr/>
            <p:nvPr/>
          </p:nvGrpSpPr>
          <p:grpSpPr>
            <a:xfrm>
              <a:off x="5000703" y="3156888"/>
              <a:ext cx="1465618" cy="848555"/>
              <a:chOff x="6059016" y="2732452"/>
              <a:chExt cx="1465618" cy="848555"/>
            </a:xfrm>
          </p:grpSpPr>
          <p:sp>
            <p:nvSpPr>
              <p:cNvPr id="211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070301" y="2732452"/>
                <a:ext cx="1111251" cy="227013"/>
              </a:xfrm>
              <a:prstGeom prst="rect">
                <a:avLst/>
              </a:prstGeom>
              <a:ln>
                <a:prstDash val="sysDot"/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검색엔진서버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21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059016" y="2734639"/>
                <a:ext cx="1465618" cy="846368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pPr>
                  <a:defRPr/>
                </a:pPr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231" name="그룹 230"/>
            <p:cNvGrpSpPr/>
            <p:nvPr/>
          </p:nvGrpSpPr>
          <p:grpSpPr>
            <a:xfrm>
              <a:off x="5139511" y="3480230"/>
              <a:ext cx="1188000" cy="421530"/>
              <a:chOff x="962157" y="3573016"/>
              <a:chExt cx="1235092" cy="540895"/>
            </a:xfrm>
          </p:grpSpPr>
          <p:sp>
            <p:nvSpPr>
              <p:cNvPr id="232" name="직사각형 231"/>
              <p:cNvSpPr/>
              <p:nvPr/>
            </p:nvSpPr>
            <p:spPr bwMode="auto">
              <a:xfrm>
                <a:off x="962157" y="3573016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WISENUT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직사각형 232"/>
              <p:cNvSpPr/>
              <p:nvPr/>
            </p:nvSpPr>
            <p:spPr bwMode="auto">
              <a:xfrm>
                <a:off x="967444" y="3875182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236" name="Rectangle 28"/>
          <p:cNvSpPr>
            <a:spLocks noChangeAspect="1" noChangeArrowheads="1"/>
          </p:cNvSpPr>
          <p:nvPr/>
        </p:nvSpPr>
        <p:spPr bwMode="auto">
          <a:xfrm>
            <a:off x="416496" y="4215026"/>
            <a:ext cx="9063445" cy="213094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1100" b="1" dirty="0" smtClean="0">
                <a:ea typeface="나눔고딕" panose="020D0604000000000000" pitchFamily="50" charset="-127"/>
              </a:rPr>
              <a:t>Firewall</a:t>
            </a:r>
            <a:endParaRPr lang="en-US" altLang="ko-KR" sz="1100" b="1" dirty="0">
              <a:ea typeface="나눔고딕" panose="020D0604000000000000" pitchFamily="50" charset="-127"/>
            </a:endParaRPr>
          </a:p>
        </p:txBody>
      </p:sp>
      <p:grpSp>
        <p:nvGrpSpPr>
          <p:cNvPr id="240" name="그룹 239"/>
          <p:cNvGrpSpPr/>
          <p:nvPr/>
        </p:nvGrpSpPr>
        <p:grpSpPr>
          <a:xfrm>
            <a:off x="7127040" y="1830426"/>
            <a:ext cx="1465618" cy="848677"/>
            <a:chOff x="5471349" y="1989400"/>
            <a:chExt cx="1465618" cy="848677"/>
          </a:xfrm>
        </p:grpSpPr>
        <p:sp>
          <p:nvSpPr>
            <p:cNvPr id="241" name="Rectangle 28"/>
            <p:cNvSpPr>
              <a:spLocks noChangeAspect="1" noChangeArrowheads="1"/>
            </p:cNvSpPr>
            <p:nvPr/>
          </p:nvSpPr>
          <p:spPr bwMode="auto">
            <a:xfrm>
              <a:off x="5471349" y="1989400"/>
              <a:ext cx="1111251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서울데이터마트</a:t>
              </a:r>
              <a:endParaRPr lang="en-US" altLang="ko-KR" sz="900" b="1" dirty="0" smtClean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DB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42" name="그룹 241"/>
            <p:cNvGrpSpPr/>
            <p:nvPr/>
          </p:nvGrpSpPr>
          <p:grpSpPr>
            <a:xfrm>
              <a:off x="5615365" y="2359398"/>
              <a:ext cx="1188000" cy="421530"/>
              <a:chOff x="962157" y="3677473"/>
              <a:chExt cx="1235092" cy="540895"/>
            </a:xfrm>
          </p:grpSpPr>
          <p:sp>
            <p:nvSpPr>
              <p:cNvPr id="244" name="직사각형 243"/>
              <p:cNvSpPr/>
              <p:nvPr/>
            </p:nvSpPr>
            <p:spPr bwMode="auto">
              <a:xfrm>
                <a:off x="962157" y="3677473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ORACLE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45" name="직사각형 244"/>
              <p:cNvSpPr/>
              <p:nvPr/>
            </p:nvSpPr>
            <p:spPr bwMode="auto">
              <a:xfrm>
                <a:off x="967444" y="3979639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IBM AIX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43" name="Rectangle 26"/>
            <p:cNvSpPr>
              <a:spLocks noChangeAspect="1" noChangeArrowheads="1"/>
            </p:cNvSpPr>
            <p:nvPr/>
          </p:nvSpPr>
          <p:spPr bwMode="auto">
            <a:xfrm>
              <a:off x="5471349" y="1989401"/>
              <a:ext cx="1465618" cy="848676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247" name="Picture 33" descr="ICON_1Storage_NoShadow_Q20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027" y="1912805"/>
            <a:ext cx="178030" cy="19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3" name="그룹 1062"/>
          <p:cNvGrpSpPr/>
          <p:nvPr/>
        </p:nvGrpSpPr>
        <p:grpSpPr>
          <a:xfrm>
            <a:off x="5471349" y="1840065"/>
            <a:ext cx="1465618" cy="848677"/>
            <a:chOff x="5471349" y="1840065"/>
            <a:chExt cx="1465618" cy="848677"/>
          </a:xfrm>
        </p:grpSpPr>
        <p:grpSp>
          <p:nvGrpSpPr>
            <p:cNvPr id="24" name="그룹 23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20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서울데이터마트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DB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01" name="그룹 200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202" name="직사각형 20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ORACLE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03" name="직사각형 20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IBM AIX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0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62" name="그룹 1061"/>
          <p:cNvGrpSpPr/>
          <p:nvPr/>
        </p:nvGrpSpPr>
        <p:grpSpPr>
          <a:xfrm>
            <a:off x="6994231" y="2817676"/>
            <a:ext cx="977514" cy="332304"/>
            <a:chOff x="6569964" y="2779471"/>
            <a:chExt cx="977514" cy="332304"/>
          </a:xfrm>
        </p:grpSpPr>
        <p:pic>
          <p:nvPicPr>
            <p:cNvPr id="249" name="Picture 1116" descr="k2a_t2000_1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740949" y="2779471"/>
              <a:ext cx="601758" cy="190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0" name="TextBox 249"/>
            <p:cNvSpPr txBox="1"/>
            <p:nvPr/>
          </p:nvSpPr>
          <p:spPr>
            <a:xfrm>
              <a:off x="6569964" y="2927109"/>
              <a:ext cx="97751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 err="1">
                  <a:latin typeface="+mn-lt"/>
                </a:rPr>
                <a:t>데이터마트</a:t>
              </a:r>
              <a:r>
                <a:rPr lang="en-US" altLang="ko-KR" sz="600" dirty="0">
                  <a:latin typeface="+mn-lt"/>
                </a:rPr>
                <a:t> </a:t>
              </a:r>
              <a:r>
                <a:rPr lang="ko-KR" altLang="en-US" sz="600" dirty="0">
                  <a:latin typeface="+mn-lt"/>
                </a:rPr>
                <a:t>스토리지</a:t>
              </a:r>
            </a:p>
          </p:txBody>
        </p:sp>
      </p:grpSp>
      <p:cxnSp>
        <p:nvCxnSpPr>
          <p:cNvPr id="251" name="꺾인 연결선 250"/>
          <p:cNvCxnSpPr>
            <a:stCxn id="249" idx="1"/>
            <a:endCxn id="204" idx="2"/>
          </p:cNvCxnSpPr>
          <p:nvPr/>
        </p:nvCxnSpPr>
        <p:spPr bwMode="auto">
          <a:xfrm rot="10800000">
            <a:off x="6204158" y="2688743"/>
            <a:ext cx="961058" cy="2242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249" idx="3"/>
            <a:endCxn id="243" idx="2"/>
          </p:cNvCxnSpPr>
          <p:nvPr/>
        </p:nvCxnSpPr>
        <p:spPr bwMode="auto">
          <a:xfrm flipV="1">
            <a:off x="7766974" y="2679103"/>
            <a:ext cx="92875" cy="23387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/>
          <p:cNvSpPr/>
          <p:nvPr/>
        </p:nvSpPr>
        <p:spPr>
          <a:xfrm>
            <a:off x="416496" y="4507963"/>
            <a:ext cx="9063445" cy="2006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47" name="그룹 1046"/>
          <p:cNvGrpSpPr/>
          <p:nvPr/>
        </p:nvGrpSpPr>
        <p:grpSpPr>
          <a:xfrm>
            <a:off x="992559" y="3244673"/>
            <a:ext cx="1631378" cy="783971"/>
            <a:chOff x="977673" y="3268165"/>
            <a:chExt cx="1465618" cy="783971"/>
          </a:xfrm>
        </p:grpSpPr>
        <p:sp>
          <p:nvSpPr>
            <p:cNvPr id="280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#1 (Active)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81" name="그룹 280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283" name="직사각형 282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84" name="직사각형 283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92" name="직사각형 291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82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cxnSp>
        <p:nvCxnSpPr>
          <p:cNvPr id="359" name="꺾인 연결선 358"/>
          <p:cNvCxnSpPr>
            <a:stCxn id="398" idx="0"/>
            <a:endCxn id="361" idx="1"/>
          </p:cNvCxnSpPr>
          <p:nvPr/>
        </p:nvCxnSpPr>
        <p:spPr bwMode="auto">
          <a:xfrm rot="5400000" flipH="1" flipV="1">
            <a:off x="1668843" y="4546622"/>
            <a:ext cx="244020" cy="91222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1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46968" y="4718801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9" name="꺾인 연결선 368"/>
          <p:cNvCxnSpPr>
            <a:stCxn id="415" idx="0"/>
            <a:endCxn id="361" idx="3"/>
          </p:cNvCxnSpPr>
          <p:nvPr/>
        </p:nvCxnSpPr>
        <p:spPr bwMode="auto">
          <a:xfrm rot="16200000" flipV="1">
            <a:off x="2723049" y="4728495"/>
            <a:ext cx="244020" cy="54848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992559" y="1983765"/>
            <a:ext cx="1570963" cy="783971"/>
            <a:chOff x="992559" y="2072398"/>
            <a:chExt cx="1570963" cy="783971"/>
          </a:xfrm>
        </p:grpSpPr>
        <p:grpSp>
          <p:nvGrpSpPr>
            <p:cNvPr id="1046" name="그룹 1045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74" name="직사각형 173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75" name="직사각형 174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7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73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75" name="직사각형 374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72" name="그룹 1071"/>
          <p:cNvGrpSpPr/>
          <p:nvPr/>
        </p:nvGrpSpPr>
        <p:grpSpPr>
          <a:xfrm>
            <a:off x="3166013" y="1997173"/>
            <a:ext cx="1570963" cy="783971"/>
            <a:chOff x="3036971" y="2069180"/>
            <a:chExt cx="1570963" cy="783971"/>
          </a:xfrm>
        </p:grpSpPr>
        <p:grpSp>
          <p:nvGrpSpPr>
            <p:cNvPr id="386" name="그룹 385"/>
            <p:cNvGrpSpPr/>
            <p:nvPr/>
          </p:nvGrpSpPr>
          <p:grpSpPr>
            <a:xfrm>
              <a:off x="3036971" y="2069180"/>
              <a:ext cx="1570963" cy="783971"/>
              <a:chOff x="910792" y="2388852"/>
              <a:chExt cx="1465618" cy="783971"/>
            </a:xfrm>
          </p:grpSpPr>
          <p:grpSp>
            <p:nvGrpSpPr>
              <p:cNvPr id="387" name="그룹 38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389" name="직사각형 38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90" name="직사각형 38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8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1" name="직사각형 390"/>
            <p:cNvSpPr/>
            <p:nvPr/>
          </p:nvSpPr>
          <p:spPr bwMode="auto">
            <a:xfrm>
              <a:off x="3093724" y="2376027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392" name="Rectangle 28"/>
            <p:cNvSpPr>
              <a:spLocks noChangeAspect="1" noChangeArrowheads="1"/>
            </p:cNvSpPr>
            <p:nvPr/>
          </p:nvSpPr>
          <p:spPr bwMode="auto">
            <a:xfrm>
              <a:off x="3042610" y="2072629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</p:grpSp>
      <p:grpSp>
        <p:nvGrpSpPr>
          <p:cNvPr id="396" name="그룹 395"/>
          <p:cNvGrpSpPr/>
          <p:nvPr/>
        </p:nvGrpSpPr>
        <p:grpSpPr>
          <a:xfrm>
            <a:off x="739219" y="5123533"/>
            <a:ext cx="1570963" cy="783971"/>
            <a:chOff x="992559" y="2072398"/>
            <a:chExt cx="1570963" cy="783971"/>
          </a:xfrm>
        </p:grpSpPr>
        <p:grpSp>
          <p:nvGrpSpPr>
            <p:cNvPr id="397" name="그룹 396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00" name="그룹 399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02" name="직사각형 401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03" name="직사각형 402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0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8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99" name="직사각형 398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2523780" y="5123533"/>
            <a:ext cx="1570963" cy="783971"/>
            <a:chOff x="992559" y="2072398"/>
            <a:chExt cx="1570963" cy="783971"/>
          </a:xfrm>
        </p:grpSpPr>
        <p:grpSp>
          <p:nvGrpSpPr>
            <p:cNvPr id="414" name="그룹 413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17" name="그룹 41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19" name="직사각형 41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0" name="직사각형 41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1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5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416" name="직사각형 415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81" name="그룹 1080"/>
          <p:cNvGrpSpPr/>
          <p:nvPr/>
        </p:nvGrpSpPr>
        <p:grpSpPr>
          <a:xfrm>
            <a:off x="6305001" y="4831748"/>
            <a:ext cx="3102797" cy="1394190"/>
            <a:chOff x="6170683" y="4858623"/>
            <a:chExt cx="3108346" cy="1325504"/>
          </a:xfrm>
        </p:grpSpPr>
        <p:grpSp>
          <p:nvGrpSpPr>
            <p:cNvPr id="336" name="그룹 335"/>
            <p:cNvGrpSpPr/>
            <p:nvPr/>
          </p:nvGrpSpPr>
          <p:grpSpPr>
            <a:xfrm>
              <a:off x="6170683" y="4864360"/>
              <a:ext cx="1465618" cy="848677"/>
              <a:chOff x="5471349" y="1840065"/>
              <a:chExt cx="1465618" cy="848677"/>
            </a:xfrm>
          </p:grpSpPr>
          <p:grpSp>
            <p:nvGrpSpPr>
              <p:cNvPr id="337" name="그룹 336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339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#1 (Active)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340" name="그룹 339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342" name="직사각형 341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343" name="직사각형 342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341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338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22" name="그룹 421"/>
            <p:cNvGrpSpPr/>
            <p:nvPr/>
          </p:nvGrpSpPr>
          <p:grpSpPr>
            <a:xfrm>
              <a:off x="7813411" y="4858623"/>
              <a:ext cx="1465618" cy="848677"/>
              <a:chOff x="5471349" y="1840065"/>
              <a:chExt cx="1465618" cy="848677"/>
            </a:xfrm>
          </p:grpSpPr>
          <p:grpSp>
            <p:nvGrpSpPr>
              <p:cNvPr id="423" name="그룹 422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425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#2 (Standby)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426" name="그룹 425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428" name="직사각형 427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429" name="직사각형 428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427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424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4" name="그룹 433"/>
            <p:cNvGrpSpPr/>
            <p:nvPr/>
          </p:nvGrpSpPr>
          <p:grpSpPr>
            <a:xfrm>
              <a:off x="7813411" y="5851823"/>
              <a:ext cx="977514" cy="332304"/>
              <a:chOff x="6569964" y="2779471"/>
              <a:chExt cx="977514" cy="332304"/>
            </a:xfrm>
          </p:grpSpPr>
          <p:pic>
            <p:nvPicPr>
              <p:cNvPr id="435" name="Picture 1116" descr="k2a_t2000_1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740949" y="2779471"/>
                <a:ext cx="601758" cy="190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6" name="TextBox 435"/>
              <p:cNvSpPr txBox="1"/>
              <p:nvPr/>
            </p:nvSpPr>
            <p:spPr>
              <a:xfrm>
                <a:off x="6569964" y="2927109"/>
                <a:ext cx="97751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600" dirty="0" err="1">
                    <a:latin typeface="+mn-lt"/>
                  </a:rPr>
                  <a:t>데이터마트</a:t>
                </a:r>
                <a:r>
                  <a:rPr lang="en-US" altLang="ko-KR" sz="600" dirty="0">
                    <a:latin typeface="+mn-lt"/>
                  </a:rPr>
                  <a:t> </a:t>
                </a:r>
                <a:r>
                  <a:rPr lang="ko-KR" altLang="en-US" sz="600" dirty="0">
                    <a:latin typeface="+mn-lt"/>
                  </a:rPr>
                  <a:t>스토리지</a:t>
                </a:r>
              </a:p>
            </p:txBody>
          </p:sp>
        </p:grpSp>
        <p:cxnSp>
          <p:nvCxnSpPr>
            <p:cNvPr id="437" name="꺾인 연결선 436"/>
            <p:cNvCxnSpPr>
              <a:stCxn id="435" idx="3"/>
              <a:endCxn id="427" idx="2"/>
            </p:cNvCxnSpPr>
            <p:nvPr/>
          </p:nvCxnSpPr>
          <p:spPr bwMode="auto">
            <a:xfrm flipH="1" flipV="1">
              <a:off x="8546220" y="5707300"/>
              <a:ext cx="39934" cy="239822"/>
            </a:xfrm>
            <a:prstGeom prst="bentConnector4">
              <a:avLst>
                <a:gd name="adj1" fmla="val -572445"/>
                <a:gd name="adj2" fmla="val 69868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꺾인 연결선 439"/>
            <p:cNvCxnSpPr>
              <a:stCxn id="435" idx="1"/>
              <a:endCxn id="343" idx="2"/>
            </p:cNvCxnSpPr>
            <p:nvPr/>
          </p:nvCxnSpPr>
          <p:spPr bwMode="auto">
            <a:xfrm rot="10800000">
              <a:off x="6911242" y="5655888"/>
              <a:ext cx="1073154" cy="291234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6" name="그룹 445"/>
          <p:cNvGrpSpPr/>
          <p:nvPr/>
        </p:nvGrpSpPr>
        <p:grpSpPr>
          <a:xfrm>
            <a:off x="4640133" y="4842960"/>
            <a:ext cx="1465618" cy="1023194"/>
            <a:chOff x="5471349" y="1840065"/>
            <a:chExt cx="1465618" cy="848677"/>
          </a:xfrm>
        </p:grpSpPr>
        <p:grpSp>
          <p:nvGrpSpPr>
            <p:cNvPr id="447" name="그룹 446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449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ETL</a:t>
                </a:r>
                <a:r>
                  <a:rPr lang="ko-KR" altLang="en-US" sz="900" b="1" dirty="0" err="1" smtClean="0">
                    <a:ea typeface="나눔고딕" panose="020D0604000000000000" pitchFamily="50" charset="-127"/>
                  </a:rPr>
                  <a:t>연동서버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50" name="그룹 449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452" name="직사각형 45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err="1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Talend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53" name="직사각형 45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CentOS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5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4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60" name="꺾인 연결선 459"/>
          <p:cNvCxnSpPr>
            <a:stCxn id="448" idx="0"/>
            <a:endCxn id="338" idx="0"/>
          </p:cNvCxnSpPr>
          <p:nvPr/>
        </p:nvCxnSpPr>
        <p:spPr bwMode="auto">
          <a:xfrm rot="5400000" flipH="1" flipV="1">
            <a:off x="6741831" y="4096990"/>
            <a:ext cx="17158" cy="1662585"/>
          </a:xfrm>
          <a:prstGeom prst="bentConnector3">
            <a:avLst>
              <a:gd name="adj1" fmla="val 1432323"/>
            </a:avLst>
          </a:prstGeom>
          <a:ln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꺾인 연결선 462"/>
          <p:cNvCxnSpPr>
            <a:stCxn id="448" idx="1"/>
            <a:endCxn id="204" idx="0"/>
          </p:cNvCxnSpPr>
          <p:nvPr/>
        </p:nvCxnSpPr>
        <p:spPr bwMode="auto">
          <a:xfrm rot="10800000" flipH="1">
            <a:off x="5830102" y="1840066"/>
            <a:ext cx="374055" cy="3212382"/>
          </a:xfrm>
          <a:prstGeom prst="bentConnector4">
            <a:avLst>
              <a:gd name="adj1" fmla="val -157023"/>
              <a:gd name="adj2" fmla="val 107116"/>
            </a:avLst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직사각형 465"/>
          <p:cNvSpPr/>
          <p:nvPr/>
        </p:nvSpPr>
        <p:spPr bwMode="auto">
          <a:xfrm>
            <a:off x="7339072" y="1491278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467" name="직사각형 466"/>
          <p:cNvSpPr/>
          <p:nvPr/>
        </p:nvSpPr>
        <p:spPr bwMode="auto">
          <a:xfrm>
            <a:off x="8163479" y="4512966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cxnSp>
        <p:nvCxnSpPr>
          <p:cNvPr id="468" name="꺾인 연결선 467"/>
          <p:cNvCxnSpPr>
            <a:stCxn id="424" idx="0"/>
            <a:endCxn id="338" idx="0"/>
          </p:cNvCxnSpPr>
          <p:nvPr/>
        </p:nvCxnSpPr>
        <p:spPr bwMode="auto">
          <a:xfrm rot="16200000" flipH="1" flipV="1">
            <a:off x="8398584" y="4096788"/>
            <a:ext cx="6034" cy="1639795"/>
          </a:xfrm>
          <a:prstGeom prst="bentConnector3">
            <a:avLst>
              <a:gd name="adj1" fmla="val -3788532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꺾인 연결선 471"/>
          <p:cNvCxnSpPr>
            <a:stCxn id="247" idx="0"/>
            <a:endCxn id="248" idx="0"/>
          </p:cNvCxnSpPr>
          <p:nvPr/>
        </p:nvCxnSpPr>
        <p:spPr bwMode="auto">
          <a:xfrm rot="16200000" flipH="1" flipV="1">
            <a:off x="7581615" y="1081523"/>
            <a:ext cx="5145" cy="1667708"/>
          </a:xfrm>
          <a:prstGeom prst="bentConnector3">
            <a:avLst>
              <a:gd name="adj1" fmla="val -4813450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직사각형 476"/>
          <p:cNvSpPr/>
          <p:nvPr/>
        </p:nvSpPr>
        <p:spPr bwMode="auto">
          <a:xfrm>
            <a:off x="5004730" y="2755033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데이터복제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6585021" y="3714752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err="1" smtClean="0">
                <a:solidFill>
                  <a:srgbClr val="FF0000"/>
                </a:solidFill>
                <a:ea typeface="나눔고딕" panose="020D0604000000000000" pitchFamily="50" charset="-127"/>
              </a:rPr>
              <a:t>옵션검토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cxnSp>
        <p:nvCxnSpPr>
          <p:cNvPr id="145" name="꺾인 연결선 144"/>
          <p:cNvCxnSpPr>
            <a:stCxn id="388" idx="2"/>
            <a:endCxn id="158" idx="0"/>
          </p:cNvCxnSpPr>
          <p:nvPr/>
        </p:nvCxnSpPr>
        <p:spPr bwMode="auto">
          <a:xfrm rot="5400000">
            <a:off x="3329011" y="2302460"/>
            <a:ext cx="143800" cy="110116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76" idx="2"/>
            <a:endCxn id="158" idx="0"/>
          </p:cNvCxnSpPr>
          <p:nvPr/>
        </p:nvCxnSpPr>
        <p:spPr bwMode="auto">
          <a:xfrm rot="16200000" flipH="1">
            <a:off x="2235579" y="2310197"/>
            <a:ext cx="157208" cy="107228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그룹 134"/>
          <p:cNvGrpSpPr/>
          <p:nvPr/>
        </p:nvGrpSpPr>
        <p:grpSpPr>
          <a:xfrm>
            <a:off x="3146572" y="3235798"/>
            <a:ext cx="1631378" cy="783971"/>
            <a:chOff x="977673" y="3268165"/>
            <a:chExt cx="1465618" cy="783971"/>
          </a:xfrm>
        </p:grpSpPr>
        <p:sp>
          <p:nvSpPr>
            <p:cNvPr id="136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137" name="그룹 136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139" name="직사각형 138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40" name="직사각형 139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41" name="직사각형 140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38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58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88401" y="2924944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3" name="꺾인 연결선 162"/>
          <p:cNvCxnSpPr>
            <a:stCxn id="138" idx="0"/>
            <a:endCxn id="158" idx="3"/>
          </p:cNvCxnSpPr>
          <p:nvPr/>
        </p:nvCxnSpPr>
        <p:spPr bwMode="auto">
          <a:xfrm rot="16200000" flipV="1">
            <a:off x="3412792" y="2686329"/>
            <a:ext cx="148929" cy="95001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 165"/>
          <p:cNvCxnSpPr>
            <a:stCxn id="282" idx="0"/>
            <a:endCxn id="158" idx="1"/>
          </p:cNvCxnSpPr>
          <p:nvPr/>
        </p:nvCxnSpPr>
        <p:spPr bwMode="auto">
          <a:xfrm rot="5400000" flipH="1" flipV="1">
            <a:off x="2169422" y="2725695"/>
            <a:ext cx="157804" cy="88015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2682305" y="3226193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444" name="직사각형 443"/>
          <p:cNvSpPr/>
          <p:nvPr/>
        </p:nvSpPr>
        <p:spPr bwMode="auto">
          <a:xfrm>
            <a:off x="4444688" y="3945921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FF0000"/>
                </a:solidFill>
                <a:ea typeface="나눔고딕" panose="020D0604000000000000" pitchFamily="50" charset="-127"/>
              </a:rPr>
              <a:t>신규장비도입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51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smtClean="0">
                <a:latin typeface="+mn-lt"/>
                <a:ea typeface="나눔고딕 ExtraBold" panose="020D0904000000000000" pitchFamily="50" charset="-127"/>
              </a:rPr>
              <a:t>어플리케이션 아키텍처 </a:t>
            </a:r>
            <a:r>
              <a:rPr lang="en-US" altLang="ko-KR" dirty="0" smtClean="0">
                <a:latin typeface="+mn-lt"/>
                <a:ea typeface="나눔고딕 ExtraBold" panose="020D0904000000000000" pitchFamily="50" charset="-127"/>
              </a:rPr>
              <a:t>– Module View (Layered Style)</a:t>
            </a:r>
            <a:endParaRPr lang="ko-KR" altLang="en-US" dirty="0">
              <a:latin typeface="+mn-lt"/>
              <a:ea typeface="나눔고딕 ExtraBold" panose="020D0904000000000000" pitchFamily="50" charset="-127"/>
            </a:endParaRPr>
          </a:p>
        </p:txBody>
      </p:sp>
      <p:sp>
        <p:nvSpPr>
          <p:cNvPr id="51" name="TextBox 102"/>
          <p:cNvSpPr txBox="1">
            <a:spLocks noChangeArrowheads="1"/>
          </p:cNvSpPr>
          <p:nvPr/>
        </p:nvSpPr>
        <p:spPr bwMode="auto">
          <a:xfrm>
            <a:off x="3705293" y="702880"/>
            <a:ext cx="3230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서울시 디지털 </a:t>
            </a:r>
            <a:r>
              <a:rPr lang="ko-KR" altLang="en-US" sz="1400" kern="0" dirty="0" err="1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시민시장실</a:t>
            </a: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0" lang="ko-KR" altLang="en-US" sz="1400" kern="0" dirty="0">
              <a:ln>
                <a:solidFill>
                  <a:sysClr val="windowText" lastClr="000000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gray">
          <a:xfrm>
            <a:off x="3999456" y="5389716"/>
            <a:ext cx="1121585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Framework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3999456" y="4383814"/>
            <a:ext cx="4382454" cy="922044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          </a:t>
            </a:r>
            <a:r>
              <a:rPr kumimoji="0" lang="en-US" altLang="ko-KR" sz="1000" b="1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DataService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Layer</a:t>
            </a:r>
          </a:p>
        </p:txBody>
      </p:sp>
      <p:sp>
        <p:nvSpPr>
          <p:cNvPr id="67" name="Rectangle 5"/>
          <p:cNvSpPr>
            <a:spLocks noChangeArrowheads="1"/>
          </p:cNvSpPr>
          <p:nvPr/>
        </p:nvSpPr>
        <p:spPr bwMode="gray">
          <a:xfrm>
            <a:off x="8478930" y="1856262"/>
            <a:ext cx="1206900" cy="3449596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Global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8" name="Rectangle 5"/>
          <p:cNvSpPr>
            <a:spLocks noChangeArrowheads="1"/>
          </p:cNvSpPr>
          <p:nvPr/>
        </p:nvSpPr>
        <p:spPr bwMode="gray">
          <a:xfrm>
            <a:off x="3999456" y="1856261"/>
            <a:ext cx="4382454" cy="2459518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 Layer</a:t>
            </a: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3999456" y="1185588"/>
            <a:ext cx="5686374" cy="568445"/>
          </a:xfrm>
          <a:prstGeom prst="rect">
            <a:avLst/>
          </a:prstGeom>
          <a:gradFill>
            <a:gsLst>
              <a:gs pos="0">
                <a:schemeClr val="bg1"/>
              </a:gs>
              <a:gs pos="37000">
                <a:schemeClr val="accent1">
                  <a:lumMod val="45000"/>
                  <a:lumOff val="55000"/>
                </a:schemeClr>
              </a:gs>
              <a:gs pos="7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Façade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1879959" y="1180697"/>
            <a:ext cx="1748192" cy="3760471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Presentation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8593534" y="2254070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Domain POJO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593534" y="2630687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Configuration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593534" y="300730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4" name="Rectangle 5"/>
          <p:cNvSpPr>
            <a:spLocks noChangeArrowheads="1"/>
          </p:cNvSpPr>
          <p:nvPr/>
        </p:nvSpPr>
        <p:spPr bwMode="gray">
          <a:xfrm>
            <a:off x="8593534" y="3381103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5" name="Rectangle 5"/>
          <p:cNvSpPr>
            <a:spLocks noChangeArrowheads="1"/>
          </p:cNvSpPr>
          <p:nvPr/>
        </p:nvSpPr>
        <p:spPr bwMode="gray">
          <a:xfrm>
            <a:off x="8593534" y="3753594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AuthRole</a:t>
            </a:r>
            <a:endParaRPr lang="en-US" altLang="ko-KR" sz="900" dirty="0" smtClean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6" name="Rectangle 5"/>
          <p:cNvSpPr>
            <a:spLocks noChangeArrowheads="1"/>
          </p:cNvSpPr>
          <p:nvPr/>
        </p:nvSpPr>
        <p:spPr bwMode="gray">
          <a:xfrm>
            <a:off x="8593534" y="4128186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MetaData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7" name="Rectangle 5"/>
          <p:cNvSpPr>
            <a:spLocks noChangeArrowheads="1"/>
          </p:cNvSpPr>
          <p:nvPr/>
        </p:nvSpPr>
        <p:spPr bwMode="gray">
          <a:xfrm>
            <a:off x="4118986" y="4851207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DBMS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gray">
          <a:xfrm>
            <a:off x="5180579" y="4854225"/>
            <a:ext cx="964272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OpenAPI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9" name="Rectangle 5"/>
          <p:cNvSpPr>
            <a:spLocks noChangeArrowheads="1"/>
          </p:cNvSpPr>
          <p:nvPr/>
        </p:nvSpPr>
        <p:spPr bwMode="gray">
          <a:xfrm>
            <a:off x="6243195" y="4852642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File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0" name="Rectangle 5"/>
          <p:cNvSpPr>
            <a:spLocks noChangeArrowheads="1"/>
          </p:cNvSpPr>
          <p:nvPr/>
        </p:nvSpPr>
        <p:spPr bwMode="gray">
          <a:xfrm>
            <a:off x="7299496" y="4860210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gray">
          <a:xfrm>
            <a:off x="8593534" y="450361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MultiLanguage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2" name="Rectangle 5"/>
          <p:cNvSpPr>
            <a:spLocks noChangeArrowheads="1"/>
          </p:cNvSpPr>
          <p:nvPr/>
        </p:nvSpPr>
        <p:spPr bwMode="gray">
          <a:xfrm>
            <a:off x="8593534" y="4880831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Message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3" name="Rectangle 5"/>
          <p:cNvSpPr>
            <a:spLocks noChangeArrowheads="1"/>
          </p:cNvSpPr>
          <p:nvPr/>
        </p:nvSpPr>
        <p:spPr bwMode="gray">
          <a:xfrm>
            <a:off x="5178890" y="2205006"/>
            <a:ext cx="1101999" cy="120065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Business</a:t>
            </a:r>
            <a:b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Logic</a:t>
            </a:r>
          </a:p>
        </p:txBody>
      </p:sp>
      <p:sp>
        <p:nvSpPr>
          <p:cNvPr id="84" name="Rectangle 5"/>
          <p:cNvSpPr>
            <a:spLocks noChangeArrowheads="1"/>
          </p:cNvSpPr>
          <p:nvPr/>
        </p:nvSpPr>
        <p:spPr bwMode="gray">
          <a:xfrm>
            <a:off x="7414358" y="2220050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IoC Container</a:t>
            </a:r>
          </a:p>
        </p:txBody>
      </p:sp>
      <p:sp>
        <p:nvSpPr>
          <p:cNvPr id="85" name="Rectangle 5"/>
          <p:cNvSpPr>
            <a:spLocks noChangeArrowheads="1"/>
          </p:cNvSpPr>
          <p:nvPr/>
        </p:nvSpPr>
        <p:spPr bwMode="gray">
          <a:xfrm>
            <a:off x="7414356" y="263976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Transaction</a:t>
            </a:r>
          </a:p>
        </p:txBody>
      </p:sp>
      <p:sp>
        <p:nvSpPr>
          <p:cNvPr id="86" name="Rectangle 5"/>
          <p:cNvSpPr>
            <a:spLocks noChangeArrowheads="1"/>
          </p:cNvSpPr>
          <p:nvPr/>
        </p:nvSpPr>
        <p:spPr bwMode="gray">
          <a:xfrm>
            <a:off x="7414356" y="3054754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</a:p>
        </p:txBody>
      </p:sp>
      <p:sp>
        <p:nvSpPr>
          <p:cNvPr id="88" name="Rectangle 5"/>
          <p:cNvSpPr>
            <a:spLocks noChangeArrowheads="1"/>
          </p:cNvSpPr>
          <p:nvPr/>
        </p:nvSpPr>
        <p:spPr bwMode="gray">
          <a:xfrm>
            <a:off x="7414356" y="386355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gray">
          <a:xfrm>
            <a:off x="7414356" y="3461471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Security</a:t>
            </a: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gray">
          <a:xfrm>
            <a:off x="4142916" y="2203471"/>
            <a:ext cx="837533" cy="1203807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1" name="Rectangle 5"/>
          <p:cNvSpPr>
            <a:spLocks noChangeArrowheads="1"/>
          </p:cNvSpPr>
          <p:nvPr/>
        </p:nvSpPr>
        <p:spPr bwMode="gray">
          <a:xfrm>
            <a:off x="6485542" y="2205744"/>
            <a:ext cx="809553" cy="119992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After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gray">
          <a:xfrm>
            <a:off x="3999456" y="6146187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Java V/M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3" name="Rectangle 5"/>
          <p:cNvSpPr>
            <a:spLocks noChangeArrowheads="1"/>
          </p:cNvSpPr>
          <p:nvPr/>
        </p:nvSpPr>
        <p:spPr bwMode="gray">
          <a:xfrm>
            <a:off x="3999456" y="5805264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Jboss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AS - WAS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6" name="Rectangle 5"/>
          <p:cNvSpPr>
            <a:spLocks noChangeArrowheads="1"/>
          </p:cNvSpPr>
          <p:nvPr/>
        </p:nvSpPr>
        <p:spPr bwMode="gray">
          <a:xfrm>
            <a:off x="5192453" y="5386426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Team Suite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gray">
          <a:xfrm>
            <a:off x="6331229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STS Plug-in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8" name="Rectangle 5"/>
          <p:cNvSpPr>
            <a:spLocks noChangeArrowheads="1"/>
          </p:cNvSpPr>
          <p:nvPr/>
        </p:nvSpPr>
        <p:spPr bwMode="gray">
          <a:xfrm>
            <a:off x="7470005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Code Template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9" name="Rectangle 5"/>
          <p:cNvSpPr>
            <a:spLocks noChangeArrowheads="1"/>
          </p:cNvSpPr>
          <p:nvPr/>
        </p:nvSpPr>
        <p:spPr bwMode="gray">
          <a:xfrm>
            <a:off x="8605286" y="5383791"/>
            <a:ext cx="1080543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Utility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1" name="Rectangle 5"/>
          <p:cNvSpPr>
            <a:spLocks noChangeArrowheads="1"/>
          </p:cNvSpPr>
          <p:nvPr/>
        </p:nvSpPr>
        <p:spPr bwMode="gray">
          <a:xfrm>
            <a:off x="4142916" y="1415912"/>
            <a:ext cx="5422531" cy="2470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ServicePipeLineBroker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gray">
          <a:xfrm>
            <a:off x="2067106" y="1444017"/>
            <a:ext cx="1193705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3" name="Rectangle 5"/>
          <p:cNvSpPr>
            <a:spLocks noChangeArrowheads="1"/>
          </p:cNvSpPr>
          <p:nvPr/>
        </p:nvSpPr>
        <p:spPr bwMode="gray">
          <a:xfrm>
            <a:off x="2059225" y="1911369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4" name="Rectangle 5"/>
          <p:cNvSpPr>
            <a:spLocks noChangeArrowheads="1"/>
          </p:cNvSpPr>
          <p:nvPr/>
        </p:nvSpPr>
        <p:spPr bwMode="gray">
          <a:xfrm>
            <a:off x="2059224" y="2420888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5" name="Rectangle 5"/>
          <p:cNvSpPr>
            <a:spLocks noChangeArrowheads="1"/>
          </p:cNvSpPr>
          <p:nvPr/>
        </p:nvSpPr>
        <p:spPr bwMode="gray">
          <a:xfrm>
            <a:off x="2064652" y="4478123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-CANVAS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6" name="Rectangle 5"/>
          <p:cNvSpPr>
            <a:spLocks noChangeArrowheads="1"/>
          </p:cNvSpPr>
          <p:nvPr/>
        </p:nvSpPr>
        <p:spPr bwMode="gray">
          <a:xfrm>
            <a:off x="2067106" y="4106667"/>
            <a:ext cx="1197978" cy="334345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 View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Connector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7" name="Rectangle 5"/>
          <p:cNvSpPr>
            <a:spLocks noChangeArrowheads="1"/>
          </p:cNvSpPr>
          <p:nvPr/>
        </p:nvSpPr>
        <p:spPr bwMode="gray">
          <a:xfrm>
            <a:off x="2060241" y="2964114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JSP/HTML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8" name="꺾인 연결선 117"/>
          <p:cNvCxnSpPr>
            <a:stCxn id="103" idx="0"/>
            <a:endCxn id="102" idx="2"/>
          </p:cNvCxnSpPr>
          <p:nvPr/>
        </p:nvCxnSpPr>
        <p:spPr>
          <a:xfrm rot="5400000" flipH="1" flipV="1">
            <a:off x="2601151" y="1848561"/>
            <a:ext cx="123812" cy="18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9" name="꺾인 연결선 118"/>
          <p:cNvCxnSpPr>
            <a:stCxn id="101" idx="1"/>
            <a:endCxn id="103" idx="3"/>
          </p:cNvCxnSpPr>
          <p:nvPr/>
        </p:nvCxnSpPr>
        <p:spPr>
          <a:xfrm rot="10800000" flipV="1">
            <a:off x="3265084" y="1539437"/>
            <a:ext cx="877832" cy="54370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0" name="꺾인 연결선 119"/>
          <p:cNvCxnSpPr>
            <a:stCxn id="90" idx="0"/>
            <a:endCxn id="101" idx="2"/>
          </p:cNvCxnSpPr>
          <p:nvPr/>
        </p:nvCxnSpPr>
        <p:spPr>
          <a:xfrm rot="5400000" flipH="1" flipV="1">
            <a:off x="5437678" y="786968"/>
            <a:ext cx="540509" cy="2292499"/>
          </a:xfrm>
          <a:prstGeom prst="bentConnector3">
            <a:avLst>
              <a:gd name="adj1" fmla="val 73334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2" name="Rectangle 5"/>
          <p:cNvSpPr>
            <a:spLocks noChangeArrowheads="1"/>
          </p:cNvSpPr>
          <p:nvPr/>
        </p:nvSpPr>
        <p:spPr bwMode="gray">
          <a:xfrm>
            <a:off x="4142917" y="3488270"/>
            <a:ext cx="3152178" cy="370036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Runnable AOP</a:t>
            </a:r>
          </a:p>
        </p:txBody>
      </p:sp>
      <p:sp>
        <p:nvSpPr>
          <p:cNvPr id="123" name="Rectangle 5"/>
          <p:cNvSpPr>
            <a:spLocks noChangeArrowheads="1"/>
          </p:cNvSpPr>
          <p:nvPr/>
        </p:nvSpPr>
        <p:spPr bwMode="gray">
          <a:xfrm>
            <a:off x="4139175" y="3910405"/>
            <a:ext cx="3155920" cy="26640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 AOP</a:t>
            </a:r>
          </a:p>
        </p:txBody>
      </p:sp>
      <p:cxnSp>
        <p:nvCxnSpPr>
          <p:cNvPr id="138" name="꺾인 연결선 137"/>
          <p:cNvCxnSpPr>
            <a:stCxn id="104" idx="0"/>
            <a:endCxn id="103" idx="2"/>
          </p:cNvCxnSpPr>
          <p:nvPr/>
        </p:nvCxnSpPr>
        <p:spPr>
          <a:xfrm rot="5400000" flipH="1" flipV="1">
            <a:off x="2579165" y="2337899"/>
            <a:ext cx="16597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5" name="꺾인 연결선 144"/>
          <p:cNvCxnSpPr>
            <a:stCxn id="105" idx="3"/>
            <a:endCxn id="104" idx="3"/>
          </p:cNvCxnSpPr>
          <p:nvPr/>
        </p:nvCxnSpPr>
        <p:spPr>
          <a:xfrm flipV="1">
            <a:off x="3262630" y="2592658"/>
            <a:ext cx="2453" cy="2057235"/>
          </a:xfrm>
          <a:prstGeom prst="bentConnector3">
            <a:avLst>
              <a:gd name="adj1" fmla="val 9419201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9" name="꺾인 연결선 148"/>
          <p:cNvCxnSpPr>
            <a:stCxn id="80" idx="0"/>
            <a:endCxn id="68" idx="2"/>
          </p:cNvCxnSpPr>
          <p:nvPr/>
        </p:nvCxnSpPr>
        <p:spPr>
          <a:xfrm rot="16200000" flipV="1">
            <a:off x="6713687" y="3792776"/>
            <a:ext cx="544431" cy="159043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2059225" y="3341837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EXCEL/PDF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1" name="Rectangle 5"/>
          <p:cNvSpPr>
            <a:spLocks noChangeArrowheads="1"/>
          </p:cNvSpPr>
          <p:nvPr/>
        </p:nvSpPr>
        <p:spPr bwMode="gray">
          <a:xfrm>
            <a:off x="2059225" y="3724252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XML/JSON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70" name="꺾인 연결선 169"/>
          <p:cNvCxnSpPr>
            <a:stCxn id="107" idx="3"/>
            <a:endCxn id="104" idx="3"/>
          </p:cNvCxnSpPr>
          <p:nvPr/>
        </p:nvCxnSpPr>
        <p:spPr>
          <a:xfrm flipV="1">
            <a:off x="3258219" y="2592658"/>
            <a:ext cx="6864" cy="543226"/>
          </a:xfrm>
          <a:prstGeom prst="bentConnector3">
            <a:avLst>
              <a:gd name="adj1" fmla="val 343042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3" name="꺾인 연결선 172"/>
          <p:cNvCxnSpPr>
            <a:stCxn id="160" idx="3"/>
            <a:endCxn id="104" idx="3"/>
          </p:cNvCxnSpPr>
          <p:nvPr/>
        </p:nvCxnSpPr>
        <p:spPr>
          <a:xfrm flipV="1">
            <a:off x="3257203" y="2592658"/>
            <a:ext cx="7880" cy="920949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6" name="꺾인 연결선 175"/>
          <p:cNvCxnSpPr>
            <a:stCxn id="161" idx="3"/>
            <a:endCxn id="104" idx="3"/>
          </p:cNvCxnSpPr>
          <p:nvPr/>
        </p:nvCxnSpPr>
        <p:spPr>
          <a:xfrm flipV="1">
            <a:off x="3257203" y="2592658"/>
            <a:ext cx="7880" cy="1303364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484839" y="3910405"/>
            <a:ext cx="1117099" cy="759658"/>
            <a:chOff x="10713101" y="4234745"/>
            <a:chExt cx="1117099" cy="759658"/>
          </a:xfrm>
          <a:effectLst/>
        </p:grpSpPr>
        <p:pic>
          <p:nvPicPr>
            <p:cNvPr id="19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1196" y="4234745"/>
              <a:ext cx="740910" cy="544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" name="TextBox 104"/>
            <p:cNvSpPr txBox="1">
              <a:spLocks noChangeArrowheads="1"/>
            </p:cNvSpPr>
            <p:nvPr/>
          </p:nvSpPr>
          <p:spPr bwMode="auto">
            <a:xfrm>
              <a:off x="10713101" y="4778959"/>
              <a:ext cx="1117099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CCTV</a:t>
              </a:r>
              <a:r>
                <a:rPr kumimoji="0" lang="ko-KR" altLang="en-US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재생 통합</a:t>
              </a: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UI</a:t>
              </a:r>
              <a:endParaRPr kumimoji="0" lang="ko-KR" altLang="en-US" sz="800" kern="0" dirty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17" name="Rectangle 5"/>
          <p:cNvSpPr>
            <a:spLocks noChangeArrowheads="1"/>
          </p:cNvSpPr>
          <p:nvPr/>
        </p:nvSpPr>
        <p:spPr bwMode="gray">
          <a:xfrm>
            <a:off x="202271" y="1171582"/>
            <a:ext cx="1323167" cy="23595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Client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22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2" y="1501596"/>
            <a:ext cx="1039969" cy="70932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2" name="그룹 231"/>
          <p:cNvGrpSpPr/>
          <p:nvPr/>
        </p:nvGrpSpPr>
        <p:grpSpPr>
          <a:xfrm>
            <a:off x="364934" y="2937074"/>
            <a:ext cx="432000" cy="432000"/>
            <a:chOff x="8553448" y="1844824"/>
            <a:chExt cx="432000" cy="432000"/>
          </a:xfrm>
          <a:effectLst/>
        </p:grpSpPr>
        <p:sp>
          <p:nvSpPr>
            <p:cNvPr id="233" name="타원 232"/>
            <p:cNvSpPr/>
            <p:nvPr/>
          </p:nvSpPr>
          <p:spPr>
            <a:xfrm>
              <a:off x="8553448" y="184482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4" name="그림 2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7724" y="1867756"/>
              <a:ext cx="386135" cy="386135"/>
            </a:xfrm>
            <a:prstGeom prst="rect">
              <a:avLst/>
            </a:prstGeom>
          </p:spPr>
        </p:pic>
      </p:grpSp>
      <p:grpSp>
        <p:nvGrpSpPr>
          <p:cNvPr id="235" name="그룹 234"/>
          <p:cNvGrpSpPr/>
          <p:nvPr/>
        </p:nvGrpSpPr>
        <p:grpSpPr>
          <a:xfrm>
            <a:off x="560041" y="2539898"/>
            <a:ext cx="432000" cy="432000"/>
            <a:chOff x="8696193" y="2541972"/>
            <a:chExt cx="432000" cy="432000"/>
          </a:xfrm>
          <a:effectLst/>
        </p:grpSpPr>
        <p:sp>
          <p:nvSpPr>
            <p:cNvPr id="236" name="타원 235"/>
            <p:cNvSpPr/>
            <p:nvPr/>
          </p:nvSpPr>
          <p:spPr>
            <a:xfrm>
              <a:off x="8696193" y="2541972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1816" y="2580174"/>
              <a:ext cx="388475" cy="388475"/>
            </a:xfrm>
            <a:prstGeom prst="rect">
              <a:avLst/>
            </a:prstGeom>
          </p:spPr>
        </p:pic>
      </p:grpSp>
      <p:grpSp>
        <p:nvGrpSpPr>
          <p:cNvPr id="238" name="그룹 237"/>
          <p:cNvGrpSpPr/>
          <p:nvPr/>
        </p:nvGrpSpPr>
        <p:grpSpPr>
          <a:xfrm>
            <a:off x="243299" y="2222841"/>
            <a:ext cx="432000" cy="432000"/>
            <a:chOff x="8770791" y="3215421"/>
            <a:chExt cx="432000" cy="432000"/>
          </a:xfrm>
          <a:effectLst/>
        </p:grpSpPr>
        <p:sp>
          <p:nvSpPr>
            <p:cNvPr id="239" name="타원 238"/>
            <p:cNvSpPr/>
            <p:nvPr/>
          </p:nvSpPr>
          <p:spPr>
            <a:xfrm>
              <a:off x="8770791" y="3215421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0" name="그림 23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16" t="8927" r="10248" b="11292"/>
            <a:stretch/>
          </p:blipFill>
          <p:spPr>
            <a:xfrm>
              <a:off x="8807939" y="3257264"/>
              <a:ext cx="344208" cy="327166"/>
            </a:xfrm>
            <a:prstGeom prst="rect">
              <a:avLst/>
            </a:prstGeom>
          </p:spPr>
        </p:pic>
      </p:grpSp>
      <p:grpSp>
        <p:nvGrpSpPr>
          <p:cNvPr id="241" name="그룹 240"/>
          <p:cNvGrpSpPr/>
          <p:nvPr/>
        </p:nvGrpSpPr>
        <p:grpSpPr>
          <a:xfrm>
            <a:off x="908832" y="2805335"/>
            <a:ext cx="432000" cy="432000"/>
            <a:chOff x="8770791" y="3894433"/>
            <a:chExt cx="432000" cy="432000"/>
          </a:xfrm>
          <a:effectLst/>
        </p:grpSpPr>
        <p:sp>
          <p:nvSpPr>
            <p:cNvPr id="242" name="타원 241"/>
            <p:cNvSpPr/>
            <p:nvPr/>
          </p:nvSpPr>
          <p:spPr>
            <a:xfrm>
              <a:off x="8770791" y="3894433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3" name="그림 24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4892" y="3924287"/>
              <a:ext cx="388475" cy="388475"/>
            </a:xfrm>
            <a:prstGeom prst="rect">
              <a:avLst/>
            </a:prstGeom>
          </p:spPr>
        </p:pic>
      </p:grpSp>
      <p:grpSp>
        <p:nvGrpSpPr>
          <p:cNvPr id="244" name="그룹 243"/>
          <p:cNvGrpSpPr/>
          <p:nvPr/>
        </p:nvGrpSpPr>
        <p:grpSpPr>
          <a:xfrm>
            <a:off x="958337" y="2349470"/>
            <a:ext cx="436765" cy="432000"/>
            <a:chOff x="8770791" y="4493584"/>
            <a:chExt cx="436765" cy="432000"/>
          </a:xfrm>
          <a:effectLst/>
        </p:grpSpPr>
        <p:sp>
          <p:nvSpPr>
            <p:cNvPr id="245" name="타원 244"/>
            <p:cNvSpPr/>
            <p:nvPr/>
          </p:nvSpPr>
          <p:spPr>
            <a:xfrm>
              <a:off x="8770791" y="449358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6" name="그림 24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233" y="4495923"/>
              <a:ext cx="427323" cy="427323"/>
            </a:xfrm>
            <a:prstGeom prst="rect">
              <a:avLst/>
            </a:prstGeom>
          </p:spPr>
        </p:pic>
      </p:grpSp>
      <p:cxnSp>
        <p:nvCxnSpPr>
          <p:cNvPr id="133" name="꺾인 연결선 132"/>
          <p:cNvCxnSpPr>
            <a:stCxn id="106" idx="3"/>
            <a:endCxn id="104" idx="3"/>
          </p:cNvCxnSpPr>
          <p:nvPr/>
        </p:nvCxnSpPr>
        <p:spPr>
          <a:xfrm flipH="1" flipV="1">
            <a:off x="3265083" y="2592658"/>
            <a:ext cx="1" cy="1681182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5" name="꺾인 연결선 174"/>
          <p:cNvCxnSpPr>
            <a:stCxn id="193" idx="3"/>
            <a:endCxn id="106" idx="1"/>
          </p:cNvCxnSpPr>
          <p:nvPr/>
        </p:nvCxnSpPr>
        <p:spPr>
          <a:xfrm>
            <a:off x="1413844" y="4182512"/>
            <a:ext cx="653262" cy="913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9" name="꺾인 연결선 188"/>
          <p:cNvCxnSpPr>
            <a:stCxn id="79" idx="0"/>
            <a:endCxn id="68" idx="2"/>
          </p:cNvCxnSpPr>
          <p:nvPr/>
        </p:nvCxnSpPr>
        <p:spPr>
          <a:xfrm rot="16200000" flipV="1">
            <a:off x="6189321" y="4317142"/>
            <a:ext cx="536863" cy="53413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4" name="꺾인 연결선 193"/>
          <p:cNvCxnSpPr>
            <a:stCxn id="78" idx="0"/>
            <a:endCxn id="68" idx="2"/>
          </p:cNvCxnSpPr>
          <p:nvPr/>
        </p:nvCxnSpPr>
        <p:spPr>
          <a:xfrm rot="5400000" flipH="1" flipV="1">
            <a:off x="5657476" y="4321018"/>
            <a:ext cx="538446" cy="52796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7" name="꺾인 연결선 196"/>
          <p:cNvCxnSpPr>
            <a:stCxn id="77" idx="0"/>
            <a:endCxn id="68" idx="2"/>
          </p:cNvCxnSpPr>
          <p:nvPr/>
        </p:nvCxnSpPr>
        <p:spPr>
          <a:xfrm rot="5400000" flipH="1" flipV="1">
            <a:off x="5127933" y="3788457"/>
            <a:ext cx="535428" cy="159007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56" name="직선 화살표 연결선 1055"/>
          <p:cNvCxnSpPr>
            <a:stCxn id="90" idx="3"/>
            <a:endCxn id="83" idx="1"/>
          </p:cNvCxnSpPr>
          <p:nvPr/>
        </p:nvCxnSpPr>
        <p:spPr bwMode="auto">
          <a:xfrm flipV="1">
            <a:off x="4980449" y="2805336"/>
            <a:ext cx="198441" cy="3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1058" name="직선 화살표 연결선 1057"/>
          <p:cNvCxnSpPr>
            <a:stCxn id="83" idx="3"/>
            <a:endCxn id="91" idx="1"/>
          </p:cNvCxnSpPr>
          <p:nvPr/>
        </p:nvCxnSpPr>
        <p:spPr bwMode="auto">
          <a:xfrm>
            <a:off x="6280889" y="2805336"/>
            <a:ext cx="204653" cy="36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209" name="꺾인 연결선 208"/>
          <p:cNvCxnSpPr>
            <a:stCxn id="108" idx="0"/>
            <a:endCxn id="70" idx="2"/>
          </p:cNvCxnSpPr>
          <p:nvPr/>
        </p:nvCxnSpPr>
        <p:spPr>
          <a:xfrm rot="5400000" flipH="1" flipV="1">
            <a:off x="2618456" y="5058855"/>
            <a:ext cx="253286" cy="1791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7" name="꺾인 연결선 116"/>
          <p:cNvCxnSpPr>
            <a:stCxn id="102" idx="1"/>
          </p:cNvCxnSpPr>
          <p:nvPr/>
        </p:nvCxnSpPr>
        <p:spPr>
          <a:xfrm rot="10800000">
            <a:off x="1138062" y="1615403"/>
            <a:ext cx="929045" cy="385"/>
          </a:xfrm>
          <a:prstGeom prst="bentConnector3">
            <a:avLst>
              <a:gd name="adj1" fmla="val 50000"/>
            </a:avLst>
          </a:prstGeom>
          <a:ln w="19050">
            <a:gradFill flip="none" rotWithShape="1"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228" name="Picture 2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11" y="1442722"/>
            <a:ext cx="312530" cy="4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꺾인 연결선 109"/>
          <p:cNvCxnSpPr>
            <a:stCxn id="217" idx="2"/>
            <a:endCxn id="193" idx="0"/>
          </p:cNvCxnSpPr>
          <p:nvPr/>
        </p:nvCxnSpPr>
        <p:spPr>
          <a:xfrm rot="16200000" flipH="1">
            <a:off x="763962" y="3630977"/>
            <a:ext cx="379321" cy="1795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11" name="그룹 110"/>
          <p:cNvGrpSpPr/>
          <p:nvPr/>
        </p:nvGrpSpPr>
        <p:grpSpPr>
          <a:xfrm>
            <a:off x="1844134" y="5194454"/>
            <a:ext cx="1784017" cy="1384173"/>
            <a:chOff x="1844134" y="5193323"/>
            <a:chExt cx="1784017" cy="1384173"/>
          </a:xfrm>
        </p:grpSpPr>
        <p:grpSp>
          <p:nvGrpSpPr>
            <p:cNvPr id="3" name="그룹 2"/>
            <p:cNvGrpSpPr/>
            <p:nvPr/>
          </p:nvGrpSpPr>
          <p:grpSpPr>
            <a:xfrm>
              <a:off x="1844134" y="5193323"/>
              <a:ext cx="1784017" cy="1384173"/>
              <a:chOff x="204524" y="3818806"/>
              <a:chExt cx="1323381" cy="1401133"/>
            </a:xfrm>
          </p:grpSpPr>
          <p:sp>
            <p:nvSpPr>
              <p:cNvPr id="108" name="Rectangle 5"/>
              <p:cNvSpPr>
                <a:spLocks noChangeArrowheads="1"/>
              </p:cNvSpPr>
              <p:nvPr/>
            </p:nvSpPr>
            <p:spPr bwMode="gray">
              <a:xfrm>
                <a:off x="204524" y="3818806"/>
                <a:ext cx="1323381" cy="140113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63500" dist="88900" dir="2700000" algn="tl" rotWithShape="0">
                  <a:prstClr val="black">
                    <a:alpha val="24000"/>
                  </a:prstClr>
                </a:outerShdw>
                <a:softEdge rad="3175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r"/>
                <a:r>
                  <a:rPr kumimoji="0" lang="en-US" altLang="ko-KR" sz="1000" b="1" dirty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Visualization Layer</a:t>
                </a:r>
              </a:p>
            </p:txBody>
          </p:sp>
          <p:sp>
            <p:nvSpPr>
              <p:cNvPr id="114" name="Rectangle 5"/>
              <p:cNvSpPr>
                <a:spLocks noChangeArrowheads="1"/>
              </p:cNvSpPr>
              <p:nvPr/>
            </p:nvSpPr>
            <p:spPr bwMode="gray">
              <a:xfrm>
                <a:off x="345912" y="4434134"/>
                <a:ext cx="1069512" cy="31532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900" dirty="0" err="1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i</a:t>
                </a:r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-PORTAL </a:t>
                </a:r>
              </a:p>
              <a:p>
                <a:pPr algn="ctr"/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Server Module</a:t>
                </a:r>
                <a:endPara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endParaRPr>
              </a:p>
            </p:txBody>
          </p:sp>
        </p:grpSp>
        <p:sp>
          <p:nvSpPr>
            <p:cNvPr id="121" name="Rectangle 5"/>
            <p:cNvSpPr>
              <a:spLocks noChangeArrowheads="1"/>
            </p:cNvSpPr>
            <p:nvPr/>
          </p:nvSpPr>
          <p:spPr bwMode="gray">
            <a:xfrm>
              <a:off x="2033730" y="6154667"/>
              <a:ext cx="702413" cy="27548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CONFIG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.DATA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2" name="Rectangle 5"/>
            <p:cNvSpPr>
              <a:spLocks noChangeArrowheads="1"/>
            </p:cNvSpPr>
            <p:nvPr/>
          </p:nvSpPr>
          <p:spPr bwMode="gray">
            <a:xfrm>
              <a:off x="2754055" y="6154665"/>
              <a:ext cx="722463" cy="27548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err="1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-META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Designer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3" name="Rectangle 5"/>
            <p:cNvSpPr>
              <a:spLocks noChangeArrowheads="1"/>
            </p:cNvSpPr>
            <p:nvPr/>
          </p:nvSpPr>
          <p:spPr bwMode="gray">
            <a:xfrm>
              <a:off x="2031591" y="5463902"/>
              <a:ext cx="1444928" cy="31797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900" dirty="0" err="1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-CANVAS Engine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70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꺾인 연결선 68"/>
          <p:cNvCxnSpPr>
            <a:stCxn id="170" idx="0"/>
            <a:endCxn id="162" idx="2"/>
          </p:cNvCxnSpPr>
          <p:nvPr/>
        </p:nvCxnSpPr>
        <p:spPr bwMode="auto">
          <a:xfrm rot="16200000" flipV="1">
            <a:off x="5484084" y="3439384"/>
            <a:ext cx="2377224" cy="3676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 type="triangle"/>
          </a:ln>
        </p:spPr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(Context Diagram)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641793" y="1772816"/>
            <a:ext cx="408259" cy="612720"/>
            <a:chOff x="746039" y="981805"/>
            <a:chExt cx="555992" cy="750990"/>
          </a:xfrm>
        </p:grpSpPr>
        <p:pic>
          <p:nvPicPr>
            <p:cNvPr id="183" name="Picture 10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612" y="981805"/>
              <a:ext cx="457454" cy="457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4" name="직사각형 183"/>
            <p:cNvSpPr/>
            <p:nvPr/>
          </p:nvSpPr>
          <p:spPr>
            <a:xfrm>
              <a:off x="746039" y="1442628"/>
              <a:ext cx="555992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시장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40" name="Rectangle 137"/>
          <p:cNvSpPr>
            <a:spLocks noChangeArrowheads="1"/>
          </p:cNvSpPr>
          <p:nvPr/>
        </p:nvSpPr>
        <p:spPr bwMode="gray">
          <a:xfrm>
            <a:off x="211485" y="1381967"/>
            <a:ext cx="1585885" cy="337670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(</a:t>
            </a:r>
            <a:r>
              <a:rPr lang="en-US" altLang="ko-KR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StakeHolder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)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143" name="그룹 142"/>
          <p:cNvGrpSpPr/>
          <p:nvPr/>
        </p:nvGrpSpPr>
        <p:grpSpPr>
          <a:xfrm>
            <a:off x="456935" y="2582932"/>
            <a:ext cx="845104" cy="746539"/>
            <a:chOff x="448579" y="829405"/>
            <a:chExt cx="1150914" cy="915008"/>
          </a:xfrm>
        </p:grpSpPr>
        <p:grpSp>
          <p:nvGrpSpPr>
            <p:cNvPr id="144" name="그룹 143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46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5" name="직사각형 144"/>
            <p:cNvSpPr/>
            <p:nvPr/>
          </p:nvSpPr>
          <p:spPr>
            <a:xfrm>
              <a:off x="448579" y="1442628"/>
              <a:ext cx="1150914" cy="3017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err="1" smtClean="0">
                  <a:latin typeface="+mn-lt"/>
                  <a:ea typeface="나눔고딕" panose="020D0604000000000000" pitchFamily="50" charset="-127"/>
                </a:rPr>
                <a:t>실국장</a:t>
              </a: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/</a:t>
              </a: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시민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613218" y="3722724"/>
            <a:ext cx="525339" cy="737060"/>
            <a:chOff x="665212" y="829405"/>
            <a:chExt cx="715439" cy="903390"/>
          </a:xfrm>
        </p:grpSpPr>
        <p:grpSp>
          <p:nvGrpSpPr>
            <p:cNvPr id="155" name="그룹 154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5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8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6" name="직사각형 155"/>
            <p:cNvSpPr/>
            <p:nvPr/>
          </p:nvSpPr>
          <p:spPr>
            <a:xfrm>
              <a:off x="667420" y="1442628"/>
              <a:ext cx="713231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관리자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59" name="Rectangle 5"/>
          <p:cNvSpPr>
            <a:spLocks noChangeArrowheads="1"/>
          </p:cNvSpPr>
          <p:nvPr/>
        </p:nvSpPr>
        <p:spPr bwMode="gray">
          <a:xfrm>
            <a:off x="3516198" y="4734100"/>
            <a:ext cx="1202127" cy="425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관리프로그램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3520088" y="1381967"/>
            <a:ext cx="1198238" cy="4408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디지털 </a:t>
            </a:r>
            <a:r>
              <a:rPr kumimoji="0" lang="ko-KR" altLang="en-US" sz="1000" b="1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시민시장실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938157" y="1393072"/>
            <a:ext cx="1432311" cy="876083"/>
            <a:chOff x="6494720" y="1216290"/>
            <a:chExt cx="1878312" cy="1251486"/>
          </a:xfrm>
        </p:grpSpPr>
        <p:pic>
          <p:nvPicPr>
            <p:cNvPr id="16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2" name="TextBox 161"/>
            <p:cNvSpPr txBox="1"/>
            <p:nvPr/>
          </p:nvSpPr>
          <p:spPr>
            <a:xfrm>
              <a:off x="6494720" y="2116049"/>
              <a:ext cx="1878312" cy="351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63" name="꺾인 연결선 162"/>
          <p:cNvCxnSpPr>
            <a:stCxn id="161" idx="1"/>
            <a:endCxn id="160" idx="3"/>
          </p:cNvCxnSpPr>
          <p:nvPr/>
        </p:nvCxnSpPr>
        <p:spPr>
          <a:xfrm rot="10800000">
            <a:off x="4718326" y="1602410"/>
            <a:ext cx="1513452" cy="10538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65" name="꺾인 연결선 164"/>
          <p:cNvCxnSpPr>
            <a:stCxn id="160" idx="1"/>
            <a:endCxn id="45" idx="0"/>
          </p:cNvCxnSpPr>
          <p:nvPr/>
        </p:nvCxnSpPr>
        <p:spPr>
          <a:xfrm rot="10800000">
            <a:off x="2550370" y="1511334"/>
            <a:ext cx="969718" cy="91077"/>
          </a:xfrm>
          <a:prstGeom prst="bentConnector4">
            <a:avLst>
              <a:gd name="adj1" fmla="val 30590"/>
              <a:gd name="adj2" fmla="val 350996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69" name="그룹 168"/>
          <p:cNvGrpSpPr/>
          <p:nvPr/>
        </p:nvGrpSpPr>
        <p:grpSpPr>
          <a:xfrm>
            <a:off x="5951773" y="4646379"/>
            <a:ext cx="1583543" cy="777948"/>
            <a:chOff x="6426581" y="1202141"/>
            <a:chExt cx="2044734" cy="1229336"/>
          </a:xfrm>
        </p:grpSpPr>
        <p:pic>
          <p:nvPicPr>
            <p:cNvPr id="17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4158" y="1202141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1" name="TextBox 170"/>
            <p:cNvSpPr txBox="1"/>
            <p:nvPr/>
          </p:nvSpPr>
          <p:spPr>
            <a:xfrm>
              <a:off x="6426581" y="2042391"/>
              <a:ext cx="2044734" cy="389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열린데이터광장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72" name="꺾인 연결선 171"/>
          <p:cNvCxnSpPr>
            <a:stCxn id="161" idx="1"/>
            <a:endCxn id="159" idx="3"/>
          </p:cNvCxnSpPr>
          <p:nvPr/>
        </p:nvCxnSpPr>
        <p:spPr>
          <a:xfrm rot="10800000" flipV="1">
            <a:off x="4718326" y="1707791"/>
            <a:ext cx="1513453" cy="323881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8" name="Rectangle 5"/>
          <p:cNvSpPr>
            <a:spLocks noChangeArrowheads="1"/>
          </p:cNvSpPr>
          <p:nvPr/>
        </p:nvSpPr>
        <p:spPr bwMode="gray">
          <a:xfrm>
            <a:off x="3524053" y="3083969"/>
            <a:ext cx="1194273" cy="3435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BI Matrix 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솔루션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87" name="꺾인 연결선 186"/>
          <p:cNvCxnSpPr>
            <a:stCxn id="159" idx="1"/>
            <a:endCxn id="158" idx="3"/>
          </p:cNvCxnSpPr>
          <p:nvPr/>
        </p:nvCxnSpPr>
        <p:spPr>
          <a:xfrm rot="10800000">
            <a:off x="1061028" y="4033679"/>
            <a:ext cx="2455171" cy="912924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8" name="TextBox 187"/>
          <p:cNvSpPr txBox="1"/>
          <p:nvPr/>
        </p:nvSpPr>
        <p:spPr>
          <a:xfrm>
            <a:off x="1316471" y="4085675"/>
            <a:ext cx="639175" cy="680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메타관리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9" name="꺾인 연결선 188"/>
          <p:cNvCxnSpPr>
            <a:stCxn id="160" idx="1"/>
            <a:endCxn id="147" idx="3"/>
          </p:cNvCxnSpPr>
          <p:nvPr/>
        </p:nvCxnSpPr>
        <p:spPr>
          <a:xfrm rot="10800000" flipV="1">
            <a:off x="1063816" y="1602409"/>
            <a:ext cx="2456273" cy="1291477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95" name="TextBox 194"/>
          <p:cNvSpPr txBox="1"/>
          <p:nvPr/>
        </p:nvSpPr>
        <p:spPr>
          <a:xfrm>
            <a:off x="1239948" y="2926919"/>
            <a:ext cx="1191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권한에 </a:t>
            </a: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따라기능부여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Rectangle 5"/>
          <p:cNvSpPr>
            <a:spLocks noChangeArrowheads="1"/>
          </p:cNvSpPr>
          <p:nvPr/>
        </p:nvSpPr>
        <p:spPr bwMode="gray">
          <a:xfrm>
            <a:off x="6036616" y="3303202"/>
            <a:ext cx="1235391" cy="3183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ETL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서버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4116777" y="5718555"/>
            <a:ext cx="836223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소스데이터추출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0" name="꺾인 연결선 189"/>
          <p:cNvCxnSpPr>
            <a:stCxn id="161" idx="1"/>
            <a:endCxn id="178" idx="3"/>
          </p:cNvCxnSpPr>
          <p:nvPr/>
        </p:nvCxnSpPr>
        <p:spPr>
          <a:xfrm rot="10800000" flipV="1">
            <a:off x="4718326" y="1707791"/>
            <a:ext cx="1513452" cy="15479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5" name="TextBox 204"/>
          <p:cNvSpPr txBox="1"/>
          <p:nvPr/>
        </p:nvSpPr>
        <p:spPr>
          <a:xfrm>
            <a:off x="4717675" y="3305033"/>
            <a:ext cx="916274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시각화데이터조회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6" name="꺾인 연결선 205"/>
          <p:cNvCxnSpPr>
            <a:stCxn id="160" idx="2"/>
            <a:endCxn id="178" idx="0"/>
          </p:cNvCxnSpPr>
          <p:nvPr/>
        </p:nvCxnSpPr>
        <p:spPr>
          <a:xfrm rot="16200000" flipH="1">
            <a:off x="3489640" y="2452418"/>
            <a:ext cx="1261117" cy="1983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8" name="TextBox 207"/>
          <p:cNvSpPr txBox="1"/>
          <p:nvPr/>
        </p:nvSpPr>
        <p:spPr>
          <a:xfrm>
            <a:off x="3920512" y="2369368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시각화요소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연계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5031515" y="1687490"/>
            <a:ext cx="823908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시각화지표조회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4689175" y="4916953"/>
            <a:ext cx="107945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관리데이터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저장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128464" y="908720"/>
            <a:ext cx="9649072" cy="56114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1857853" y="1511333"/>
            <a:ext cx="1653017" cy="1230444"/>
            <a:chOff x="2402553" y="1650728"/>
            <a:chExt cx="1653017" cy="1230444"/>
          </a:xfrm>
        </p:grpSpPr>
        <p:sp>
          <p:nvSpPr>
            <p:cNvPr id="194" name="TextBox 193"/>
            <p:cNvSpPr txBox="1"/>
            <p:nvPr/>
          </p:nvSpPr>
          <p:spPr>
            <a:xfrm>
              <a:off x="2402553" y="2665728"/>
              <a:ext cx="16530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키넥트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모션컨트롤러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월컨트롤러</a:t>
              </a:r>
              <a:endPara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633" y="1650728"/>
              <a:ext cx="752874" cy="441686"/>
            </a:xfrm>
            <a:prstGeom prst="rect">
              <a:avLst/>
            </a:prstGeom>
          </p:spPr>
        </p:pic>
        <p:pic>
          <p:nvPicPr>
            <p:cNvPr id="46" name="그림 4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8507" y="2102789"/>
              <a:ext cx="753000" cy="505483"/>
            </a:xfrm>
            <a:prstGeom prst="rect">
              <a:avLst/>
            </a:prstGeom>
          </p:spPr>
        </p:pic>
      </p:grpSp>
      <p:cxnSp>
        <p:nvCxnSpPr>
          <p:cNvPr id="224" name="꺾인 연결선 223"/>
          <p:cNvCxnSpPr>
            <a:stCxn id="45" idx="1"/>
            <a:endCxn id="183" idx="3"/>
          </p:cNvCxnSpPr>
          <p:nvPr/>
        </p:nvCxnSpPr>
        <p:spPr>
          <a:xfrm rot="10800000" flipV="1">
            <a:off x="1030253" y="1732175"/>
            <a:ext cx="1143681" cy="2272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7" name="TextBox 226"/>
          <p:cNvSpPr txBox="1"/>
          <p:nvPr/>
        </p:nvSpPr>
        <p:spPr>
          <a:xfrm>
            <a:off x="1201580" y="1996398"/>
            <a:ext cx="916274" cy="4438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8020136" y="1884657"/>
            <a:ext cx="1583543" cy="768994"/>
            <a:chOff x="8266895" y="3038890"/>
            <a:chExt cx="1583543" cy="768994"/>
          </a:xfrm>
        </p:grpSpPr>
        <p:pic>
          <p:nvPicPr>
            <p:cNvPr id="10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TextBox 10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정책지도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024483" y="2920536"/>
            <a:ext cx="1583543" cy="768994"/>
            <a:chOff x="8266895" y="3038890"/>
            <a:chExt cx="1583543" cy="768994"/>
          </a:xfrm>
        </p:grpSpPr>
        <p:pic>
          <p:nvPicPr>
            <p:cNvPr id="11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" name="TextBox 110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GIS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위치정보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8036191" y="3909338"/>
            <a:ext cx="1583543" cy="768994"/>
            <a:chOff x="8266895" y="3038890"/>
            <a:chExt cx="1583543" cy="768994"/>
          </a:xfrm>
        </p:grpSpPr>
        <p:pic>
          <p:nvPicPr>
            <p:cNvPr id="113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4" name="TextBox 113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BSC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성과관리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115" name="Rectangle 137"/>
          <p:cNvSpPr>
            <a:spLocks noChangeArrowheads="1"/>
          </p:cNvSpPr>
          <p:nvPr/>
        </p:nvSpPr>
        <p:spPr bwMode="gray">
          <a:xfrm>
            <a:off x="7872999" y="1462940"/>
            <a:ext cx="1899010" cy="499039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외부시스템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5786392" y="2586009"/>
            <a:ext cx="1914307" cy="503863"/>
            <a:chOff x="7165770" y="2431284"/>
            <a:chExt cx="1914307" cy="503863"/>
          </a:xfrm>
        </p:grpSpPr>
        <p:sp>
          <p:nvSpPr>
            <p:cNvPr id="121" name="한쪽 모서리가 잘린 사각형 120"/>
            <p:cNvSpPr/>
            <p:nvPr/>
          </p:nvSpPr>
          <p:spPr bwMode="auto">
            <a:xfrm>
              <a:off x="7210473" y="2431284"/>
              <a:ext cx="472349" cy="310493"/>
            </a:xfrm>
            <a:prstGeom prst="snip1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ts val="1400"/>
                </a:lnSpc>
              </a:pPr>
              <a:r>
                <a:rPr lang="ko-KR" altLang="en-US" sz="8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메타정보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165770" y="2719703"/>
              <a:ext cx="191430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+ </a:t>
              </a:r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데이터가공처리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=&gt; 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summary</a:t>
              </a:r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8043923" y="4816608"/>
            <a:ext cx="1583543" cy="768994"/>
            <a:chOff x="8266895" y="3038890"/>
            <a:chExt cx="1583543" cy="768994"/>
          </a:xfrm>
        </p:grpSpPr>
        <p:pic>
          <p:nvPicPr>
            <p:cNvPr id="13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7" name="TextBox 13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CCTV </a:t>
              </a:r>
              <a:r>
                <a:rPr lang="ko-KR" altLang="en-US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영상데이터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8078175" y="5673358"/>
            <a:ext cx="1583543" cy="768994"/>
            <a:chOff x="8266895" y="3038890"/>
            <a:chExt cx="1583543" cy="768994"/>
          </a:xfrm>
        </p:grpSpPr>
        <p:pic>
          <p:nvPicPr>
            <p:cNvPr id="7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" name="TextBox 71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etc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23" name="오른쪽 화살표 22"/>
          <p:cNvSpPr/>
          <p:nvPr/>
        </p:nvSpPr>
        <p:spPr bwMode="auto">
          <a:xfrm rot="10800000">
            <a:off x="7361233" y="4654633"/>
            <a:ext cx="744826" cy="57189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endParaRPr lang="ko-KR" altLang="en-US" sz="1200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444578" y="4825593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데이터적재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494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 지표 조회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(Runtime View)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04528" y="1640607"/>
            <a:ext cx="843981" cy="2088233"/>
            <a:chOff x="704528" y="1484784"/>
            <a:chExt cx="843981" cy="2088233"/>
          </a:xfrm>
        </p:grpSpPr>
        <p:grpSp>
          <p:nvGrpSpPr>
            <p:cNvPr id="4" name="그룹 3"/>
            <p:cNvGrpSpPr/>
            <p:nvPr/>
          </p:nvGrpSpPr>
          <p:grpSpPr>
            <a:xfrm>
              <a:off x="704528" y="1484784"/>
              <a:ext cx="800219" cy="1429584"/>
              <a:chOff x="704528" y="1557726"/>
              <a:chExt cx="800219" cy="1429584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704528" y="252564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키넥트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모션컨트롤러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월컨트롤러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</p:txBody>
          </p:sp>
          <p:pic>
            <p:nvPicPr>
              <p:cNvPr id="53" name="그림 5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04654" y="1557726"/>
                <a:ext cx="752874" cy="441686"/>
              </a:xfrm>
              <a:prstGeom prst="rect">
                <a:avLst/>
              </a:prstGeom>
            </p:spPr>
          </p:pic>
          <p:pic>
            <p:nvPicPr>
              <p:cNvPr id="54" name="그림 5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04528" y="2009787"/>
                <a:ext cx="753000" cy="505483"/>
              </a:xfrm>
              <a:prstGeom prst="rect">
                <a:avLst/>
              </a:prstGeom>
            </p:spPr>
          </p:pic>
        </p:grpSp>
        <p:pic>
          <p:nvPicPr>
            <p:cNvPr id="5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528" y="2997365"/>
              <a:ext cx="843981" cy="57565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9" name="Rectangle 137"/>
          <p:cNvSpPr>
            <a:spLocks noChangeArrowheads="1"/>
          </p:cNvSpPr>
          <p:nvPr/>
        </p:nvSpPr>
        <p:spPr bwMode="gray">
          <a:xfrm>
            <a:off x="488505" y="1218928"/>
            <a:ext cx="1368151" cy="271412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Client Console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gray">
          <a:xfrm>
            <a:off x="2648744" y="1579506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gray">
          <a:xfrm>
            <a:off x="2648744" y="2421281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gray">
          <a:xfrm>
            <a:off x="4217253" y="203417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Business Logic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5349792" y="29801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Domain Model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gray">
          <a:xfrm>
            <a:off x="6450027" y="202791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DBMS Adapter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7401272" y="3034621"/>
            <a:ext cx="1345602" cy="814118"/>
            <a:chOff x="6318395" y="1216290"/>
            <a:chExt cx="2023214" cy="1230874"/>
          </a:xfrm>
        </p:grpSpPr>
        <p:pic>
          <p:nvPicPr>
            <p:cNvPr id="67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/>
            <p:cNvSpPr txBox="1"/>
            <p:nvPr/>
          </p:nvSpPr>
          <p:spPr>
            <a:xfrm>
              <a:off x="6318395" y="2074900"/>
              <a:ext cx="2023214" cy="37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2648744" y="3280600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4151814" y="4297708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Viewer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5825938" y="430209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Engine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221935" y="5374340"/>
            <a:ext cx="726233" cy="275488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CONFIG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.DATA</a:t>
            </a: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225705" y="5757606"/>
            <a:ext cx="722463" cy="275489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-META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Designer</a:t>
            </a:r>
          </a:p>
        </p:txBody>
      </p:sp>
      <p:cxnSp>
        <p:nvCxnSpPr>
          <p:cNvPr id="74" name="꺾인 연결선 73"/>
          <p:cNvCxnSpPr>
            <a:stCxn id="60" idx="1"/>
          </p:cNvCxnSpPr>
          <p:nvPr/>
        </p:nvCxnSpPr>
        <p:spPr>
          <a:xfrm rot="10800000" flipV="1">
            <a:off x="1856656" y="1751275"/>
            <a:ext cx="792088" cy="9805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1" name="꺾인 연결선 80"/>
          <p:cNvCxnSpPr>
            <a:stCxn id="63" idx="1"/>
            <a:endCxn id="62" idx="3"/>
          </p:cNvCxnSpPr>
          <p:nvPr/>
        </p:nvCxnSpPr>
        <p:spPr>
          <a:xfrm rot="10800000" flipV="1">
            <a:off x="3846723" y="2205949"/>
            <a:ext cx="370531" cy="38710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5" name="꺾인 연결선 94"/>
          <p:cNvCxnSpPr>
            <a:stCxn id="65" idx="0"/>
            <a:endCxn id="63" idx="0"/>
          </p:cNvCxnSpPr>
          <p:nvPr/>
        </p:nvCxnSpPr>
        <p:spPr>
          <a:xfrm rot="16200000" flipH="1" flipV="1">
            <a:off x="5929498" y="914661"/>
            <a:ext cx="6262" cy="2232774"/>
          </a:xfrm>
          <a:prstGeom prst="bentConnector3">
            <a:avLst>
              <a:gd name="adj1" fmla="val -365059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8" name="꺾인 연결선 97"/>
          <p:cNvCxnSpPr>
            <a:stCxn id="67" idx="0"/>
            <a:endCxn id="65" idx="3"/>
          </p:cNvCxnSpPr>
          <p:nvPr/>
        </p:nvCxnSpPr>
        <p:spPr>
          <a:xfrm rot="16200000" flipV="1">
            <a:off x="7455814" y="2391878"/>
            <a:ext cx="834934" cy="45055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2" name="꺾인 연결선 101"/>
          <p:cNvCxnSpPr>
            <a:stCxn id="64" idx="3"/>
            <a:endCxn id="67" idx="1"/>
          </p:cNvCxnSpPr>
          <p:nvPr/>
        </p:nvCxnSpPr>
        <p:spPr>
          <a:xfrm>
            <a:off x="6547770" y="3151923"/>
            <a:ext cx="1226863" cy="1800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8" name="꺾인 연결선 147"/>
          <p:cNvCxnSpPr>
            <a:stCxn id="63" idx="3"/>
            <a:endCxn id="64" idx="0"/>
          </p:cNvCxnSpPr>
          <p:nvPr/>
        </p:nvCxnSpPr>
        <p:spPr>
          <a:xfrm>
            <a:off x="5415231" y="2205949"/>
            <a:ext cx="533550" cy="77420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33" name="직선 화살표 연결선 1032"/>
          <p:cNvCxnSpPr>
            <a:stCxn id="62" idx="0"/>
            <a:endCxn id="60" idx="2"/>
          </p:cNvCxnSpPr>
          <p:nvPr/>
        </p:nvCxnSpPr>
        <p:spPr bwMode="auto">
          <a:xfrm flipV="1">
            <a:off x="3247733" y="1923046"/>
            <a:ext cx="0" cy="498235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6" name="직선 화살표 연결선 185"/>
          <p:cNvCxnSpPr>
            <a:stCxn id="69" idx="0"/>
            <a:endCxn id="62" idx="2"/>
          </p:cNvCxnSpPr>
          <p:nvPr/>
        </p:nvCxnSpPr>
        <p:spPr bwMode="auto">
          <a:xfrm flipV="1">
            <a:off x="3247733" y="2764821"/>
            <a:ext cx="0" cy="515779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3" name="꺾인 연결선 192"/>
          <p:cNvCxnSpPr>
            <a:stCxn id="62" idx="3"/>
            <a:endCxn id="63" idx="2"/>
          </p:cNvCxnSpPr>
          <p:nvPr/>
        </p:nvCxnSpPr>
        <p:spPr>
          <a:xfrm flipV="1">
            <a:off x="3846722" y="2377719"/>
            <a:ext cx="969520" cy="215332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01" name="꺾인 연결선 200"/>
          <p:cNvCxnSpPr>
            <a:stCxn id="71" idx="0"/>
            <a:endCxn id="70" idx="3"/>
          </p:cNvCxnSpPr>
          <p:nvPr/>
        </p:nvCxnSpPr>
        <p:spPr>
          <a:xfrm rot="16200000" flipH="1" flipV="1">
            <a:off x="5803667" y="3848217"/>
            <a:ext cx="167385" cy="1075135"/>
          </a:xfrm>
          <a:prstGeom prst="bentConnector4">
            <a:avLst>
              <a:gd name="adj1" fmla="val -136571"/>
              <a:gd name="adj2" fmla="val 8760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2" name="Rectangle 5"/>
          <p:cNvSpPr>
            <a:spLocks noChangeArrowheads="1"/>
          </p:cNvSpPr>
          <p:nvPr/>
        </p:nvSpPr>
        <p:spPr bwMode="gray">
          <a:xfrm>
            <a:off x="6730018" y="48306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-Portal Server 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Module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07" name="꺾인 연결선 206"/>
          <p:cNvCxnSpPr>
            <a:stCxn id="202" idx="0"/>
            <a:endCxn id="71" idx="3"/>
          </p:cNvCxnSpPr>
          <p:nvPr/>
        </p:nvCxnSpPr>
        <p:spPr>
          <a:xfrm rot="16200000" flipV="1">
            <a:off x="6998067" y="4499712"/>
            <a:ext cx="356790" cy="30509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0" name="꺾인 연결선 209"/>
          <p:cNvCxnSpPr>
            <a:stCxn id="202" idx="3"/>
            <a:endCxn id="72" idx="1"/>
          </p:cNvCxnSpPr>
          <p:nvPr/>
        </p:nvCxnSpPr>
        <p:spPr>
          <a:xfrm>
            <a:off x="7927996" y="5002423"/>
            <a:ext cx="293939" cy="50966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3" name="꺾인 연결선 212"/>
          <p:cNvCxnSpPr>
            <a:stCxn id="202" idx="3"/>
            <a:endCxn id="73" idx="1"/>
          </p:cNvCxnSpPr>
          <p:nvPr/>
        </p:nvCxnSpPr>
        <p:spPr>
          <a:xfrm>
            <a:off x="7927996" y="5002423"/>
            <a:ext cx="297709" cy="89292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8" name="꺾인 연결선 217"/>
          <p:cNvCxnSpPr>
            <a:stCxn id="202" idx="3"/>
            <a:endCxn id="68" idx="2"/>
          </p:cNvCxnSpPr>
          <p:nvPr/>
        </p:nvCxnSpPr>
        <p:spPr>
          <a:xfrm flipV="1">
            <a:off x="7927996" y="3848739"/>
            <a:ext cx="146077" cy="115368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21" name="꺾인 연결선 220"/>
          <p:cNvCxnSpPr>
            <a:stCxn id="71" idx="2"/>
            <a:endCxn id="202" idx="2"/>
          </p:cNvCxnSpPr>
          <p:nvPr/>
        </p:nvCxnSpPr>
        <p:spPr>
          <a:xfrm rot="16200000" flipH="1">
            <a:off x="6612687" y="4457873"/>
            <a:ext cx="528560" cy="904080"/>
          </a:xfrm>
          <a:prstGeom prst="bentConnector3">
            <a:avLst>
              <a:gd name="adj1" fmla="val 14325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5" name="Rectangle 5"/>
          <p:cNvSpPr>
            <a:spLocks noChangeArrowheads="1"/>
          </p:cNvSpPr>
          <p:nvPr/>
        </p:nvSpPr>
        <p:spPr bwMode="gray">
          <a:xfrm>
            <a:off x="4151814" y="5512084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HTML5 Chart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30" name="꺾인 연결선 229"/>
          <p:cNvCxnSpPr>
            <a:stCxn id="225" idx="3"/>
            <a:endCxn id="71" idx="1"/>
          </p:cNvCxnSpPr>
          <p:nvPr/>
        </p:nvCxnSpPr>
        <p:spPr>
          <a:xfrm flipV="1">
            <a:off x="5349792" y="4473863"/>
            <a:ext cx="476146" cy="1209991"/>
          </a:xfrm>
          <a:prstGeom prst="bentConnector3">
            <a:avLst>
              <a:gd name="adj1" fmla="val 7000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43" name="Rectangle 5"/>
          <p:cNvSpPr>
            <a:spLocks noChangeArrowheads="1"/>
          </p:cNvSpPr>
          <p:nvPr/>
        </p:nvSpPr>
        <p:spPr bwMode="gray">
          <a:xfrm>
            <a:off x="2648744" y="47120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JSP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46" name="꺾인 연결선 245"/>
          <p:cNvCxnSpPr>
            <a:stCxn id="70" idx="0"/>
            <a:endCxn id="243" idx="3"/>
          </p:cNvCxnSpPr>
          <p:nvPr/>
        </p:nvCxnSpPr>
        <p:spPr>
          <a:xfrm rot="16200000" flipH="1" flipV="1">
            <a:off x="4005705" y="4138724"/>
            <a:ext cx="586115" cy="904081"/>
          </a:xfrm>
          <a:prstGeom prst="bentConnector4">
            <a:avLst>
              <a:gd name="adj1" fmla="val -39003"/>
              <a:gd name="adj2" fmla="val 83127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0" name="직선 화살표 연결선 259"/>
          <p:cNvCxnSpPr>
            <a:stCxn id="243" idx="0"/>
            <a:endCxn id="69" idx="2"/>
          </p:cNvCxnSpPr>
          <p:nvPr/>
        </p:nvCxnSpPr>
        <p:spPr bwMode="auto">
          <a:xfrm flipV="1">
            <a:off x="3247733" y="3624140"/>
            <a:ext cx="0" cy="1087913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8" name="꺾인 연결선 267"/>
          <p:cNvCxnSpPr>
            <a:stCxn id="243" idx="2"/>
            <a:endCxn id="225" idx="2"/>
          </p:cNvCxnSpPr>
          <p:nvPr/>
        </p:nvCxnSpPr>
        <p:spPr>
          <a:xfrm rot="16200000" flipH="1">
            <a:off x="3599253" y="4704073"/>
            <a:ext cx="800031" cy="1503070"/>
          </a:xfrm>
          <a:prstGeom prst="bentConnector3">
            <a:avLst>
              <a:gd name="adj1" fmla="val 12857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71" name="꺾인 연결선 270"/>
          <p:cNvCxnSpPr>
            <a:stCxn id="59" idx="2"/>
            <a:endCxn id="243" idx="1"/>
          </p:cNvCxnSpPr>
          <p:nvPr/>
        </p:nvCxnSpPr>
        <p:spPr>
          <a:xfrm rot="16200000" flipH="1">
            <a:off x="1435278" y="3670357"/>
            <a:ext cx="950768" cy="147616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80" name="TextBox 279"/>
          <p:cNvSpPr txBox="1"/>
          <p:nvPr/>
        </p:nvSpPr>
        <p:spPr>
          <a:xfrm>
            <a:off x="2081849" y="2064441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HTTP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3225876" y="1989783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2. URL </a:t>
            </a:r>
          </a:p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Mapping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730989" y="1535831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3. DB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 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7949198" y="2383276"/>
            <a:ext cx="7922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ODBC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연결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956748" y="3375255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5. O-R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5914256" y="2528891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도메인 값 전달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4126474" y="2655746"/>
            <a:ext cx="14638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로직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결과값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2548446" y="2933364"/>
            <a:ext cx="9845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8. View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타입 결정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2539786" y="3833565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9. JSP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3733139" y="3870675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뷰어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5593447" y="3841406"/>
            <a:ext cx="1119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엔진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6921043" y="4224487"/>
            <a:ext cx="10999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조회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6495819" y="5434384"/>
            <a:ext cx="11063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293246" y="5728601"/>
            <a:ext cx="12025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생성된 시각화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3287302" y="6093876"/>
            <a:ext cx="981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렌더링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1087019" y="4958749"/>
            <a:ext cx="1479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16. HTML5 / JS / JSON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응답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270704" y="987876"/>
            <a:ext cx="9294744" cy="5537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306" name="Rectangle 137"/>
          <p:cNvSpPr>
            <a:spLocks noChangeArrowheads="1"/>
          </p:cNvSpPr>
          <p:nvPr/>
        </p:nvSpPr>
        <p:spPr bwMode="gray">
          <a:xfrm>
            <a:off x="2098737" y="1218928"/>
            <a:ext cx="7174743" cy="509039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kumimoji="0"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 Side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48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>
              <a:lumMod val="50000"/>
              <a:lumOff val="50000"/>
            </a:schemeClr>
          </a:solidFill>
          <a:headEnd/>
          <a:tailEnd/>
        </a:ln>
        <a:effectLst/>
      </a:spPr>
      <a:bodyPr wrap="none" rtlCol="0" anchor="ctr"/>
      <a:lstStyle>
        <a:defPPr algn="ctr" latinLnBrk="0">
          <a:lnSpc>
            <a:spcPts val="1400"/>
          </a:lnSpc>
          <a:spcAft>
            <a:spcPct val="30000"/>
          </a:spcAft>
          <a:defRPr sz="1200" kern="0" dirty="0" smtClean="0">
            <a:solidFill>
              <a:schemeClr val="tx1">
                <a:lumMod val="50000"/>
                <a:lumOff val="50000"/>
              </a:schemeClr>
            </a:solidFill>
            <a:latin typeface="산돌고딕 M" pitchFamily="18" charset="-127"/>
            <a:ea typeface="산돌고딕 M" pitchFamily="18" charset="-12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9525">
          <a:solidFill>
            <a:schemeClr val="tx1"/>
          </a:solidFill>
          <a:round/>
          <a:headEnd/>
          <a:tailEnd type="triangle" w="med" len="med"/>
        </a:ln>
      </a:spPr>
      <a:bodyPr/>
      <a:lstStyle/>
    </a:lnDef>
    <a:txDef>
      <a:spPr>
        <a:noFill/>
        <a:ln w="19050" algn="ctr">
          <a:noFill/>
          <a:round/>
          <a:headEnd/>
          <a:tailEnd/>
        </a:ln>
      </a:spPr>
      <a:bodyPr wrap="none" rtlCol="0">
        <a:spAutoFit/>
      </a:bodyPr>
      <a:lstStyle>
        <a:defPPr marL="268288" indent="-268288" fontAlgn="auto" latinLnBrk="0">
          <a:lnSpc>
            <a:spcPct val="110000"/>
          </a:lnSpc>
          <a:spcBef>
            <a:spcPct val="20000"/>
          </a:spcBef>
          <a:spcAft>
            <a:spcPts val="0"/>
          </a:spcAft>
          <a:buSzPct val="100000"/>
          <a:buFontTx/>
          <a:buBlip>
            <a:blip xmlns:r="http://schemas.openxmlformats.org/officeDocument/2006/relationships" r:embed="rId1"/>
          </a:buBlip>
          <a:defRPr kumimoji="0" sz="1400" b="1" kern="0" dirty="0" err="1" smtClean="0">
            <a:solidFill>
              <a:srgbClr val="000000"/>
            </a:solidFill>
            <a:latin typeface="산돌고딕 M" pitchFamily="18" charset="-127"/>
            <a:ea typeface="산돌고딕 M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73784</TotalTime>
  <Words>487</Words>
  <Application>Microsoft Office PowerPoint</Application>
  <PresentationFormat>A4 용지(210x297mm)</PresentationFormat>
  <Paragraphs>221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맑은 고딕</vt:lpstr>
      <vt:lpstr>Arial</vt:lpstr>
      <vt:lpstr>Wingdings 2</vt:lpstr>
      <vt:lpstr>굴림</vt:lpstr>
      <vt:lpstr>산돌고딕 M</vt:lpstr>
      <vt:lpstr>나눔고딕 ExtraBold</vt:lpstr>
      <vt:lpstr>나눔고딕</vt:lpstr>
      <vt:lpstr>Calibri</vt:lpstr>
      <vt:lpstr>1_Office 테마</vt:lpstr>
      <vt:lpstr>PowerPoint 프레젠테이션</vt:lpstr>
      <vt:lpstr>시스템 구성 아키텍처</vt:lpstr>
      <vt:lpstr>어플리케이션 아키텍처 – Module View (Layered Style)</vt:lpstr>
      <vt:lpstr>어플리케이션 아키텍처 – (Context Diagram)</vt:lpstr>
      <vt:lpstr>어플리케이션 아키텍처 – 시각화 지표 조회(Runtime View)</vt:lpstr>
    </vt:vector>
  </TitlesOfParts>
  <Company>Open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Open</dc:creator>
  <cp:lastModifiedBy>chang.sun won</cp:lastModifiedBy>
  <cp:revision>4489</cp:revision>
  <cp:lastPrinted>2012-05-24T11:23:39Z</cp:lastPrinted>
  <dcterms:created xsi:type="dcterms:W3CDTF">2010-06-22T00:01:58Z</dcterms:created>
  <dcterms:modified xsi:type="dcterms:W3CDTF">2016-09-29T01:51:38Z</dcterms:modified>
</cp:coreProperties>
</file>