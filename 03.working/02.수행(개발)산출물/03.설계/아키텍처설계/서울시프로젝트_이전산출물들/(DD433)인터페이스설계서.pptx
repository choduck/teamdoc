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141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2074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980728"/>
            <a:ext cx="8363272" cy="547260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95536" y="6597352"/>
            <a:ext cx="936104" cy="260648"/>
          </a:xfrm>
        </p:spPr>
        <p:txBody>
          <a:bodyPr/>
          <a:lstStyle>
            <a:lvl1pPr algn="l">
              <a:defRPr sz="1050"/>
            </a:lvl1pPr>
          </a:lstStyle>
          <a:p>
            <a:r>
              <a:rPr lang="ko-KR" altLang="en-US" smtClean="0"/>
              <a:t>서울특별시</a:t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3491880" y="6597352"/>
            <a:ext cx="2133600" cy="260648"/>
          </a:xfrm>
        </p:spPr>
        <p:txBody>
          <a:bodyPr/>
          <a:lstStyle>
            <a:lvl1pPr algn="ctr">
              <a:defRPr sz="1050"/>
            </a:lvl1pPr>
          </a:lstStyle>
          <a:p>
            <a:fld id="{BDBF1400-D1B6-42D2-B13A-8041EA21976A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0" name="바닥글 개체 틀 4"/>
          <p:cNvSpPr txBox="1">
            <a:spLocks/>
          </p:cNvSpPr>
          <p:nvPr userDrawn="1"/>
        </p:nvSpPr>
        <p:spPr>
          <a:xfrm>
            <a:off x="7020272" y="6597352"/>
            <a:ext cx="1872208" cy="2606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sz="1050"/>
            </a:lvl1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50" b="0" i="0" u="none" strike="noStrike" kern="1200" cap="none" spc="0" normalizeH="0" baseline="0" noProof="0" err="1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윤커뮤니케이션즈</a:t>
            </a:r>
            <a:r>
              <a:rPr kumimoji="0" lang="ko-KR" altLang="en-US" sz="105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컨소시엄</a:t>
            </a:r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251520" y="6525344"/>
            <a:ext cx="87129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68B7F-523C-498F-A4E3-04CA9607D088}" type="datetimeFigureOut">
              <a:rPr lang="ko-KR" altLang="en-US" smtClean="0"/>
              <a:t>2015-10-22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25CE2-EB91-4855-8CD8-E1422E9916F1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4860032" y="4581128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4" name="Text Box 468"/>
          <p:cNvSpPr txBox="1">
            <a:spLocks noChangeArrowheads="1"/>
          </p:cNvSpPr>
          <p:nvPr/>
        </p:nvSpPr>
        <p:spPr bwMode="auto">
          <a:xfrm>
            <a:off x="468313" y="1450182"/>
            <a:ext cx="8640762" cy="214312"/>
          </a:xfrm>
          <a:prstGeom prst="rect">
            <a:avLst/>
          </a:prstGeom>
          <a:noFill/>
          <a:ln w="6350" algn="ctr">
            <a:noFill/>
            <a:miter lim="800000"/>
            <a:headEnd/>
            <a:tailEnd/>
          </a:ln>
        </p:spPr>
        <p:txBody>
          <a:bodyPr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ctr">
              <a:spcBef>
                <a:spcPct val="50000"/>
              </a:spcBef>
            </a:pPr>
            <a:endParaRPr lang="ko-KR" altLang="ko-KR"/>
          </a:p>
        </p:txBody>
      </p:sp>
      <p:sp>
        <p:nvSpPr>
          <p:cNvPr id="18" name="Rectangle 464"/>
          <p:cNvSpPr>
            <a:spLocks noChangeArrowheads="1"/>
          </p:cNvSpPr>
          <p:nvPr/>
        </p:nvSpPr>
        <p:spPr bwMode="auto">
          <a:xfrm>
            <a:off x="0" y="575890"/>
            <a:ext cx="8712968" cy="6282110"/>
          </a:xfrm>
          <a:prstGeom prst="rect">
            <a:avLst/>
          </a:prstGeom>
          <a:solidFill>
            <a:schemeClr val="bg1"/>
          </a:solidFill>
          <a:ln w="6350" algn="ctr">
            <a:noFill/>
            <a:miter lim="800000"/>
            <a:headEnd/>
            <a:tailEnd/>
          </a:ln>
        </p:spPr>
        <p:txBody>
          <a:bodyPr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sz="800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algn="r">
              <a:spcBef>
                <a:spcPct val="50000"/>
              </a:spcBef>
            </a:pPr>
            <a:endParaRPr lang="en-US" altLang="ko-KR" sz="1600" dirty="0" smtClean="0">
              <a:latin typeface="신명조"/>
            </a:endParaRPr>
          </a:p>
          <a:p>
            <a:pPr algn="r">
              <a:spcBef>
                <a:spcPct val="50000"/>
              </a:spcBef>
            </a:pPr>
            <a:r>
              <a:rPr lang="en-US" altLang="ko-KR" sz="1600" dirty="0" smtClean="0">
                <a:latin typeface="HY견명조" pitchFamily="18" charset="-127"/>
                <a:ea typeface="HY견명조" pitchFamily="18" charset="-127"/>
              </a:rPr>
              <a:t>2015</a:t>
            </a:r>
            <a:r>
              <a:rPr lang="ko-KR" altLang="en-US" sz="1600" smtClean="0">
                <a:latin typeface="HY견명조" pitchFamily="18" charset="-127"/>
                <a:ea typeface="HY견명조" pitchFamily="18" charset="-127"/>
              </a:rPr>
              <a:t>년 </a:t>
            </a:r>
            <a:r>
              <a:rPr lang="ko-KR" altLang="en-US" sz="1600" dirty="0" smtClean="0">
                <a:latin typeface="HY견명조" pitchFamily="18" charset="-127"/>
                <a:ea typeface="HY견명조" pitchFamily="18" charset="-127"/>
              </a:rPr>
              <a:t>행정 </a:t>
            </a:r>
            <a:r>
              <a:rPr lang="ko-KR" altLang="en-US" sz="1600" dirty="0">
                <a:latin typeface="HY견명조" pitchFamily="18" charset="-127"/>
                <a:ea typeface="HY견명조" pitchFamily="18" charset="-127"/>
              </a:rPr>
              <a:t>데이터 통합 및 열린 데이터 광장 확장</a:t>
            </a:r>
            <a:endParaRPr lang="en-US" altLang="ko-KR" sz="1600" dirty="0" smtClean="0">
              <a:latin typeface="HY견명조" pitchFamily="18" charset="-127"/>
              <a:ea typeface="HY견명조" pitchFamily="18" charset="-127"/>
            </a:endParaRPr>
          </a:p>
          <a:p>
            <a:pPr algn="r">
              <a:spcBef>
                <a:spcPct val="50000"/>
              </a:spcBef>
            </a:pPr>
            <a:r>
              <a:rPr lang="ko-KR" altLang="en-US" sz="3600" dirty="0" smtClean="0">
                <a:solidFill>
                  <a:srgbClr val="FF0000"/>
                </a:solidFill>
                <a:latin typeface="HY견명조" pitchFamily="18" charset="-127"/>
                <a:ea typeface="HY견명조" pitchFamily="18" charset="-127"/>
              </a:rPr>
              <a:t>인터페이</a:t>
            </a:r>
            <a:r>
              <a:rPr lang="ko-KR" altLang="en-US" sz="3600" dirty="0">
                <a:solidFill>
                  <a:srgbClr val="FF0000"/>
                </a:solidFill>
                <a:latin typeface="HY견명조" pitchFamily="18" charset="-127"/>
                <a:ea typeface="HY견명조" pitchFamily="18" charset="-127"/>
              </a:rPr>
              <a:t>스</a:t>
            </a:r>
            <a:r>
              <a:rPr lang="ko-KR" altLang="en-US" sz="3600" dirty="0" smtClean="0">
                <a:solidFill>
                  <a:srgbClr val="FF0000"/>
                </a:solidFill>
                <a:latin typeface="HY견명조" pitchFamily="18" charset="-127"/>
                <a:ea typeface="HY견명조" pitchFamily="18" charset="-127"/>
              </a:rPr>
              <a:t>설계서</a:t>
            </a:r>
            <a:endParaRPr lang="en-US" altLang="ko-KR" sz="1050" dirty="0">
              <a:latin typeface="HY견명조" pitchFamily="18" charset="-127"/>
              <a:ea typeface="HY견명조" pitchFamily="18" charset="-127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HY견명조" pitchFamily="18" charset="-127"/>
              <a:ea typeface="HY견명조" pitchFamily="18" charset="-127"/>
            </a:endParaRPr>
          </a:p>
          <a:p>
            <a:pPr algn="r">
              <a:spcBef>
                <a:spcPct val="50000"/>
              </a:spcBef>
            </a:pPr>
            <a:r>
              <a:rPr lang="en-US" altLang="ko-KR" sz="1400" dirty="0">
                <a:latin typeface="HY견명조" pitchFamily="18" charset="-127"/>
                <a:ea typeface="HY견명조" pitchFamily="18" charset="-127"/>
              </a:rPr>
              <a:t>(</a:t>
            </a:r>
            <a:r>
              <a:rPr lang="ko-KR" altLang="en-US" sz="1400" dirty="0">
                <a:latin typeface="HY견명조" pitchFamily="18" charset="-127"/>
                <a:ea typeface="HY견명조" pitchFamily="18" charset="-127"/>
              </a:rPr>
              <a:t>문서번호 </a:t>
            </a:r>
            <a:r>
              <a:rPr lang="en-US" altLang="ko-KR" sz="1400" dirty="0">
                <a:latin typeface="HY견명조" pitchFamily="18" charset="-127"/>
                <a:ea typeface="HY견명조" pitchFamily="18" charset="-127"/>
              </a:rPr>
              <a:t>: </a:t>
            </a:r>
            <a:r>
              <a:rPr lang="en-US" altLang="ko-KR" sz="1400" dirty="0" smtClean="0">
                <a:latin typeface="HY견명조" pitchFamily="18" charset="-127"/>
                <a:ea typeface="HY견명조" pitchFamily="18" charset="-127"/>
              </a:rPr>
              <a:t>201502-DD433)</a:t>
            </a:r>
            <a:endParaRPr lang="en-US" altLang="ko-KR" sz="1400" dirty="0">
              <a:latin typeface="HY견명조" pitchFamily="18" charset="-127"/>
              <a:ea typeface="HY견명조" pitchFamily="18" charset="-127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 smtClean="0">
              <a:latin typeface="HY견명조" pitchFamily="18" charset="-127"/>
              <a:ea typeface="HY견명조" pitchFamily="18" charset="-127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r">
              <a:spcBef>
                <a:spcPct val="50000"/>
              </a:spcBef>
            </a:pPr>
            <a:endParaRPr lang="en-US" altLang="ko-KR" sz="1050" dirty="0">
              <a:latin typeface="신명조"/>
            </a:endParaRPr>
          </a:p>
          <a:p>
            <a:pPr algn="ctr">
              <a:spcBef>
                <a:spcPct val="50000"/>
              </a:spcBef>
            </a:pPr>
            <a:endParaRPr lang="ko-KR" altLang="ko-KR" sz="900" dirty="0">
              <a:latin typeface="신명조"/>
            </a:endParaRPr>
          </a:p>
        </p:txBody>
      </p:sp>
      <p:grpSp>
        <p:nvGrpSpPr>
          <p:cNvPr id="6" name="그룹 5"/>
          <p:cNvGrpSpPr>
            <a:grpSpLocks/>
          </p:cNvGrpSpPr>
          <p:nvPr/>
        </p:nvGrpSpPr>
        <p:grpSpPr>
          <a:xfrm>
            <a:off x="6156176" y="4293096"/>
            <a:ext cx="2307600" cy="2134800"/>
            <a:chOff x="6645928" y="4077072"/>
            <a:chExt cx="2307600" cy="2134800"/>
          </a:xfrm>
        </p:grpSpPr>
        <p:graphicFrame>
          <p:nvGraphicFramePr>
            <p:cNvPr id="7" name="Object 2"/>
            <p:cNvGraphicFramePr>
              <a:graphicFrameLocks noChangeAspect="1"/>
            </p:cNvGraphicFramePr>
            <p:nvPr/>
          </p:nvGraphicFramePr>
          <p:xfrm>
            <a:off x="7255544" y="5715016"/>
            <a:ext cx="1117600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8" name="사진" r:id="rId3" imgW="1117488" imgH="339504" progId="StaticMetafile">
                    <p:embed/>
                  </p:oleObj>
                </mc:Choice>
                <mc:Fallback>
                  <p:oleObj name="사진" r:id="rId3" imgW="1117488" imgH="339504" progId="StaticMetafile">
                    <p:embed/>
                    <p:pic>
                      <p:nvPicPr>
                        <p:cNvPr id="0" name="Picture 2" descr="rId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5544" y="5715016"/>
                          <a:ext cx="1117600" cy="3397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직사각형 7"/>
            <p:cNvSpPr/>
            <p:nvPr/>
          </p:nvSpPr>
          <p:spPr>
            <a:xfrm>
              <a:off x="6645928" y="4077072"/>
              <a:ext cx="2307600" cy="2134800"/>
            </a:xfrm>
            <a:prstGeom prst="rect">
              <a:avLst/>
            </a:prstGeom>
            <a:noFill/>
            <a:ln w="9525" algn="ctr">
              <a:solidFill>
                <a:schemeClr val="tx1"/>
              </a:solidFill>
              <a:round/>
            </a:ln>
          </p:spPr>
          <p:txBody>
            <a:bodyPr wrap="none" lIns="90000" tIns="0" rIns="90000" bIns="0" anchor="t"/>
            <a:lstStyle/>
            <a:p>
              <a:pPr>
                <a:spcBef>
                  <a:spcPct val="50000"/>
                </a:spcBef>
                <a:defRPr lang="ko-KR" altLang="en-US"/>
              </a:pPr>
              <a:r>
                <a:rPr lang="en-US" altLang="ko-KR" sz="1400" dirty="0">
                  <a:latin typeface="+mn-ea"/>
                  <a:ea typeface="+mn-ea"/>
                </a:rPr>
                <a:t/>
              </a:r>
              <a:br>
                <a:rPr lang="en-US" altLang="ko-KR" sz="1400" dirty="0">
                  <a:latin typeface="+mn-ea"/>
                  <a:ea typeface="+mn-ea"/>
                </a:rPr>
              </a:b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방법론버전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2.0</a:t>
              </a:r>
            </a:p>
            <a:p>
              <a:pPr>
                <a:spcBef>
                  <a:spcPct val="50000"/>
                </a:spcBef>
                <a:defRPr lang="ko-KR" altLang="en-US"/>
              </a:pPr>
              <a:r>
                <a:rPr lang="ko-KR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작성자 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: </a:t>
              </a:r>
              <a:r>
                <a:rPr lang="ko-KR" alt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김나혜</a:t>
              </a:r>
              <a: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/>
              </a:r>
              <a:br>
                <a:rPr lang="en-US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</a:br>
              <a:endParaRPr lang="en-US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  <a:p>
              <a:pPr>
                <a:spcBef>
                  <a:spcPct val="50000"/>
                </a:spcBef>
                <a:defRPr lang="ko-KR" altLang="en-US"/>
              </a:pPr>
              <a:r>
                <a:rPr lang="ko-KR" altLang="en-US" sz="1400" dirty="0" err="1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윤커뮤니케이션즈</a:t>
              </a:r>
              <a:r>
                <a:rPr lang="ko-KR" altLang="en-US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ea"/>
                  <a:ea typeface="+mn-ea"/>
                </a:rPr>
                <a:t> 컨소시엄</a:t>
              </a:r>
              <a:endPara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ko-KR" altLang="en-US" smtClean="0"/>
              <a:t>서울특별시</a:t>
            </a: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1400-D1B6-42D2-B13A-8041EA21976A}" type="slidenum">
              <a:rPr lang="ko-KR" altLang="en-US" smtClean="0"/>
              <a:pPr/>
              <a:t>2</a:t>
            </a:fld>
            <a:endParaRPr lang="ko-KR" altLang="en-US"/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852646"/>
              </p:ext>
            </p:extLst>
          </p:nvPr>
        </p:nvGraphicFramePr>
        <p:xfrm>
          <a:off x="323527" y="332652"/>
          <a:ext cx="8496946" cy="6084316"/>
        </p:xfrm>
        <a:graphic>
          <a:graphicData uri="http://schemas.openxmlformats.org/drawingml/2006/table">
            <a:tbl>
              <a:tblPr/>
              <a:tblGrid>
                <a:gridCol w="648073"/>
                <a:gridCol w="1296144"/>
                <a:gridCol w="4963944"/>
                <a:gridCol w="1588785"/>
              </a:tblGrid>
              <a:tr h="162242">
                <a:tc gridSpan="4">
                  <a:txBody>
                    <a:bodyPr/>
                    <a:lstStyle/>
                    <a:p>
                      <a:pPr algn="ctr">
                        <a:lnSpc>
                          <a:spcPct val="141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600" b="1" dirty="0">
                          <a:effectLst/>
                          <a:latin typeface="신명 태명조"/>
                        </a:rPr>
                        <a:t>작 성 이 </a:t>
                      </a:r>
                      <a:r>
                        <a:rPr lang="ko-KR" altLang="en-US" sz="1600" b="1" dirty="0" err="1">
                          <a:effectLst/>
                          <a:latin typeface="신명 태명조"/>
                        </a:rPr>
                        <a:t>력</a:t>
                      </a:r>
                      <a:r>
                        <a:rPr lang="ko-KR" altLang="en-US" sz="1600" b="1" dirty="0">
                          <a:effectLst/>
                          <a:latin typeface="신명 태명조"/>
                        </a:rPr>
                        <a:t> 표</a:t>
                      </a:r>
                      <a:endParaRPr lang="ko-KR" altLang="en-US" sz="16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CC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9912">
                <a:tc gridSpan="4">
                  <a:txBody>
                    <a:bodyPr/>
                    <a:lstStyle/>
                    <a:p>
                      <a:pPr>
                        <a:lnSpc>
                          <a:spcPct val="199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39710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>
                          <a:effectLst/>
                        </a:rPr>
                        <a:t>문서명</a:t>
                      </a: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CC2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dirty="0" smtClean="0">
                          <a:effectLst/>
                        </a:rPr>
                        <a:t>연계프로그램설계서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05815">
                <a:tc>
                  <a:txBody>
                    <a:bodyPr/>
                    <a:lstStyle/>
                    <a:p>
                      <a:pPr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2"/>
                    </a:solidFill>
                  </a:tcPr>
                </a:tc>
                <a:tc gridSpan="3">
                  <a:txBody>
                    <a:bodyPr/>
                    <a:lstStyle/>
                    <a:p>
                      <a:pPr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39710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>
                          <a:effectLst/>
                        </a:rPr>
                        <a:t>연번</a:t>
                      </a: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>
                          <a:effectLst/>
                        </a:rPr>
                        <a:t>작성일</a:t>
                      </a: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>
                          <a:effectLst/>
                        </a:rPr>
                        <a:t>작 성 내 용</a:t>
                      </a: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CC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>
                          <a:effectLst/>
                        </a:rPr>
                        <a:t>작성자</a:t>
                      </a: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CC2"/>
                    </a:solidFill>
                  </a:tcPr>
                </a:tc>
              </a:tr>
              <a:tr h="139710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</a:rPr>
                        <a:t>1</a:t>
                      </a:r>
                      <a:endParaRPr 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 smtClean="0">
                          <a:effectLst/>
                        </a:rPr>
                        <a:t>2015.10.12</a:t>
                      </a:r>
                      <a:endParaRPr 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>
                          <a:effectLst/>
                        </a:rPr>
                        <a:t>최초 작성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err="1" smtClean="0">
                          <a:effectLst/>
                        </a:rPr>
                        <a:t>김나혜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effectLst/>
                        </a:rPr>
                        <a:t>2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dirty="0" smtClean="0">
                          <a:effectLst/>
                        </a:rPr>
                        <a:t>2015.10.00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dirty="0" smtClean="0">
                          <a:effectLst/>
                        </a:rPr>
                        <a:t>내용 추가</a:t>
                      </a: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5815"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000" dirty="0">
                        <a:effectLst/>
                      </a:endParaRPr>
                    </a:p>
                  </a:txBody>
                  <a:tcPr marL="27152" marR="27152" marT="13576" marB="13576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3678238" y="16002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3112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BF1400-D1B6-42D2-B13A-8041EA21976A}" type="slidenum">
              <a:rPr lang="ko-KR" altLang="en-US" smtClean="0"/>
              <a:pPr/>
              <a:t>3</a:t>
            </a:fld>
            <a:endParaRPr lang="ko-KR" altLang="en-US"/>
          </a:p>
        </p:txBody>
      </p:sp>
      <p:cxnSp>
        <p:nvCxnSpPr>
          <p:cNvPr id="4" name="직선 연결선 3"/>
          <p:cNvCxnSpPr/>
          <p:nvPr/>
        </p:nvCxnSpPr>
        <p:spPr>
          <a:xfrm>
            <a:off x="251520" y="6525344"/>
            <a:ext cx="871296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451153"/>
              </p:ext>
            </p:extLst>
          </p:nvPr>
        </p:nvGraphicFramePr>
        <p:xfrm>
          <a:off x="395538" y="340256"/>
          <a:ext cx="8352926" cy="140091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332148"/>
                <a:gridCol w="1332148"/>
                <a:gridCol w="1584176"/>
                <a:gridCol w="1440160"/>
                <a:gridCol w="1656184"/>
                <a:gridCol w="1008110"/>
              </a:tblGrid>
              <a:tr h="2426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err="1" smtClean="0">
                          <a:solidFill>
                            <a:schemeClr val="tx1"/>
                          </a:solidFill>
                        </a:rPr>
                        <a:t>공공정보그룹명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공공정보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 smtClean="0">
                          <a:solidFill>
                            <a:schemeClr val="tx1"/>
                          </a:solidFill>
                        </a:rPr>
                        <a:t>원천시스템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267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건축물 내진성능 자가점검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건축물 내진성능 자가점검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건축물 내진성능 자가점검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2676">
                <a:tc rowSpan="3">
                  <a:txBody>
                    <a:bodyPr/>
                    <a:lstStyle/>
                    <a:p>
                      <a:pPr algn="l" latinLnBrk="1"/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</a:rPr>
                        <a:t>연계방식</a:t>
                      </a:r>
                      <a:endParaRPr lang="en-US" altLang="ko-KR" sz="1200" b="1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buFontTx/>
                        <a:buChar char="-"/>
                      </a:pPr>
                      <a:r>
                        <a:rPr lang="en-US" altLang="ko-KR" sz="1000" dirty="0" err="1" smtClean="0">
                          <a:solidFill>
                            <a:schemeClr val="tx1"/>
                          </a:solidFill>
                        </a:rPr>
                        <a:t>DBLink</a:t>
                      </a:r>
                      <a:endParaRPr lang="en-US" altLang="ko-KR" sz="1000" dirty="0" smtClean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buFontTx/>
                        <a:buChar char="-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CDC</a:t>
                      </a:r>
                    </a:p>
                    <a:p>
                      <a:pPr algn="l" latinLnBrk="1">
                        <a:buFontTx/>
                        <a:buChar char="-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File</a:t>
                      </a:r>
                    </a:p>
                    <a:p>
                      <a:pPr algn="l" latinLnBrk="1">
                        <a:buFontTx/>
                        <a:buChar char="-"/>
                      </a:pPr>
                      <a:r>
                        <a:rPr lang="en-US" altLang="ko-KR" sz="1000" dirty="0" smtClean="0">
                          <a:solidFill>
                            <a:schemeClr val="tx1"/>
                          </a:solidFill>
                        </a:rPr>
                        <a:t>XML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err="1" smtClean="0">
                          <a:solidFill>
                            <a:schemeClr val="tx1"/>
                          </a:solidFill>
                        </a:rPr>
                        <a:t>DBLink</a:t>
                      </a:r>
                      <a:endParaRPr lang="en-US" altLang="ko-KR" sz="12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smtClean="0">
                          <a:solidFill>
                            <a:schemeClr val="tx1"/>
                          </a:solidFill>
                        </a:rPr>
                        <a:t>연계정보</a:t>
                      </a:r>
                      <a:endParaRPr lang="ko-KR" altLang="en-US" sz="1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242676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</a:t>
                      </a:r>
                      <a:endParaRPr lang="ko-KR" altLang="en-US" sz="12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en-US" altLang="ko-KR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SID</a:t>
                      </a:r>
                      <a:endParaRPr lang="ko-KR" altLang="en-US" sz="1200" b="1" kern="1200" dirty="0" smtClean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lang="ko-KR" alt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주기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92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98.33.11.33</a:t>
                      </a:r>
                      <a:endParaRPr lang="en-US" altLang="ko-KR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CLEANUP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equake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일배치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" name="직사각형 13"/>
          <p:cNvSpPr/>
          <p:nvPr/>
        </p:nvSpPr>
        <p:spPr>
          <a:xfrm>
            <a:off x="395536" y="1844824"/>
            <a:ext cx="2232248" cy="28803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/>
              <a:t>시스템 연계 구성도</a:t>
            </a:r>
            <a:endParaRPr lang="ko-KR" altLang="en-US" sz="1200" b="1"/>
          </a:p>
        </p:txBody>
      </p:sp>
      <p:sp>
        <p:nvSpPr>
          <p:cNvPr id="15" name="직사각형 14"/>
          <p:cNvSpPr/>
          <p:nvPr/>
        </p:nvSpPr>
        <p:spPr>
          <a:xfrm>
            <a:off x="395536" y="2204864"/>
            <a:ext cx="8352928" cy="3672408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3059832" y="1844824"/>
            <a:ext cx="3312368" cy="288032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 err="1" smtClean="0">
                <a:solidFill>
                  <a:schemeClr val="tx1"/>
                </a:solidFill>
              </a:rPr>
              <a:t>서울데이터마트</a:t>
            </a:r>
            <a:r>
              <a:rPr lang="ko-KR" altLang="en-US" sz="1200" b="1" dirty="0" smtClean="0">
                <a:solidFill>
                  <a:schemeClr val="tx1"/>
                </a:solidFill>
              </a:rPr>
              <a:t> 서비스 유형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395536" y="5949280"/>
            <a:ext cx="1008112" cy="504056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smtClean="0"/>
              <a:t>비고</a:t>
            </a:r>
            <a:endParaRPr lang="ko-KR" altLang="en-US" sz="1200" b="1"/>
          </a:p>
        </p:txBody>
      </p:sp>
      <p:sp>
        <p:nvSpPr>
          <p:cNvPr id="19" name="텍스트 개체 틀 19"/>
          <p:cNvSpPr txBox="1">
            <a:spLocks/>
          </p:cNvSpPr>
          <p:nvPr/>
        </p:nvSpPr>
        <p:spPr>
          <a:xfrm>
            <a:off x="1475656" y="5949280"/>
            <a:ext cx="7272808" cy="504056"/>
          </a:xfrm>
          <a:prstGeom prst="rect">
            <a:avLst/>
          </a:prstGeom>
          <a:ln w="3175" cap="flat" cmpd="sng" algn="ctr">
            <a:solidFill>
              <a:schemeClr val="tx1"/>
            </a:solidFill>
            <a:prstDash val="soli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none"/>
        </p:style>
        <p:txBody>
          <a:bodyPr anchor="ctr">
            <a:noAutofit/>
          </a:bodyPr>
          <a:lstStyle>
            <a:lvl1pPr marL="182563" indent="-182563" algn="l" defTabSz="914400" rtl="0" eaLnBrk="1" latinLnBrk="1" hangingPunct="1">
              <a:spcBef>
                <a:spcPct val="20000"/>
              </a:spcBef>
              <a:buFont typeface="+mj-lt"/>
              <a:buAutoNum type="arabicPeriod"/>
              <a:defRPr sz="1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sp>
        <p:nvSpPr>
          <p:cNvPr id="11" name="텍스트 개체 틀 28"/>
          <p:cNvSpPr txBox="1">
            <a:spLocks/>
          </p:cNvSpPr>
          <p:nvPr/>
        </p:nvSpPr>
        <p:spPr>
          <a:xfrm>
            <a:off x="6444208" y="1844824"/>
            <a:ext cx="2304256" cy="28803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sz="1100" dirty="0" err="1" smtClean="0"/>
              <a:t>OpenAPI</a:t>
            </a:r>
            <a:r>
              <a:rPr lang="en-US" altLang="ko-KR" sz="1100" dirty="0" smtClean="0"/>
              <a:t>, Sheet</a:t>
            </a:r>
            <a:endParaRPr lang="ko-KR" altLang="en-US" sz="1100" dirty="0"/>
          </a:p>
        </p:txBody>
      </p:sp>
      <p:sp>
        <p:nvSpPr>
          <p:cNvPr id="26" name="순서도: 자기 디스크 25"/>
          <p:cNvSpPr/>
          <p:nvPr/>
        </p:nvSpPr>
        <p:spPr>
          <a:xfrm>
            <a:off x="669054" y="3356992"/>
            <a:ext cx="1227862" cy="720080"/>
          </a:xfrm>
          <a:prstGeom prst="flowChartMagneticDisk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 fontAlgn="ctr"/>
            <a:r>
              <a:rPr lang="ko-KR" altLang="en-US" sz="1200" dirty="0">
                <a:solidFill>
                  <a:srgbClr val="000000"/>
                </a:solidFill>
              </a:rPr>
              <a:t>건축물 내진성능 자가점검</a:t>
            </a:r>
          </a:p>
        </p:txBody>
      </p:sp>
      <p:sp>
        <p:nvSpPr>
          <p:cNvPr id="27" name="순서도: 자기 디스크 26"/>
          <p:cNvSpPr/>
          <p:nvPr/>
        </p:nvSpPr>
        <p:spPr>
          <a:xfrm>
            <a:off x="3563888" y="3356992"/>
            <a:ext cx="1656184" cy="720080"/>
          </a:xfrm>
          <a:prstGeom prst="flowChartMagneticDisk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smtClean="0"/>
              <a:t>오픈아키텍쳐</a:t>
            </a:r>
            <a:endParaRPr lang="en-US" altLang="ko-KR" sz="1200"/>
          </a:p>
          <a:p>
            <a:pPr algn="ctr"/>
            <a:r>
              <a:rPr lang="ko-KR" altLang="en-US" sz="1200" smtClean="0"/>
              <a:t>인프라</a:t>
            </a:r>
            <a:r>
              <a:rPr lang="en-US" altLang="ko-KR" sz="1200" smtClean="0"/>
              <a:t>DB</a:t>
            </a:r>
            <a:endParaRPr lang="ko-KR" altLang="en-US" sz="1200"/>
          </a:p>
        </p:txBody>
      </p:sp>
      <p:sp>
        <p:nvSpPr>
          <p:cNvPr id="28" name="순서도: 자기 디스크 27"/>
          <p:cNvSpPr/>
          <p:nvPr/>
        </p:nvSpPr>
        <p:spPr>
          <a:xfrm>
            <a:off x="6887044" y="3356992"/>
            <a:ext cx="1656184" cy="720080"/>
          </a:xfrm>
          <a:prstGeom prst="flowChartMagneticDisk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 err="1" smtClean="0"/>
              <a:t>오픈데이터마트</a:t>
            </a:r>
            <a:endParaRPr lang="en-US" altLang="ko-KR" sz="1200" dirty="0" smtClean="0"/>
          </a:p>
          <a:p>
            <a:pPr algn="ctr"/>
            <a:r>
              <a:rPr lang="en-US" altLang="ko-KR" sz="1200" dirty="0" smtClean="0"/>
              <a:t>DB</a:t>
            </a:r>
            <a:endParaRPr lang="ko-KR" altLang="en-US" sz="1200" dirty="0"/>
          </a:p>
        </p:txBody>
      </p:sp>
      <p:cxnSp>
        <p:nvCxnSpPr>
          <p:cNvPr id="29" name="직선 화살표 연결선 28"/>
          <p:cNvCxnSpPr/>
          <p:nvPr/>
        </p:nvCxnSpPr>
        <p:spPr>
          <a:xfrm flipV="1">
            <a:off x="1896916" y="3788098"/>
            <a:ext cx="1661570" cy="94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/>
          <p:cNvCxnSpPr/>
          <p:nvPr/>
        </p:nvCxnSpPr>
        <p:spPr>
          <a:xfrm>
            <a:off x="5227704" y="3795896"/>
            <a:ext cx="1643074" cy="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611560" y="2276872"/>
            <a:ext cx="1800200" cy="360040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smtClean="0">
                <a:solidFill>
                  <a:schemeClr val="tx1"/>
                </a:solidFill>
              </a:rPr>
              <a:t>원천시스템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2915816" y="2276872"/>
            <a:ext cx="2880320" cy="360040"/>
          </a:xfrm>
          <a:prstGeom prst="rect">
            <a:avLst/>
          </a:prstGeom>
          <a:solidFill>
            <a:schemeClr val="bg1">
              <a:lumMod val="7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오픈아키텍쳐시스템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6372200" y="2276872"/>
            <a:ext cx="2232248" cy="360040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smtClean="0">
                <a:solidFill>
                  <a:schemeClr val="tx1"/>
                </a:solidFill>
              </a:rPr>
              <a:t>오픈데이터마트시스템</a:t>
            </a:r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71472" y="2643182"/>
            <a:ext cx="52864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smtClean="0"/>
              <a:t>대상테이블</a:t>
            </a:r>
            <a:r>
              <a:rPr lang="en-US" altLang="ko-KR" sz="1200" dirty="0" smtClean="0"/>
              <a:t> : </a:t>
            </a:r>
            <a:r>
              <a:rPr lang="pl-PL" sz="1200" dirty="0" smtClean="0"/>
              <a:t>V_BOARD_STAT</a:t>
            </a:r>
            <a:r>
              <a:rPr lang="en-US" sz="1200" dirty="0"/>
              <a:t>, V_BOARD_STAT_SUB </a:t>
            </a:r>
            <a:endParaRPr lang="pl-PL" sz="1200" dirty="0" smtClean="0"/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890214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95</Words>
  <Application>Microsoft Office PowerPoint</Application>
  <PresentationFormat>화면 슬라이드 쇼(4:3)</PresentationFormat>
  <Paragraphs>70</Paragraphs>
  <Slides>3</Slides>
  <Notes>0</Notes>
  <HiddenSlides>0</HiddenSlides>
  <MMClips>0</MMClips>
  <ScaleCrop>false</ScaleCrop>
  <HeadingPairs>
    <vt:vector size="6" baseType="variant"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5" baseType="lpstr">
      <vt:lpstr>Office 테마</vt:lpstr>
      <vt:lpstr>사진</vt:lpstr>
      <vt:lpstr>PowerPoint 프레젠테이션</vt:lpstr>
      <vt:lpstr>PowerPoint 프레젠테이션</vt:lpstr>
      <vt:lpstr>PowerPoint 프레젠테이션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kiesdns</dc:creator>
  <cp:lastModifiedBy>nahye kim</cp:lastModifiedBy>
  <cp:revision>3</cp:revision>
  <dcterms:created xsi:type="dcterms:W3CDTF">2015-10-12T06:22:39Z</dcterms:created>
  <dcterms:modified xsi:type="dcterms:W3CDTF">2015-10-22T05:30:10Z</dcterms:modified>
</cp:coreProperties>
</file>