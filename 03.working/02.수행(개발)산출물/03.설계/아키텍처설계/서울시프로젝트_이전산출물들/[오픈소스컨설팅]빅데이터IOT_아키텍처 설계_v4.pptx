
<file path=[Content_Types].xml><?xml version="1.0" encoding="utf-8"?>
<Types xmlns="http://schemas.openxmlformats.org/package/2006/content-types">
  <Default Extension="png" ContentType="image/png"/>
  <Default Extension="wmf" ContentType="image/x-wmf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20"/>
  </p:notesMasterIdLst>
  <p:handoutMasterIdLst>
    <p:handoutMasterId r:id="rId21"/>
  </p:handoutMasterIdLst>
  <p:sldIdLst>
    <p:sldId id="389" r:id="rId2"/>
    <p:sldId id="1194" r:id="rId3"/>
    <p:sldId id="1192" r:id="rId4"/>
    <p:sldId id="1180" r:id="rId5"/>
    <p:sldId id="1183" r:id="rId6"/>
    <p:sldId id="1182" r:id="rId7"/>
    <p:sldId id="1181" r:id="rId8"/>
    <p:sldId id="1185" r:id="rId9"/>
    <p:sldId id="1184" r:id="rId10"/>
    <p:sldId id="1195" r:id="rId11"/>
    <p:sldId id="1197" r:id="rId12"/>
    <p:sldId id="1198" r:id="rId13"/>
    <p:sldId id="1191" r:id="rId14"/>
    <p:sldId id="1193" r:id="rId15"/>
    <p:sldId id="1187" r:id="rId16"/>
    <p:sldId id="1188" r:id="rId17"/>
    <p:sldId id="1189" r:id="rId18"/>
    <p:sldId id="1190" r:id="rId19"/>
  </p:sldIdLst>
  <p:sldSz cx="9906000" cy="6858000" type="A4"/>
  <p:notesSz cx="6797675" cy="9928225"/>
  <p:embeddedFontLst>
    <p:embeddedFont>
      <p:font typeface="맑은 고딕" panose="020B0503020000020004" pitchFamily="50" charset="-127"/>
      <p:regular r:id="rId22"/>
      <p:bold r:id="rId23"/>
    </p:embeddedFont>
    <p:embeddedFont>
      <p:font typeface="산돌고딕 M" panose="020B0600000101010101" charset="-127"/>
      <p:regular r:id="rId24"/>
    </p:embeddedFont>
    <p:embeddedFont>
      <p:font typeface="Wingdings 2" panose="05020102010507070707" pitchFamily="18" charset="2"/>
      <p:regular r:id="rId25"/>
    </p:embeddedFont>
    <p:embeddedFont>
      <p:font typeface="맑은 고딕" panose="020B0503020000020004" pitchFamily="50" charset="-127"/>
      <p:regular r:id="rId22"/>
      <p:bold r:id="rId23"/>
    </p:embeddedFont>
    <p:embeddedFont>
      <p:font typeface="Calibri" panose="020F0502020204030204" pitchFamily="34" charset="0"/>
      <p:regular r:id="rId26"/>
      <p:bold r:id="rId27"/>
      <p:italic r:id="rId28"/>
      <p:boldItalic r:id="rId29"/>
    </p:embeddedFont>
    <p:embeddedFont>
      <p:font typeface="나눔고딕" panose="020D0604000000000000" pitchFamily="50" charset="-127"/>
      <p:regular r:id="rId30"/>
      <p:bold r:id="rId31"/>
    </p:embeddedFont>
    <p:embeddedFont>
      <p:font typeface="나눔고딕 ExtraBold" panose="020D0904000000000000" pitchFamily="50" charset="-127"/>
      <p:bold r:id="rId32"/>
    </p:embeddedFont>
  </p:embeddedFontLst>
  <p:defaultTextStyle>
    <a:defPPr>
      <a:defRPr lang="ko-KR"/>
    </a:defPPr>
    <a:lvl1pPr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1pPr>
    <a:lvl2pPr marL="4572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2pPr>
    <a:lvl3pPr marL="9144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3pPr>
    <a:lvl4pPr marL="13716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4pPr>
    <a:lvl5pPr marL="1828800" algn="l" rtl="0" fontAlgn="base" latinLnBrk="1">
      <a:spcBef>
        <a:spcPct val="0"/>
      </a:spcBef>
      <a:spcAft>
        <a:spcPct val="0"/>
      </a:spcAft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5pPr>
    <a:lvl6pPr marL="22860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6pPr>
    <a:lvl7pPr marL="27432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7pPr>
    <a:lvl8pPr marL="32004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8pPr>
    <a:lvl9pPr marL="3657600" algn="l" defTabSz="914400" rtl="0" eaLnBrk="1" latinLnBrk="1" hangingPunct="1">
      <a:defRPr kumimoji="1" kern="1200">
        <a:solidFill>
          <a:schemeClr val="tx1"/>
        </a:solidFill>
        <a:latin typeface="굴림" pitchFamily="50" charset="-127"/>
        <a:ea typeface="굴림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72">
          <p15:clr>
            <a:srgbClr val="A4A3A4"/>
          </p15:clr>
        </p15:guide>
        <p15:guide id="2" orient="horz" pos="2523">
          <p15:clr>
            <a:srgbClr val="A4A3A4"/>
          </p15:clr>
        </p15:guide>
        <p15:guide id="3" pos="3120">
          <p15:clr>
            <a:srgbClr val="A4A3A4"/>
          </p15:clr>
        </p15:guide>
        <p15:guide id="4" pos="5978">
          <p15:clr>
            <a:srgbClr val="A4A3A4"/>
          </p15:clr>
        </p15:guide>
        <p15:guide id="5" pos="1260">
          <p15:clr>
            <a:srgbClr val="A4A3A4"/>
          </p15:clr>
        </p15:guide>
        <p15:guide id="6" pos="172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7">
          <p15:clr>
            <a:srgbClr val="A4A3A4"/>
          </p15:clr>
        </p15:guide>
        <p15:guide id="2" pos="2141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SDS" initials="S" lastIdx="1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E8BC2"/>
    <a:srgbClr val="0000FF"/>
    <a:srgbClr val="FF5050"/>
    <a:srgbClr val="5E9EFF"/>
    <a:srgbClr val="000000"/>
    <a:srgbClr val="2F2FBF"/>
    <a:srgbClr val="009ED6"/>
    <a:srgbClr val="A2D4E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00A15C55-8517-42AA-B614-E9B94910E393}" styleName="보통 스타일 2 - 강조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86" autoAdjust="0"/>
    <p:restoredTop sz="96652" autoAdjust="0"/>
  </p:normalViewPr>
  <p:slideViewPr>
    <p:cSldViewPr showGuides="1">
      <p:cViewPr varScale="1">
        <p:scale>
          <a:sx n="117" d="100"/>
          <a:sy n="117" d="100"/>
        </p:scale>
        <p:origin x="990" y="108"/>
      </p:cViewPr>
      <p:guideLst>
        <p:guide orient="horz" pos="572"/>
        <p:guide orient="horz" pos="2523"/>
        <p:guide pos="3120"/>
        <p:guide pos="5978"/>
        <p:guide pos="1260"/>
        <p:guide pos="17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4530"/>
    </p:cViewPr>
  </p:sorterViewPr>
  <p:notesViewPr>
    <p:cSldViewPr showGuides="1">
      <p:cViewPr varScale="1">
        <p:scale>
          <a:sx n="76" d="100"/>
          <a:sy n="76" d="100"/>
        </p:scale>
        <p:origin x="-2142" y="-114"/>
      </p:cViewPr>
      <p:guideLst>
        <p:guide orient="horz" pos="3127"/>
        <p:guide pos="2141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handoutMaster" Target="handoutMasters/handoutMaster1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4.fntdata"/><Relationship Id="rId33" Type="http://schemas.openxmlformats.org/officeDocument/2006/relationships/commentAuthors" Target="commentAuthor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3.fntdata"/><Relationship Id="rId32" Type="http://schemas.openxmlformats.org/officeDocument/2006/relationships/font" Target="fonts/font11.fntdata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2.fntdata"/><Relationship Id="rId28" Type="http://schemas.openxmlformats.org/officeDocument/2006/relationships/font" Target="fonts/font7.fntdata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0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1.fntdata"/><Relationship Id="rId27" Type="http://schemas.openxmlformats.org/officeDocument/2006/relationships/font" Target="fonts/font6.fntdata"/><Relationship Id="rId30" Type="http://schemas.openxmlformats.org/officeDocument/2006/relationships/font" Target="fonts/font9.fntdata"/><Relationship Id="rId35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980" cy="496332"/>
          </a:xfrm>
          <a:prstGeom prst="rect">
            <a:avLst/>
          </a:prstGeom>
        </p:spPr>
        <p:txBody>
          <a:bodyPr vert="horz" lIns="91981" tIns="45991" rIns="91981" bIns="45991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0095" y="1"/>
            <a:ext cx="2945980" cy="496332"/>
          </a:xfrm>
          <a:prstGeom prst="rect">
            <a:avLst/>
          </a:prstGeom>
        </p:spPr>
        <p:txBody>
          <a:bodyPr vert="horz" lIns="91981" tIns="45991" rIns="91981" bIns="45991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192B1A77-2514-48A0-BD20-7E252C7AE8D4}" type="datetimeFigureOut">
              <a:rPr lang="ko-KR" altLang="en-US"/>
              <a:pPr>
                <a:defRPr/>
              </a:pPr>
              <a:t>2016-01-11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30297"/>
            <a:ext cx="2945980" cy="496331"/>
          </a:xfrm>
          <a:prstGeom prst="rect">
            <a:avLst/>
          </a:prstGeom>
        </p:spPr>
        <p:txBody>
          <a:bodyPr vert="horz" lIns="91981" tIns="45991" rIns="91981" bIns="45991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0095" y="9430297"/>
            <a:ext cx="2945980" cy="496331"/>
          </a:xfrm>
          <a:prstGeom prst="rect">
            <a:avLst/>
          </a:prstGeom>
        </p:spPr>
        <p:txBody>
          <a:bodyPr vert="horz" lIns="91981" tIns="45991" rIns="91981" bIns="45991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3E896C0-ABFC-4640-90F6-BEA7CFAD55B9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711270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2945980" cy="496332"/>
          </a:xfrm>
          <a:prstGeom prst="rect">
            <a:avLst/>
          </a:prstGeom>
        </p:spPr>
        <p:txBody>
          <a:bodyPr vert="horz" lIns="93064" tIns="46532" rIns="93064" bIns="46532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0095" y="1"/>
            <a:ext cx="2945980" cy="496332"/>
          </a:xfrm>
          <a:prstGeom prst="rect">
            <a:avLst/>
          </a:prstGeom>
        </p:spPr>
        <p:txBody>
          <a:bodyPr vert="horz" lIns="93064" tIns="46532" rIns="93064" bIns="46532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3A335150-B964-4361-9F88-0596EA09F1A7}" type="datetimeFigureOut">
              <a:rPr lang="ko-KR" altLang="en-US"/>
              <a:pPr>
                <a:defRPr/>
              </a:pPr>
              <a:t>2016-01-11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2788" y="746125"/>
            <a:ext cx="5372100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064" tIns="46532" rIns="93064" bIns="46532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9" y="4715947"/>
            <a:ext cx="5437500" cy="4466982"/>
          </a:xfrm>
          <a:prstGeom prst="rect">
            <a:avLst/>
          </a:prstGeom>
        </p:spPr>
        <p:txBody>
          <a:bodyPr vert="horz" lIns="93064" tIns="46532" rIns="93064" bIns="46532" rtlCol="0">
            <a:normAutofit/>
          </a:bodyPr>
          <a:lstStyle/>
          <a:p>
            <a:pPr lvl="0"/>
            <a:r>
              <a:rPr lang="ko-KR" altLang="en-US" noProof="0" smtClean="0"/>
              <a:t>마스터 텍스트 스타일을 편집합니다</a:t>
            </a:r>
          </a:p>
          <a:p>
            <a:pPr lvl="1"/>
            <a:r>
              <a:rPr lang="ko-KR" altLang="en-US" noProof="0" smtClean="0"/>
              <a:t>둘째 수준</a:t>
            </a:r>
          </a:p>
          <a:p>
            <a:pPr lvl="2"/>
            <a:r>
              <a:rPr lang="ko-KR" altLang="en-US" noProof="0" smtClean="0"/>
              <a:t>셋째 수준</a:t>
            </a:r>
          </a:p>
          <a:p>
            <a:pPr lvl="3"/>
            <a:r>
              <a:rPr lang="ko-KR" altLang="en-US" noProof="0" smtClean="0"/>
              <a:t>넷째 수준</a:t>
            </a:r>
          </a:p>
          <a:p>
            <a:pPr lvl="4"/>
            <a:r>
              <a:rPr lang="ko-KR" altLang="en-US" noProof="0" smtClean="0"/>
              <a:t>다섯째 수준</a:t>
            </a:r>
            <a:endParaRPr lang="ko-KR" altLang="en-US" noProof="0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30297"/>
            <a:ext cx="2945980" cy="496331"/>
          </a:xfrm>
          <a:prstGeom prst="rect">
            <a:avLst/>
          </a:prstGeom>
        </p:spPr>
        <p:txBody>
          <a:bodyPr vert="horz" lIns="93064" tIns="46532" rIns="93064" bIns="46532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0095" y="9430297"/>
            <a:ext cx="2945980" cy="496331"/>
          </a:xfrm>
          <a:prstGeom prst="rect">
            <a:avLst/>
          </a:prstGeom>
        </p:spPr>
        <p:txBody>
          <a:bodyPr vert="horz" lIns="93064" tIns="46532" rIns="93064" bIns="46532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DEE1521E-0E94-4F91-B416-9BC668BD40F7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0905154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9839155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3893451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6083" name="슬라이드 노트 개체 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ko-KR" altLang="en-US" smtClean="0"/>
          </a:p>
        </p:txBody>
      </p:sp>
      <p:sp>
        <p:nvSpPr>
          <p:cNvPr id="78852" name="슬라이드 번호 개체 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36C42AE-1E83-414A-80A3-EC1ACE6AF6E1}" type="slidenum">
              <a:rPr lang="ko-KR" altLang="en-US"/>
              <a:pPr fontAlgn="base">
                <a:spcBef>
                  <a:spcPct val="0"/>
                </a:spcBef>
                <a:spcAft>
                  <a:spcPct val="0"/>
                </a:spcAft>
                <a:defRPr/>
              </a:pPr>
              <a:t>13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580774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93606-D959-497B-A0EB-F87CAF343CA2}" type="slidenum">
              <a:rPr lang="ko-KR" altLang="en-US" smtClean="0"/>
              <a:pPr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3961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93606-D959-497B-A0EB-F87CAF343CA2}" type="slidenum">
              <a:rPr lang="ko-KR" altLang="en-US" smtClean="0"/>
              <a:pPr/>
              <a:t>16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073372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93606-D959-497B-A0EB-F87CAF343CA2}" type="slidenum">
              <a:rPr lang="ko-KR" altLang="en-US" smtClean="0"/>
              <a:pPr/>
              <a:t>17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203940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712788" y="746125"/>
            <a:ext cx="5372100" cy="3721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F493606-D959-497B-A0EB-F87CAF343CA2}" type="slidenum">
              <a:rPr lang="ko-KR" altLang="en-US" smtClean="0"/>
              <a:pPr/>
              <a:t>18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0739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6"/>
          <p:cNvSpPr/>
          <p:nvPr userDrawn="1"/>
        </p:nvSpPr>
        <p:spPr>
          <a:xfrm>
            <a:off x="0" y="1357313"/>
            <a:ext cx="9906000" cy="1643062"/>
          </a:xfrm>
          <a:prstGeom prst="rect">
            <a:avLst/>
          </a:prstGeom>
          <a:ln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4800" b="1" dirty="0">
              <a:solidFill>
                <a:prstClr val="white"/>
              </a:solidFill>
            </a:endParaRPr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B2A4C3C-21DF-4197-9F5D-84509D4370F2}" type="datetimeFigureOut">
              <a:rPr lang="ko-KR" altLang="en-US"/>
              <a:pPr>
                <a:defRPr/>
              </a:pPr>
              <a:t>2016-01-11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ED8563-ACBB-4E40-87EE-AC553AB98C1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21A432-65A6-4301-8132-FB2CBB4E8031}" type="datetimeFigureOut">
              <a:rPr lang="ko-KR" altLang="en-US"/>
              <a:pPr>
                <a:defRPr/>
              </a:pPr>
              <a:t>2016-01-11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767955C-9C63-457B-8582-A9D275EEFA46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E8DF0DE-6E79-4B05-9974-9EF82E620E9C}" type="datetimeFigureOut">
              <a:rPr lang="ko-KR" altLang="en-US"/>
              <a:pPr>
                <a:defRPr/>
              </a:pPr>
              <a:t>2016-01-11</a:t>
            </a:fld>
            <a:endParaRPr lang="ko-KR" altLang="en-US"/>
          </a:p>
        </p:txBody>
      </p:sp>
      <p:sp>
        <p:nvSpPr>
          <p:cNvPr id="4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5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492227F-7A36-461C-9766-1D83FC66CBB9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12"/>
          <p:cNvSpPr txBox="1">
            <a:spLocks noChangeArrowheads="1"/>
          </p:cNvSpPr>
          <p:nvPr userDrawn="1"/>
        </p:nvSpPr>
        <p:spPr bwMode="auto">
          <a:xfrm>
            <a:off x="3627438" y="659765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  <p:pic>
        <p:nvPicPr>
          <p:cNvPr id="6" name="Picture 3"/>
          <p:cNvPicPr/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8464" y="6597649"/>
            <a:ext cx="720080" cy="244475"/>
          </a:xfrm>
          <a:prstGeom prst="rect">
            <a:avLst/>
          </a:prstGeom>
          <a:noFill/>
          <a:ln>
            <a:noFill/>
          </a:ln>
          <a:effectLst/>
          <a:extLst/>
        </p:spPr>
      </p:pic>
      <p:sp>
        <p:nvSpPr>
          <p:cNvPr id="8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9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6"/>
          <p:cNvSpPr/>
          <p:nvPr userDrawn="1"/>
        </p:nvSpPr>
        <p:spPr>
          <a:xfrm>
            <a:off x="0" y="1"/>
            <a:ext cx="9906000" cy="69269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kumimoji="0" lang="ko-KR" altLang="en-US" sz="3000" b="1" dirty="0">
              <a:latin typeface="Calibri" pitchFamily="34" charset="0"/>
              <a:cs typeface="Calibri" pitchFamily="34" charset="0"/>
            </a:endParaRPr>
          </a:p>
        </p:txBody>
      </p:sp>
      <p:sp>
        <p:nvSpPr>
          <p:cNvPr id="4" name="Text Box 5"/>
          <p:cNvSpPr txBox="1">
            <a:spLocks noChangeArrowheads="1"/>
          </p:cNvSpPr>
          <p:nvPr userDrawn="1"/>
        </p:nvSpPr>
        <p:spPr bwMode="auto">
          <a:xfrm>
            <a:off x="4666357" y="6481258"/>
            <a:ext cx="574675" cy="363537"/>
          </a:xfrm>
          <a:prstGeom prst="rect">
            <a:avLst/>
          </a:prstGeom>
          <a:noFill/>
          <a:ln>
            <a:noFill/>
          </a:ln>
          <a:extLst/>
        </p:spPr>
        <p:txBody>
          <a:bodyPr wrap="none" lIns="0" tIns="0" rIns="0" bIns="0" anchor="ctr"/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latinLnBrk="0" hangingPunct="1">
              <a:defRPr/>
            </a:pPr>
            <a:fld id="{16190FCE-2A33-4D39-9E95-7AFD816533BF}" type="slidenum">
              <a:rPr kumimoji="0" lang="ko-KR" altLang="en-US" sz="900" smtClean="0">
                <a:latin typeface="Calibri" pitchFamily="34" charset="0"/>
                <a:ea typeface="맑은 고딕" pitchFamily="50" charset="-127"/>
                <a:cs typeface="Calibri" pitchFamily="34" charset="0"/>
              </a:rPr>
              <a:pPr algn="ctr" eaLnBrk="1" latinLnBrk="0" hangingPunct="1">
                <a:defRPr/>
              </a:pPr>
              <a:t>‹#›</a:t>
            </a:fld>
            <a:endParaRPr kumimoji="0" lang="en-US" altLang="ko-KR" sz="900" dirty="0" smtClean="0">
              <a:latin typeface="Calibri" pitchFamily="34" charset="0"/>
              <a:ea typeface="맑은 고딕" pitchFamily="50" charset="-127"/>
              <a:cs typeface="Calibri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/>
          </p:nvPr>
        </p:nvSpPr>
        <p:spPr>
          <a:xfrm>
            <a:off x="270704" y="0"/>
            <a:ext cx="9294744" cy="692696"/>
          </a:xfrm>
        </p:spPr>
        <p:txBody>
          <a:bodyPr>
            <a:normAutofit/>
          </a:bodyPr>
          <a:lstStyle>
            <a:lvl1pPr algn="l">
              <a:defRPr sz="2400" b="1">
                <a:solidFill>
                  <a:schemeClr val="bg1"/>
                </a:solidFill>
                <a:latin typeface="산돌고딕 M" pitchFamily="18" charset="-127"/>
                <a:ea typeface="산돌고딕 M" pitchFamily="18" charset="-127"/>
                <a:cs typeface="Calibri" pitchFamily="34" charset="0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8" name="Text Box 12"/>
          <p:cNvSpPr txBox="1">
            <a:spLocks noChangeArrowheads="1"/>
          </p:cNvSpPr>
          <p:nvPr userDrawn="1"/>
        </p:nvSpPr>
        <p:spPr bwMode="auto">
          <a:xfrm>
            <a:off x="3627438" y="6669940"/>
            <a:ext cx="2809875" cy="215444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algn="ctr" eaLnBrk="1" hangingPunct="1">
              <a:spcBef>
                <a:spcPct val="50000"/>
              </a:spcBef>
              <a:defRPr/>
            </a:pPr>
            <a:r>
              <a:rPr kumimoji="0" lang="en-US" altLang="ko-KR" sz="800" b="1" dirty="0" smtClean="0">
                <a:solidFill>
                  <a:srgbClr val="FF0000"/>
                </a:solidFill>
                <a:latin typeface="Calibri" pitchFamily="34" charset="0"/>
                <a:ea typeface="맑은 고딕" pitchFamily="50" charset="-127"/>
                <a:cs typeface="Calibri" pitchFamily="34" charset="0"/>
              </a:rPr>
              <a:t>- Internal Use Only -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511309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bl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350838" y="114300"/>
            <a:ext cx="7697787" cy="57785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350838" y="836613"/>
            <a:ext cx="9426575" cy="647700"/>
          </a:xfrm>
        </p:spPr>
        <p:txBody>
          <a:bodyPr/>
          <a:lstStyle>
            <a:lvl1pPr>
              <a:defRPr>
                <a:latin typeface="맑은 고딕" pitchFamily="50" charset="-127"/>
                <a:ea typeface="맑은 고딕" pitchFamily="50" charset="-127"/>
              </a:defRPr>
            </a:lvl1pPr>
          </a:lstStyle>
          <a:p>
            <a:pPr lvl="0"/>
            <a:endParaRPr lang="ko-KR" altLang="en-US" noProof="0" smtClean="0"/>
          </a:p>
        </p:txBody>
      </p:sp>
      <p:sp>
        <p:nvSpPr>
          <p:cNvPr id="4" name="Rectangle 7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AA40309-575B-4360-B403-25AC9C83F569}" type="slidenum">
              <a:rPr lang="en-US" altLang="ko-KR"/>
              <a:pPr>
                <a:defRPr/>
              </a:pPr>
              <a:t>‹#›</a:t>
            </a:fld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06017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제목 개체 틀 1"/>
          <p:cNvSpPr>
            <a:spLocks noGrp="1"/>
          </p:cNvSpPr>
          <p:nvPr>
            <p:ph type="title"/>
          </p:nvPr>
        </p:nvSpPr>
        <p:spPr bwMode="auto">
          <a:xfrm>
            <a:off x="495300" y="274638"/>
            <a:ext cx="8915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제목 스타일 편집</a:t>
            </a:r>
          </a:p>
        </p:txBody>
      </p:sp>
      <p:sp>
        <p:nvSpPr>
          <p:cNvPr id="1027" name="텍스트 개체 틀 2"/>
          <p:cNvSpPr>
            <a:spLocks noGrp="1"/>
          </p:cNvSpPr>
          <p:nvPr>
            <p:ph type="body" idx="1"/>
          </p:nvPr>
        </p:nvSpPr>
        <p:spPr bwMode="auto">
          <a:xfrm>
            <a:off x="495300" y="1600200"/>
            <a:ext cx="89154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495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033B17EA-1083-4CF8-9F07-8184CB63137C}" type="datetimeFigureOut">
              <a:rPr lang="ko-KR" altLang="en-US"/>
              <a:pPr>
                <a:defRPr/>
              </a:pPr>
              <a:t>2016-01-11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384550" y="6356350"/>
            <a:ext cx="31369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7099300" y="6356350"/>
            <a:ext cx="2311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prstClr val="black">
                    <a:tint val="75000"/>
                  </a:prst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68E731C5-69C2-4E8D-B466-3278D3FA5751}" type="slidenum">
              <a:rPr lang="ko-KR" altLang="en-US"/>
              <a:pPr>
                <a:defRPr/>
              </a:pPr>
              <a:t>‹#›</a:t>
            </a:fld>
            <a:endParaRPr lang="ko-KR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6888" r:id="rId1"/>
    <p:sldLayoutId id="2147486875" r:id="rId2"/>
    <p:sldLayoutId id="2147486876" r:id="rId3"/>
    <p:sldLayoutId id="2147486889" r:id="rId4"/>
    <p:sldLayoutId id="2147486890" r:id="rId5"/>
    <p:sldLayoutId id="2147486891" r:id="rId6"/>
    <p:sldLayoutId id="2147486892" r:id="rId7"/>
  </p:sldLayoutIdLst>
  <p:timing>
    <p:tnLst>
      <p:par>
        <p:cTn id="1" dur="indefinite" restart="never" nodeType="tmRoot"/>
      </p:par>
    </p:tnLst>
  </p:timing>
  <p:txStyles>
    <p:titleStyle>
      <a:lvl1pPr algn="ctr" rtl="0" eaLnBrk="0" fontAlgn="base" latinLnBrk="1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2pPr>
      <a:lvl3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3pPr>
      <a:lvl4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4pPr>
      <a:lvl5pPr algn="ctr" rtl="0" eaLnBrk="0" fontAlgn="base" latinLnBrk="1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5pPr>
      <a:lvl6pPr marL="4572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6pPr>
      <a:lvl7pPr marL="9144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7pPr>
      <a:lvl8pPr marL="13716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8pPr>
      <a:lvl9pPr marL="1828800" algn="ctr" rtl="0" fontAlgn="base" latinLnBrk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맑은 고딕" pitchFamily="50" charset="-127"/>
          <a:ea typeface="맑은 고딕" pitchFamily="50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wmf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0.png"/><Relationship Id="rId5" Type="http://schemas.openxmlformats.org/officeDocument/2006/relationships/image" Target="../media/image4.wmf"/><Relationship Id="rId4" Type="http://schemas.openxmlformats.org/officeDocument/2006/relationships/image" Target="../media/image9.emf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12.wmf"/><Relationship Id="rId7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.png"/><Relationship Id="rId5" Type="http://schemas.openxmlformats.org/officeDocument/2006/relationships/image" Target="../media/image13.png"/><Relationship Id="rId4" Type="http://schemas.openxmlformats.org/officeDocument/2006/relationships/image" Target="../media/image9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google.com/search?hl=en&amp;q=allinurl:docs.oracle.com+javase+docs+api+file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3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1.png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5.png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1568624" y="3429000"/>
            <a:ext cx="6934200" cy="8771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sz="27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en-US" altLang="ko-KR" sz="24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2015. 10</a:t>
            </a:r>
            <a:endParaRPr lang="ko-KR" altLang="en-US" sz="2400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대용량 파일 처리 상세 설계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7" name="Rectangle 3"/>
          <p:cNvSpPr>
            <a:spLocks noChangeArrowheads="1"/>
          </p:cNvSpPr>
          <p:nvPr/>
        </p:nvSpPr>
        <p:spPr bwMode="auto">
          <a:xfrm>
            <a:off x="1595414" y="4720248"/>
            <a:ext cx="6934200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endParaRPr lang="en-US" altLang="ko-KR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  <a:p>
            <a:pPr marL="342900" indent="-342900" algn="ctr" eaLnBrk="0" fontAlgn="auto" latinLnBrk="0" hangingPunct="0">
              <a:spcBef>
                <a:spcPts val="0"/>
              </a:spcBef>
              <a:spcAft>
                <a:spcPts val="0"/>
              </a:spcAft>
              <a:buFont typeface="Arial" charset="0"/>
              <a:buNone/>
              <a:defRPr/>
            </a:pPr>
            <a:r>
              <a:rPr lang="ko-KR" altLang="en-US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윤커뮤니케이션즈</a:t>
            </a:r>
            <a:r>
              <a:rPr lang="ko-KR" altLang="en-US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 컨소시엄</a:t>
            </a:r>
            <a:endParaRPr lang="ko-KR" altLang="en-US" b="1" kern="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개요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3" name="직사각형 62"/>
          <p:cNvSpPr/>
          <p:nvPr/>
        </p:nvSpPr>
        <p:spPr>
          <a:xfrm>
            <a:off x="632519" y="1340768"/>
            <a:ext cx="1595956" cy="503435"/>
          </a:xfrm>
          <a:prstGeom prst="rect">
            <a:avLst/>
          </a:prstGeom>
          <a:solidFill>
            <a:srgbClr val="DDDDDD"/>
          </a:solidFill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목적</a:t>
            </a:r>
          </a:p>
        </p:txBody>
      </p:sp>
      <p:sp>
        <p:nvSpPr>
          <p:cNvPr id="64" name="직사각형 63"/>
          <p:cNvSpPr/>
          <p:nvPr/>
        </p:nvSpPr>
        <p:spPr>
          <a:xfrm>
            <a:off x="2308273" y="1342256"/>
            <a:ext cx="7181801" cy="502568"/>
          </a:xfrm>
          <a:prstGeom prst="rect">
            <a:avLst/>
          </a:prstGeom>
          <a:noFill/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182563" marR="0" lvl="0" indent="-182563" defTabSz="914400" eaLnBrk="1" fontAlgn="auto" latinLnBrk="0" hangingPunct="1">
              <a:lnSpc>
                <a:spcPts val="17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AS-IS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시스템을 기준으로 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TO-BE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환경에 대한 도출 및 아키텍처 방향성 확인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,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결정을 위한 도구 활용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65" name="직사각형 64"/>
          <p:cNvSpPr/>
          <p:nvPr/>
        </p:nvSpPr>
        <p:spPr>
          <a:xfrm>
            <a:off x="632519" y="1916832"/>
            <a:ext cx="1595956" cy="864096"/>
          </a:xfrm>
          <a:prstGeom prst="rect">
            <a:avLst/>
          </a:prstGeom>
          <a:solidFill>
            <a:srgbClr val="DDDDDD"/>
          </a:solidFill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아키텍처</a:t>
            </a:r>
            <a:endParaRPr kumimoji="0" lang="ko-KR" altLang="en-US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66" name="직사각형 65"/>
          <p:cNvSpPr/>
          <p:nvPr/>
        </p:nvSpPr>
        <p:spPr>
          <a:xfrm>
            <a:off x="2308273" y="1918320"/>
            <a:ext cx="7181801" cy="862608"/>
          </a:xfrm>
          <a:prstGeom prst="rect">
            <a:avLst/>
          </a:prstGeom>
          <a:noFill/>
          <a:ln w="19050">
            <a:solidFill>
              <a:srgbClr val="FFFFFF">
                <a:lumMod val="50000"/>
              </a:srgbClr>
            </a:solidFill>
            <a:miter lim="800000"/>
            <a:headEnd/>
            <a:tailEnd/>
          </a:ln>
          <a:effectLst/>
        </p:spPr>
        <p:txBody>
          <a:bodyPr wrap="square" rtlCol="0" anchor="ctr" anchorCtr="0"/>
          <a:lstStyle/>
          <a:p>
            <a:pPr marL="182563" marR="0" lvl="0" indent="-182563" defTabSz="914400" eaLnBrk="1" fontAlgn="auto" latinLnBrk="0" hangingPunct="1">
              <a:lnSpc>
                <a:spcPts val="17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현재 운영중인 열린 데이터광장 대용량 데이터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파일형식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(ZIP, JSON, CSV, </a:t>
            </a:r>
            <a:r>
              <a:rPr kumimoji="0" lang="en-US" altLang="ko-KR" sz="1200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Exel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등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)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에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대한 다운로드 서비스</a:t>
            </a:r>
            <a:endParaRPr kumimoji="0" lang="en-US" altLang="ko-KR" sz="1200" b="1" kern="0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  <a:p>
            <a:pPr marL="182563" marR="0" lvl="0" indent="-182563" defTabSz="914400" eaLnBrk="1" fontAlgn="auto" latinLnBrk="0" hangingPunct="1">
              <a:lnSpc>
                <a:spcPts val="17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 typeface="Arial" pitchFamily="34" charset="0"/>
              <a:buChar char="•"/>
              <a:tabLst/>
              <a:defRPr/>
            </a:pPr>
            <a:r>
              <a:rPr kumimoji="0" lang="ko-KR" altLang="en-US" sz="1200" b="1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각 방안에 대한 장단점 제시 및 최적의 아키텍처 선택을 위한 가이드 라인 제시</a:t>
            </a:r>
            <a:endParaRPr kumimoji="0" lang="en-US" altLang="ko-KR" sz="1200" b="1" i="0" u="none" strike="noStrike" kern="0" cap="none" spc="0" normalizeH="0" baseline="0" noProof="0" dirty="0" smtClean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72" name="TextBox 71"/>
          <p:cNvSpPr txBox="1"/>
          <p:nvPr/>
        </p:nvSpPr>
        <p:spPr>
          <a:xfrm>
            <a:off x="273051" y="980728"/>
            <a:ext cx="9217023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본 문서는 서울시 열린 데이터 광장 대용량 데이터에 대한 서비스 아키텍처 및 고려사항을 기술한 문서임</a:t>
            </a:r>
            <a:endParaRPr lang="en-US" altLang="ko-KR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2519" y="2996952"/>
            <a:ext cx="6662293" cy="369062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직사각형 2"/>
          <p:cNvSpPr/>
          <p:nvPr/>
        </p:nvSpPr>
        <p:spPr bwMode="auto">
          <a:xfrm>
            <a:off x="5601072" y="3060168"/>
            <a:ext cx="1693740" cy="307286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sp>
        <p:nvSpPr>
          <p:cNvPr id="10" name="직사각형 9"/>
          <p:cNvSpPr/>
          <p:nvPr/>
        </p:nvSpPr>
        <p:spPr bwMode="auto">
          <a:xfrm>
            <a:off x="2432720" y="3429000"/>
            <a:ext cx="899565" cy="228600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cxnSp>
        <p:nvCxnSpPr>
          <p:cNvPr id="5" name="구부러진 연결선 4"/>
          <p:cNvCxnSpPr>
            <a:stCxn id="10" idx="3"/>
            <a:endCxn id="8" idx="1"/>
          </p:cNvCxnSpPr>
          <p:nvPr/>
        </p:nvCxnSpPr>
        <p:spPr bwMode="auto">
          <a:xfrm>
            <a:off x="3332285" y="3543300"/>
            <a:ext cx="4506891" cy="680849"/>
          </a:xfrm>
          <a:prstGeom prst="curvedConnector3">
            <a:avLst/>
          </a:prstGeom>
          <a:ln>
            <a:headEnd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cxnSp>
        <p:nvCxnSpPr>
          <p:cNvPr id="7" name="구부러진 연결선 6"/>
          <p:cNvCxnSpPr>
            <a:stCxn id="3" idx="2"/>
            <a:endCxn id="8" idx="1"/>
          </p:cNvCxnSpPr>
          <p:nvPr/>
        </p:nvCxnSpPr>
        <p:spPr bwMode="auto">
          <a:xfrm rot="16200000" flipH="1">
            <a:off x="6715212" y="3100184"/>
            <a:ext cx="856695" cy="1391234"/>
          </a:xfrm>
          <a:prstGeom prst="curvedConnector2">
            <a:avLst/>
          </a:prstGeom>
          <a:ln>
            <a:headEnd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839176" y="4059488"/>
            <a:ext cx="1075936" cy="329321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400" b="1" kern="0" dirty="0" smtClean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서비스 대상</a:t>
            </a:r>
          </a:p>
        </p:txBody>
      </p:sp>
    </p:spTree>
    <p:extLst>
      <p:ext uri="{BB962C8B-B14F-4D97-AF65-F5344CB8AC3E}">
        <p14:creationId xmlns:p14="http://schemas.microsoft.com/office/powerpoint/2010/main" val="315447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처리 및 고려사항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19" name="그룹 18"/>
          <p:cNvGrpSpPr/>
          <p:nvPr/>
        </p:nvGrpSpPr>
        <p:grpSpPr>
          <a:xfrm>
            <a:off x="802634" y="1484784"/>
            <a:ext cx="7880169" cy="2265921"/>
            <a:chOff x="802634" y="2132856"/>
            <a:chExt cx="8110806" cy="2731644"/>
          </a:xfrm>
        </p:grpSpPr>
        <p:cxnSp>
          <p:nvCxnSpPr>
            <p:cNvPr id="3" name="직선 연결선 2"/>
            <p:cNvCxnSpPr>
              <a:stCxn id="10" idx="1"/>
            </p:cNvCxnSpPr>
            <p:nvPr/>
          </p:nvCxnSpPr>
          <p:spPr>
            <a:xfrm flipH="1">
              <a:off x="3656856" y="3481029"/>
              <a:ext cx="2566153" cy="0"/>
            </a:xfrm>
            <a:prstGeom prst="line">
              <a:avLst/>
            </a:prstGeom>
            <a:ln w="38100" cmpd="sng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" name="Text Box 11"/>
            <p:cNvSpPr txBox="1">
              <a:spLocks noChangeArrowheads="1"/>
            </p:cNvSpPr>
            <p:nvPr/>
          </p:nvSpPr>
          <p:spPr bwMode="auto">
            <a:xfrm>
              <a:off x="2792760" y="2629322"/>
              <a:ext cx="720000" cy="153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auto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L4(Master)</a:t>
              </a:r>
            </a:p>
          </p:txBody>
        </p:sp>
        <p:sp>
          <p:nvSpPr>
            <p:cNvPr id="5" name="Text Box 11"/>
            <p:cNvSpPr txBox="1">
              <a:spLocks noChangeArrowheads="1"/>
            </p:cNvSpPr>
            <p:nvPr/>
          </p:nvSpPr>
          <p:spPr bwMode="auto">
            <a:xfrm>
              <a:off x="3800872" y="2629322"/>
              <a:ext cx="690994" cy="153888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auto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L4(S</a:t>
              </a:r>
              <a:r>
                <a:rPr lang="en-US" altLang="ko-KR" sz="800" b="1" i="1" dirty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</a:t>
              </a: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ave)</a:t>
              </a:r>
            </a:p>
          </p:txBody>
        </p:sp>
        <p:pic>
          <p:nvPicPr>
            <p:cNvPr id="6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321642" y="3226642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7" name="모서리가 둥근 직사각형 6"/>
            <p:cNvSpPr/>
            <p:nvPr/>
          </p:nvSpPr>
          <p:spPr>
            <a:xfrm>
              <a:off x="4131753" y="2996952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WEB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8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4897" y="3226642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9" name="모서리가 둥근 직사각형 8"/>
            <p:cNvSpPr/>
            <p:nvPr/>
          </p:nvSpPr>
          <p:spPr>
            <a:xfrm>
              <a:off x="5025008" y="2996952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WAS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0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223009" y="3235834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1" name="모서리가 둥근 직사각형 10"/>
            <p:cNvSpPr/>
            <p:nvPr/>
          </p:nvSpPr>
          <p:spPr>
            <a:xfrm>
              <a:off x="6033120" y="3006144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DataStore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2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28950" y="3237528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3" name="모서리가 둥근 직사각형 12"/>
            <p:cNvSpPr/>
            <p:nvPr/>
          </p:nvSpPr>
          <p:spPr>
            <a:xfrm>
              <a:off x="8139061" y="2996952"/>
              <a:ext cx="774379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8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DataStore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4" name="직선 연결선 13"/>
            <p:cNvCxnSpPr>
              <a:stCxn id="12" idx="1"/>
              <a:endCxn id="10" idx="3"/>
            </p:cNvCxnSpPr>
            <p:nvPr/>
          </p:nvCxnSpPr>
          <p:spPr>
            <a:xfrm flipH="1" flipV="1">
              <a:off x="6576862" y="3481029"/>
              <a:ext cx="1752088" cy="1694"/>
            </a:xfrm>
            <a:prstGeom prst="line">
              <a:avLst/>
            </a:prstGeom>
            <a:ln w="38100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모서리가 둥근 직사각형 14"/>
            <p:cNvSpPr/>
            <p:nvPr/>
          </p:nvSpPr>
          <p:spPr>
            <a:xfrm>
              <a:off x="7977336" y="4215710"/>
              <a:ext cx="911438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ko-KR" altLang="en-US" sz="9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파일동기화</a:t>
              </a:r>
              <a:endParaRPr lang="en-US" altLang="ko-KR" sz="9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(SFTP)</a:t>
              </a:r>
              <a:endParaRPr kumimoji="0" lang="ko-KR" altLang="en-US" sz="9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6" name="Rectangle 49"/>
            <p:cNvSpPr>
              <a:spLocks noChangeArrowheads="1"/>
            </p:cNvSpPr>
            <p:nvPr/>
          </p:nvSpPr>
          <p:spPr bwMode="auto">
            <a:xfrm>
              <a:off x="4028540" y="2858931"/>
              <a:ext cx="2804339" cy="992530"/>
            </a:xfrm>
            <a:prstGeom prst="rect">
              <a:avLst/>
            </a:prstGeom>
            <a:noFill/>
            <a:ln w="28575">
              <a:solidFill>
                <a:srgbClr val="FF990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3969" tIns="41985" rIns="83969" bIns="41985" anchor="ctr"/>
            <a:lstStyle/>
            <a:p>
              <a:endParaRPr kumimoji="0"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모서리가 둥근 직사각형 16"/>
            <p:cNvSpPr/>
            <p:nvPr/>
          </p:nvSpPr>
          <p:spPr>
            <a:xfrm>
              <a:off x="4880992" y="2564904"/>
              <a:ext cx="1216123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신</a:t>
              </a:r>
              <a:r>
                <a:rPr kumimoji="0" lang="ko-KR" altLang="en-US" sz="1000" b="1" dirty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규</a:t>
              </a:r>
            </a:p>
          </p:txBody>
        </p:sp>
        <p:cxnSp>
          <p:nvCxnSpPr>
            <p:cNvPr id="18" name="직선 연결선 17"/>
            <p:cNvCxnSpPr/>
            <p:nvPr/>
          </p:nvCxnSpPr>
          <p:spPr>
            <a:xfrm flipH="1">
              <a:off x="3368824" y="4530875"/>
              <a:ext cx="3288034" cy="0"/>
            </a:xfrm>
            <a:prstGeom prst="line">
              <a:avLst/>
            </a:prstGeom>
            <a:ln w="38100" cmpd="sng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8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19682" y="4285680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0" name="Picture 5" descr="C:\Users\ryujaejoon\AppData\Local\Microsoft\Windows\Temporary Internet Files\Content.IE5\4R1DIGBT\MC900428969[1].wmf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85602" y="4261616"/>
              <a:ext cx="353853" cy="49039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32" name="모서리가 둥근 직사각형 31"/>
            <p:cNvSpPr/>
            <p:nvPr/>
          </p:nvSpPr>
          <p:spPr>
            <a:xfrm>
              <a:off x="4525463" y="4067505"/>
              <a:ext cx="1015117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800" b="1" dirty="0" err="1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열린데이터광장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3" name="모서리가 둥근 직사각형 32"/>
            <p:cNvSpPr/>
            <p:nvPr/>
          </p:nvSpPr>
          <p:spPr>
            <a:xfrm>
              <a:off x="5594067" y="4064879"/>
              <a:ext cx="1015117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Open API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34" name="직선 연결선 33"/>
            <p:cNvCxnSpPr/>
            <p:nvPr/>
          </p:nvCxnSpPr>
          <p:spPr>
            <a:xfrm>
              <a:off x="7332995" y="2142381"/>
              <a:ext cx="0" cy="2633689"/>
            </a:xfrm>
            <a:prstGeom prst="line">
              <a:avLst/>
            </a:prstGeom>
            <a:ln w="15875" cmpd="dbl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36" name="그림 35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032172" y="2142381"/>
              <a:ext cx="238125" cy="409575"/>
            </a:xfrm>
            <a:prstGeom prst="rect">
              <a:avLst/>
            </a:prstGeom>
          </p:spPr>
        </p:pic>
        <p:pic>
          <p:nvPicPr>
            <p:cNvPr id="37" name="그림 36"/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978982" y="2132856"/>
              <a:ext cx="238125" cy="409575"/>
            </a:xfrm>
            <a:prstGeom prst="rect">
              <a:avLst/>
            </a:prstGeom>
          </p:spPr>
        </p:pic>
        <p:cxnSp>
          <p:nvCxnSpPr>
            <p:cNvPr id="38" name="구부러진 연결선 37"/>
            <p:cNvCxnSpPr>
              <a:cxnSpLocks noChangeShapeType="1"/>
              <a:stCxn id="37" idx="1"/>
              <a:endCxn id="36" idx="3"/>
            </p:cNvCxnSpPr>
            <p:nvPr/>
          </p:nvCxnSpPr>
          <p:spPr bwMode="auto">
            <a:xfrm rot="10800000" flipV="1">
              <a:off x="3270298" y="2337643"/>
              <a:ext cx="708685" cy="9525"/>
            </a:xfrm>
            <a:prstGeom prst="curvedConnector3">
              <a:avLst>
                <a:gd name="adj1" fmla="val 50000"/>
              </a:avLst>
            </a:prstGeom>
            <a:noFill/>
            <a:ln w="19050" algn="ctr">
              <a:solidFill>
                <a:schemeClr val="bg1">
                  <a:lumMod val="75000"/>
                </a:schemeClr>
              </a:solidFill>
              <a:prstDash val="sysDot"/>
              <a:round/>
              <a:headEnd type="triangle"/>
              <a:tailEnd type="triangle" w="med" len="med"/>
            </a:ln>
          </p:spPr>
        </p:cxnSp>
        <p:cxnSp>
          <p:nvCxnSpPr>
            <p:cNvPr id="39" name="직선 연결선 38"/>
            <p:cNvCxnSpPr/>
            <p:nvPr/>
          </p:nvCxnSpPr>
          <p:spPr>
            <a:xfrm flipH="1">
              <a:off x="3656856" y="2347169"/>
              <a:ext cx="17675" cy="2192204"/>
            </a:xfrm>
            <a:prstGeom prst="line">
              <a:avLst/>
            </a:prstGeom>
            <a:ln w="38100" cmpd="sng">
              <a:solidFill>
                <a:schemeClr val="tx2">
                  <a:lumMod val="60000"/>
                  <a:lumOff val="40000"/>
                </a:schemeClr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직선 연결선 40"/>
            <p:cNvCxnSpPr>
              <a:stCxn id="12" idx="1"/>
              <a:endCxn id="33" idx="3"/>
            </p:cNvCxnSpPr>
            <p:nvPr/>
          </p:nvCxnSpPr>
          <p:spPr>
            <a:xfrm flipH="1">
              <a:off x="6609184" y="3482723"/>
              <a:ext cx="1719766" cy="719860"/>
            </a:xfrm>
            <a:prstGeom prst="line">
              <a:avLst/>
            </a:prstGeom>
            <a:ln w="38100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직선 연결선 44"/>
            <p:cNvCxnSpPr/>
            <p:nvPr/>
          </p:nvCxnSpPr>
          <p:spPr>
            <a:xfrm flipH="1">
              <a:off x="7616307" y="4356166"/>
              <a:ext cx="428174" cy="12070"/>
            </a:xfrm>
            <a:prstGeom prst="line">
              <a:avLst/>
            </a:prstGeom>
            <a:ln w="38100" cmpd="sng">
              <a:solidFill>
                <a:srgbClr val="C00000"/>
              </a:solidFill>
              <a:prstDash val="sysDot"/>
              <a:headEnd type="none" w="med" len="med"/>
              <a:tailEnd type="triangle" w="med" len="med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47" name="Rectangle 49"/>
            <p:cNvSpPr>
              <a:spLocks noChangeArrowheads="1"/>
            </p:cNvSpPr>
            <p:nvPr/>
          </p:nvSpPr>
          <p:spPr bwMode="auto">
            <a:xfrm>
              <a:off x="4028540" y="3933055"/>
              <a:ext cx="2804339" cy="931445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3969" tIns="41985" rIns="83969" bIns="41985" anchor="ctr"/>
            <a:lstStyle/>
            <a:p>
              <a:endParaRPr kumimoji="0" lang="ko-KR" altLang="en-US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35" name="그림 34"/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157787" y="3281058"/>
              <a:ext cx="350417" cy="783821"/>
            </a:xfrm>
            <a:prstGeom prst="rect">
              <a:avLst/>
            </a:prstGeom>
          </p:spPr>
        </p:pic>
        <p:sp>
          <p:nvSpPr>
            <p:cNvPr id="48" name="모서리가 둥근 직사각형 47"/>
            <p:cNvSpPr/>
            <p:nvPr/>
          </p:nvSpPr>
          <p:spPr>
            <a:xfrm>
              <a:off x="4880992" y="4581128"/>
              <a:ext cx="1216123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기존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pic>
          <p:nvPicPr>
            <p:cNvPr id="1026" name="Picture 2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02634" y="4202582"/>
              <a:ext cx="386138" cy="497298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51" name="구부러진 연결선 50"/>
            <p:cNvCxnSpPr>
              <a:cxnSpLocks noChangeShapeType="1"/>
              <a:endCxn id="1026" idx="3"/>
            </p:cNvCxnSpPr>
            <p:nvPr/>
          </p:nvCxnSpPr>
          <p:spPr bwMode="auto">
            <a:xfrm rot="10800000" flipV="1">
              <a:off x="1188773" y="4313741"/>
              <a:ext cx="3392561" cy="137491"/>
            </a:xfrm>
            <a:prstGeom prst="curvedConnector3">
              <a:avLst>
                <a:gd name="adj1" fmla="val 50000"/>
              </a:avLst>
            </a:prstGeom>
            <a:noFill/>
            <a:ln w="19050" algn="ctr">
              <a:solidFill>
                <a:schemeClr val="bg2">
                  <a:lumMod val="50000"/>
                </a:schemeClr>
              </a:solidFill>
              <a:prstDash val="sysDot"/>
              <a:round/>
              <a:headEnd type="triangle" w="med" len="med"/>
              <a:tailEnd type="none" w="med" len="med"/>
            </a:ln>
          </p:spPr>
        </p:cxnSp>
        <p:sp>
          <p:nvSpPr>
            <p:cNvPr id="54" name="모서리가 둥근 직사각형 53"/>
            <p:cNvSpPr/>
            <p:nvPr/>
          </p:nvSpPr>
          <p:spPr>
            <a:xfrm>
              <a:off x="1582307" y="4072412"/>
              <a:ext cx="1568928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① 사용자 다운로드 요청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55" name="구부러진 연결선 54"/>
            <p:cNvCxnSpPr>
              <a:cxnSpLocks noChangeShapeType="1"/>
              <a:stCxn id="6" idx="1"/>
              <a:endCxn id="32" idx="1"/>
            </p:cNvCxnSpPr>
            <p:nvPr/>
          </p:nvCxnSpPr>
          <p:spPr bwMode="auto">
            <a:xfrm rot="10800000" flipH="1" flipV="1">
              <a:off x="4321641" y="3471837"/>
              <a:ext cx="203821" cy="733372"/>
            </a:xfrm>
            <a:prstGeom prst="curvedConnector3">
              <a:avLst>
                <a:gd name="adj1" fmla="val -112157"/>
              </a:avLst>
            </a:prstGeom>
            <a:noFill/>
            <a:ln w="19050" algn="ctr">
              <a:solidFill>
                <a:schemeClr val="bg2">
                  <a:lumMod val="50000"/>
                </a:schemeClr>
              </a:solidFill>
              <a:prstDash val="sysDot"/>
              <a:round/>
              <a:headEnd type="triangle" w="med" len="med"/>
              <a:tailEnd type="none" w="med" len="med"/>
            </a:ln>
          </p:spPr>
        </p:cxnSp>
        <p:sp>
          <p:nvSpPr>
            <p:cNvPr id="61" name="모서리가 둥근 직사각형 60"/>
            <p:cNvSpPr/>
            <p:nvPr/>
          </p:nvSpPr>
          <p:spPr>
            <a:xfrm>
              <a:off x="3152800" y="3712372"/>
              <a:ext cx="1064307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② 요청 </a:t>
              </a:r>
              <a:r>
                <a:rPr kumimoji="0" lang="ko-KR" altLang="en-US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포워딩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2" name="모서리가 둥근 직사각형 61"/>
            <p:cNvSpPr/>
            <p:nvPr/>
          </p:nvSpPr>
          <p:spPr>
            <a:xfrm>
              <a:off x="1712640" y="3072152"/>
              <a:ext cx="1800120" cy="280180"/>
            </a:xfrm>
            <a:prstGeom prst="roundRect">
              <a:avLst>
                <a:gd name="adj" fmla="val 27523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③ </a:t>
              </a:r>
              <a:r>
                <a:rPr kumimoji="0"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zip/</a:t>
              </a:r>
              <a:r>
                <a:rPr kumimoji="0"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json</a:t>
              </a:r>
              <a:r>
                <a:rPr kumimoji="0"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/csv/</a:t>
              </a:r>
              <a:r>
                <a:rPr kumimoji="0" lang="en-US" altLang="ko-KR" sz="1000" b="1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xls</a:t>
              </a:r>
              <a:r>
                <a:rPr kumimoji="0"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/map</a:t>
              </a:r>
              <a:endParaRPr kumimoji="0" lang="ko-KR" altLang="en-US" sz="1000" b="1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63" name="구부러진 연결선 62"/>
            <p:cNvCxnSpPr>
              <a:cxnSpLocks noChangeShapeType="1"/>
              <a:stCxn id="1026" idx="0"/>
              <a:endCxn id="7" idx="1"/>
            </p:cNvCxnSpPr>
            <p:nvPr/>
          </p:nvCxnSpPr>
          <p:spPr bwMode="auto">
            <a:xfrm rot="5400000" flipH="1" flipV="1">
              <a:off x="2029766" y="2100595"/>
              <a:ext cx="1067926" cy="3136050"/>
            </a:xfrm>
            <a:prstGeom prst="curvedConnector2">
              <a:avLst/>
            </a:prstGeom>
            <a:noFill/>
            <a:ln w="19050" algn="ctr">
              <a:solidFill>
                <a:schemeClr val="bg2">
                  <a:lumMod val="50000"/>
                </a:schemeClr>
              </a:solidFill>
              <a:prstDash val="sysDot"/>
              <a:round/>
              <a:headEnd type="triangle" w="med" len="med"/>
              <a:tailEnd type="none" w="med" len="med"/>
            </a:ln>
          </p:spPr>
        </p:cxnSp>
      </p:grpSp>
      <p:sp>
        <p:nvSpPr>
          <p:cNvPr id="21" name="TextBox 20"/>
          <p:cNvSpPr txBox="1"/>
          <p:nvPr/>
        </p:nvSpPr>
        <p:spPr>
          <a:xfrm>
            <a:off x="273050" y="908050"/>
            <a:ext cx="9217025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6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err="1" smtClean="0"/>
              <a:t>포워딩</a:t>
            </a:r>
            <a:r>
              <a:rPr lang="ko-KR" altLang="en-US" dirty="0" smtClean="0"/>
              <a:t> 데이터의 종류는 </a:t>
            </a:r>
            <a:r>
              <a:rPr lang="ko-KR" altLang="en-US" dirty="0" err="1" smtClean="0"/>
              <a:t>열린데이터</a:t>
            </a:r>
            <a:r>
              <a:rPr lang="ko-KR" altLang="en-US" dirty="0" smtClean="0"/>
              <a:t> 광장에서 취급하고 있는 데이터 중 </a:t>
            </a:r>
            <a:r>
              <a:rPr lang="en-US" altLang="ko-KR" dirty="0" smtClean="0"/>
              <a:t>100M </a:t>
            </a:r>
            <a:r>
              <a:rPr lang="ko-KR" altLang="en-US" dirty="0" smtClean="0"/>
              <a:t>이상의 데이터를 대상으로 함</a:t>
            </a:r>
            <a:endParaRPr lang="ko-KR" altLang="en-US" dirty="0"/>
          </a:p>
        </p:txBody>
      </p:sp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46173555"/>
              </p:ext>
            </p:extLst>
          </p:nvPr>
        </p:nvGraphicFramePr>
        <p:xfrm>
          <a:off x="273051" y="4149080"/>
          <a:ext cx="9217026" cy="16508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6621"/>
                <a:gridCol w="2632434"/>
                <a:gridCol w="4387971"/>
              </a:tblGrid>
              <a:tr h="30603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항목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내용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비고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 포맷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ZIP, JSON, CSV, XLS, MAP 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ZIP</a:t>
                      </a:r>
                      <a:r>
                        <a:rPr lang="en-US" altLang="ko-KR" sz="11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</a:t>
                      </a:r>
                      <a:r>
                        <a:rPr lang="ko-KR" altLang="en-US" sz="11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파일 이외의 데이터는 런타임으로 조회를 하므로 데이터의 크기를 사전에 예측하기 어려움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 처리 서버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신규 대용량 다운로드 서버에서 처리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기존 열린 데이터 광장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 링크 코드 변경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다운로드</a:t>
                      </a:r>
                      <a:r>
                        <a:rPr lang="ko-KR" altLang="en-US" sz="11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시 신규 서버로 리다이렉션 되도록 코드 변경 필요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</a:tr>
              <a:tr h="306034"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비실시간성</a:t>
                      </a:r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 데이터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1</a:t>
                      </a:r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일 주기 이상의 데이터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latinLnBrk="1"/>
                      <a:r>
                        <a:rPr lang="ko-KR" altLang="en-US" sz="11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</a:rPr>
                        <a:t>사전에 스케줄러 등을 통해 다운로드 데이터를 미리 생성하여 둠</a:t>
                      </a:r>
                      <a:endParaRPr lang="ko-KR" altLang="en-US" sz="1100" dirty="0">
                        <a:latin typeface="나눔고딕" panose="020D0604000000000000" pitchFamily="50" charset="-127"/>
                        <a:ea typeface="나눔고딕" panose="020D0604000000000000" pitchFamily="50" charset="-127"/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272480" y="5941846"/>
            <a:ext cx="6888424" cy="535531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marL="171450" indent="-17145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신규 서버에서 데이터를 처리했을 때의 장점 모색이 필요 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–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예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)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가용성 증대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200" b="1" kern="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트래픽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분산</a:t>
            </a:r>
            <a:r>
              <a:rPr kumimoji="0" lang="en-US" altLang="ko-KR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성능 증가 등</a:t>
            </a:r>
            <a:endParaRPr kumimoji="0" lang="en-US" altLang="ko-KR" sz="1200" b="1" kern="0" dirty="0" smtClean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171450" indent="-171450"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  <a:buFont typeface="Arial" charset="0"/>
              <a:buChar char="•"/>
            </a:pPr>
            <a:r>
              <a:rPr kumimoji="0" lang="ko-KR" altLang="en-US" sz="1200" b="1" kern="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열린 데이터 광장의 코드 수정을 위하여 </a:t>
            </a:r>
            <a:r>
              <a:rPr kumimoji="0" lang="en-US" altLang="ko-KR" sz="1200" b="1" kern="0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SVN</a:t>
            </a:r>
            <a:r>
              <a:rPr kumimoji="0" lang="ko-KR" altLang="en-US" sz="1200" b="1" kern="0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 대한 액세스 및 소스 코드 확인 필요</a:t>
            </a:r>
          </a:p>
        </p:txBody>
      </p:sp>
    </p:spTree>
    <p:extLst>
      <p:ext uri="{BB962C8B-B14F-4D97-AF65-F5344CB8AC3E}">
        <p14:creationId xmlns:p14="http://schemas.microsoft.com/office/powerpoint/2010/main" val="10951466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소프트웨어 아키텍처</a:t>
            </a:r>
          </a:p>
        </p:txBody>
      </p:sp>
      <p:cxnSp>
        <p:nvCxnSpPr>
          <p:cNvPr id="3" name="직선 연결선 2"/>
          <p:cNvCxnSpPr/>
          <p:nvPr/>
        </p:nvCxnSpPr>
        <p:spPr>
          <a:xfrm>
            <a:off x="10857656" y="6513905"/>
            <a:ext cx="489001" cy="11439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ounded Rectangle 9"/>
          <p:cNvSpPr/>
          <p:nvPr/>
        </p:nvSpPr>
        <p:spPr bwMode="auto">
          <a:xfrm>
            <a:off x="665212" y="1934170"/>
            <a:ext cx="4104456" cy="1924673"/>
          </a:xfrm>
          <a:prstGeom prst="roundRect">
            <a:avLst>
              <a:gd name="adj" fmla="val 534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cxnSp>
        <p:nvCxnSpPr>
          <p:cNvPr id="5" name="꺾인 연결선 4"/>
          <p:cNvCxnSpPr>
            <a:stCxn id="4" idx="2"/>
            <a:endCxn id="75" idx="0"/>
          </p:cNvCxnSpPr>
          <p:nvPr/>
        </p:nvCxnSpPr>
        <p:spPr bwMode="auto">
          <a:xfrm rot="16200000" flipH="1">
            <a:off x="3561850" y="3014433"/>
            <a:ext cx="506260" cy="2195080"/>
          </a:xfrm>
          <a:prstGeom prst="bentConnector3">
            <a:avLst>
              <a:gd name="adj1" fmla="val 50000"/>
            </a:avLst>
          </a:prstGeom>
          <a:ln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28"/>
          <p:cNvSpPr>
            <a:spLocks noChangeAspect="1" noChangeArrowheads="1"/>
          </p:cNvSpPr>
          <p:nvPr/>
        </p:nvSpPr>
        <p:spPr bwMode="auto">
          <a:xfrm>
            <a:off x="953244" y="2572310"/>
            <a:ext cx="1111251" cy="2270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Open API WAS #1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7" name="그룹 6"/>
          <p:cNvGrpSpPr/>
          <p:nvPr/>
        </p:nvGrpSpPr>
        <p:grpSpPr>
          <a:xfrm>
            <a:off x="1097260" y="2974555"/>
            <a:ext cx="1188000" cy="421530"/>
            <a:chOff x="962157" y="3573016"/>
            <a:chExt cx="1235092" cy="540895"/>
          </a:xfrm>
        </p:grpSpPr>
        <p:sp>
          <p:nvSpPr>
            <p:cNvPr id="8" name="직사각형 7"/>
            <p:cNvSpPr/>
            <p:nvPr/>
          </p:nvSpPr>
          <p:spPr bwMode="auto">
            <a:xfrm>
              <a:off x="962157" y="3573016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Middleware(</a:t>
              </a: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Tmax</a:t>
              </a: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9" name="직사각형 8"/>
            <p:cNvSpPr/>
            <p:nvPr/>
          </p:nvSpPr>
          <p:spPr bwMode="auto">
            <a:xfrm>
              <a:off x="967444" y="3875182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Unix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0" name="Rectangle 26"/>
          <p:cNvSpPr>
            <a:spLocks noChangeAspect="1" noChangeArrowheads="1"/>
          </p:cNvSpPr>
          <p:nvPr/>
        </p:nvSpPr>
        <p:spPr bwMode="auto">
          <a:xfrm>
            <a:off x="953244" y="2572310"/>
            <a:ext cx="1465618" cy="982953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1" name="꺾인 연결선 10"/>
          <p:cNvCxnSpPr>
            <a:stCxn id="19" idx="1"/>
            <a:endCxn id="10" idx="0"/>
          </p:cNvCxnSpPr>
          <p:nvPr/>
        </p:nvCxnSpPr>
        <p:spPr bwMode="auto">
          <a:xfrm rot="10800000" flipV="1">
            <a:off x="1686053" y="2169274"/>
            <a:ext cx="1010328" cy="403035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직사각형 11"/>
          <p:cNvSpPr/>
          <p:nvPr/>
        </p:nvSpPr>
        <p:spPr bwMode="auto">
          <a:xfrm>
            <a:off x="3595376" y="2358243"/>
            <a:ext cx="825975" cy="165208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7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조회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3" name="직사각형 12"/>
          <p:cNvSpPr/>
          <p:nvPr/>
        </p:nvSpPr>
        <p:spPr bwMode="auto">
          <a:xfrm>
            <a:off x="3003864" y="1628799"/>
            <a:ext cx="580984" cy="233363"/>
          </a:xfrm>
          <a:prstGeom prst="rect">
            <a:avLst/>
          </a:prstGeom>
          <a:noFill/>
          <a:ln w="12700"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sz="700" b="1" dirty="0" smtClean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데이터 전송</a:t>
            </a:r>
            <a:endParaRPr lang="en-US" altLang="ko-KR" sz="700" b="1" dirty="0">
              <a:solidFill>
                <a:schemeClr val="tx2">
                  <a:lumMod val="50000"/>
                </a:schemeClr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893290" y="1065696"/>
            <a:ext cx="5055466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Back-end to Front-end</a:t>
            </a:r>
            <a:r>
              <a:rPr lang="ko-KR" altLang="en-US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는 </a:t>
            </a:r>
            <a:r>
              <a:rPr lang="en-US" altLang="ko-KR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SFTP</a:t>
            </a:r>
            <a:r>
              <a:rPr lang="ko-KR" altLang="en-US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로 파일 전송</a:t>
            </a:r>
            <a:endParaRPr lang="en-US" altLang="ko-KR" sz="14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r>
              <a:rPr lang="ko-KR" altLang="en-US" sz="14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에서는 데이터 가공 후 파일 형태로 전송</a:t>
            </a:r>
            <a:endParaRPr lang="en-US" altLang="ko-KR" sz="14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3833564" y="3645023"/>
            <a:ext cx="868309" cy="173236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기존 인프라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6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26334" y="828278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78734" y="980678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8" name="직사각형 17"/>
          <p:cNvSpPr/>
          <p:nvPr/>
        </p:nvSpPr>
        <p:spPr>
          <a:xfrm>
            <a:off x="2501048" y="1438132"/>
            <a:ext cx="5020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9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696381" y="2007350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2703594" y="2332691"/>
            <a:ext cx="324128" cy="246221"/>
          </a:xfrm>
          <a:prstGeom prst="rect">
            <a:avLst/>
          </a:prstGeom>
        </p:spPr>
        <p:txBody>
          <a:bodyPr wrap="none">
            <a:spAutoFit/>
          </a:bodyPr>
          <a:lstStyle>
            <a:defPPr>
              <a:defRPr lang="ko-KR"/>
            </a:defPPr>
            <a:lvl1pPr algn="ctr">
              <a:defRPr sz="1000">
                <a:latin typeface="Calibri" pitchFamily="34" charset="0"/>
                <a:ea typeface="산돌고딕 M" pitchFamily="18" charset="-127"/>
              </a:defRPr>
            </a:lvl1pPr>
          </a:lstStyle>
          <a:p>
            <a:r>
              <a:rPr lang="en-US" altLang="ko-KR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L4</a:t>
            </a:r>
            <a:endParaRPr lang="ko-KR" altLang="en-US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1" name="Rectangle 28"/>
          <p:cNvSpPr>
            <a:spLocks noChangeAspect="1" noChangeArrowheads="1"/>
          </p:cNvSpPr>
          <p:nvPr/>
        </p:nvSpPr>
        <p:spPr bwMode="auto">
          <a:xfrm>
            <a:off x="3020231" y="2568597"/>
            <a:ext cx="1111251" cy="2270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Open API WAS #2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22" name="그룹 21"/>
          <p:cNvGrpSpPr/>
          <p:nvPr/>
        </p:nvGrpSpPr>
        <p:grpSpPr>
          <a:xfrm>
            <a:off x="3164247" y="2970842"/>
            <a:ext cx="1188000" cy="421530"/>
            <a:chOff x="962157" y="3573016"/>
            <a:chExt cx="1235092" cy="540895"/>
          </a:xfrm>
        </p:grpSpPr>
        <p:sp>
          <p:nvSpPr>
            <p:cNvPr id="23" name="직사각형 22"/>
            <p:cNvSpPr/>
            <p:nvPr/>
          </p:nvSpPr>
          <p:spPr bwMode="auto">
            <a:xfrm>
              <a:off x="962157" y="3573016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Middleware(</a:t>
              </a: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Tmax</a:t>
              </a: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4" name="직사각형 23"/>
            <p:cNvSpPr/>
            <p:nvPr/>
          </p:nvSpPr>
          <p:spPr bwMode="auto">
            <a:xfrm>
              <a:off x="967444" y="3875182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Unix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25" name="Rectangle 26"/>
          <p:cNvSpPr>
            <a:spLocks noChangeAspect="1" noChangeArrowheads="1"/>
          </p:cNvSpPr>
          <p:nvPr/>
        </p:nvSpPr>
        <p:spPr bwMode="auto">
          <a:xfrm>
            <a:off x="3020231" y="2568597"/>
            <a:ext cx="1465618" cy="982953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6" name="꺾인 연결선 25"/>
          <p:cNvCxnSpPr>
            <a:stCxn id="19" idx="3"/>
            <a:endCxn id="25" idx="0"/>
          </p:cNvCxnSpPr>
          <p:nvPr/>
        </p:nvCxnSpPr>
        <p:spPr bwMode="auto">
          <a:xfrm>
            <a:off x="3020231" y="2169275"/>
            <a:ext cx="732809" cy="399322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직선 화살표 연결선 26"/>
          <p:cNvCxnSpPr>
            <a:stCxn id="19" idx="0"/>
            <a:endCxn id="18" idx="2"/>
          </p:cNvCxnSpPr>
          <p:nvPr/>
        </p:nvCxnSpPr>
        <p:spPr>
          <a:xfrm flipH="1" flipV="1">
            <a:off x="2752079" y="1684353"/>
            <a:ext cx="106227" cy="322997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9"/>
          <p:cNvSpPr/>
          <p:nvPr/>
        </p:nvSpPr>
        <p:spPr bwMode="auto">
          <a:xfrm>
            <a:off x="5025008" y="1934170"/>
            <a:ext cx="4104456" cy="1924673"/>
          </a:xfrm>
          <a:prstGeom prst="roundRect">
            <a:avLst>
              <a:gd name="adj" fmla="val 5344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9" name="직사각형 28"/>
          <p:cNvSpPr/>
          <p:nvPr/>
        </p:nvSpPr>
        <p:spPr bwMode="auto">
          <a:xfrm>
            <a:off x="7761312" y="3642876"/>
            <a:ext cx="1512168" cy="218172"/>
          </a:xfrm>
          <a:prstGeom prst="rect">
            <a:avLst/>
          </a:prstGeom>
          <a:noFill/>
          <a:ln w="12700">
            <a:noFill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lIns="0" tIns="0" rIns="0" bIns="0" anchor="ctr"/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ko-KR" altLang="en-US" sz="1000" b="1" dirty="0" err="1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가상머신</a:t>
            </a:r>
            <a:r>
              <a:rPr lang="ko-KR" altLang="en-US" sz="1000" b="1" dirty="0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 기반 신규 인프라</a:t>
            </a:r>
            <a:endParaRPr lang="en-US" altLang="ko-KR" sz="10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416496" y="1845851"/>
            <a:ext cx="9063445" cy="2368359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240328" y="3933055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열린 데이터 광장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Front-End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Rounded Rectangle 9"/>
          <p:cNvSpPr/>
          <p:nvPr/>
        </p:nvSpPr>
        <p:spPr bwMode="auto">
          <a:xfrm>
            <a:off x="344489" y="4797152"/>
            <a:ext cx="9135452" cy="1728192"/>
          </a:xfrm>
          <a:prstGeom prst="roundRect">
            <a:avLst>
              <a:gd name="adj" fmla="val 5344"/>
            </a:avLst>
          </a:prstGeom>
          <a:solidFill>
            <a:schemeClr val="bg2">
              <a:lumMod val="7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7213690" y="6263734"/>
            <a:ext cx="2239614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열린 데이터 광장 </a:t>
            </a:r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Back-End</a:t>
            </a:r>
            <a:endParaRPr lang="ko-KR" altLang="en-US" sz="105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Rectangle 28"/>
          <p:cNvSpPr>
            <a:spLocks noChangeAspect="1" noChangeArrowheads="1"/>
          </p:cNvSpPr>
          <p:nvPr/>
        </p:nvSpPr>
        <p:spPr bwMode="auto">
          <a:xfrm>
            <a:off x="5471349" y="1989400"/>
            <a:ext cx="1111251" cy="2270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ko-KR" altLang="en-US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대용량 처리</a:t>
            </a:r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WEB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35" name="그룹 34"/>
          <p:cNvGrpSpPr/>
          <p:nvPr/>
        </p:nvGrpSpPr>
        <p:grpSpPr>
          <a:xfrm>
            <a:off x="5615365" y="2277993"/>
            <a:ext cx="1188000" cy="421530"/>
            <a:chOff x="962157" y="3573016"/>
            <a:chExt cx="1235092" cy="540895"/>
          </a:xfrm>
        </p:grpSpPr>
        <p:sp>
          <p:nvSpPr>
            <p:cNvPr id="36" name="직사각형 35"/>
            <p:cNvSpPr/>
            <p:nvPr/>
          </p:nvSpPr>
          <p:spPr bwMode="auto">
            <a:xfrm>
              <a:off x="962157" y="3573016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Apache HTTPD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37" name="직사각형 36"/>
            <p:cNvSpPr/>
            <p:nvPr/>
          </p:nvSpPr>
          <p:spPr bwMode="auto">
            <a:xfrm>
              <a:off x="967444" y="3875182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Linux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38" name="Rectangle 26"/>
          <p:cNvSpPr>
            <a:spLocks noChangeAspect="1" noChangeArrowheads="1"/>
          </p:cNvSpPr>
          <p:nvPr/>
        </p:nvSpPr>
        <p:spPr bwMode="auto">
          <a:xfrm>
            <a:off x="5471349" y="1989401"/>
            <a:ext cx="1465618" cy="799526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Rectangle 28"/>
          <p:cNvSpPr>
            <a:spLocks noChangeAspect="1" noChangeArrowheads="1"/>
          </p:cNvSpPr>
          <p:nvPr/>
        </p:nvSpPr>
        <p:spPr bwMode="auto">
          <a:xfrm>
            <a:off x="7231798" y="1988839"/>
            <a:ext cx="1111251" cy="227013"/>
          </a:xfrm>
          <a:prstGeom prst="rect">
            <a:avLst/>
          </a:prstGeom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ko-KR" altLang="en-US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대용량 처리</a:t>
            </a:r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WAS</a:t>
            </a:r>
            <a:endParaRPr lang="en-US" altLang="ko-KR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0" name="그룹 39"/>
          <p:cNvGrpSpPr/>
          <p:nvPr/>
        </p:nvGrpSpPr>
        <p:grpSpPr>
          <a:xfrm>
            <a:off x="7375814" y="2277432"/>
            <a:ext cx="1188000" cy="421530"/>
            <a:chOff x="962157" y="3573016"/>
            <a:chExt cx="1235092" cy="540895"/>
          </a:xfrm>
        </p:grpSpPr>
        <p:sp>
          <p:nvSpPr>
            <p:cNvPr id="41" name="직사각형 40"/>
            <p:cNvSpPr/>
            <p:nvPr/>
          </p:nvSpPr>
          <p:spPr bwMode="auto">
            <a:xfrm>
              <a:off x="962157" y="3573016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Middleware(</a:t>
              </a:r>
              <a:r>
                <a:rPr kumimoji="0" lang="en-US" altLang="ko-KR" sz="900" b="1" dirty="0" err="1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JBoss</a:t>
              </a: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)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2" name="직사각형 41"/>
            <p:cNvSpPr/>
            <p:nvPr/>
          </p:nvSpPr>
          <p:spPr bwMode="auto">
            <a:xfrm>
              <a:off x="967444" y="3875182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Linux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43" name="Rectangle 26"/>
          <p:cNvSpPr>
            <a:spLocks noChangeAspect="1" noChangeArrowheads="1"/>
          </p:cNvSpPr>
          <p:nvPr/>
        </p:nvSpPr>
        <p:spPr bwMode="auto">
          <a:xfrm>
            <a:off x="7231798" y="1988840"/>
            <a:ext cx="1465618" cy="799526"/>
          </a:xfrm>
          <a:prstGeom prst="rect">
            <a:avLst/>
          </a:prstGeom>
          <a:noFill/>
          <a:ln w="2159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/>
          </a:ln>
        </p:spPr>
        <p:txBody>
          <a:bodyPr lIns="54000" tIns="25200" rIns="54000" bIns="25200" anchor="ctr"/>
          <a:lstStyle/>
          <a:p>
            <a:endParaRPr lang="ko-KR" altLang="en-US" b="1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44" name="그룹 43"/>
          <p:cNvGrpSpPr/>
          <p:nvPr/>
        </p:nvGrpSpPr>
        <p:grpSpPr>
          <a:xfrm>
            <a:off x="6367702" y="2913792"/>
            <a:ext cx="1465618" cy="848555"/>
            <a:chOff x="6059016" y="2732452"/>
            <a:chExt cx="1465618" cy="848555"/>
          </a:xfrm>
        </p:grpSpPr>
        <p:sp>
          <p:nvSpPr>
            <p:cNvPr id="45" name="Rectangle 28"/>
            <p:cNvSpPr>
              <a:spLocks noChangeAspect="1" noChangeArrowheads="1"/>
            </p:cNvSpPr>
            <p:nvPr/>
          </p:nvSpPr>
          <p:spPr bwMode="auto">
            <a:xfrm>
              <a:off x="6070301" y="2732452"/>
              <a:ext cx="1111251" cy="227013"/>
            </a:xfrm>
            <a:prstGeom prst="rect">
              <a:avLst/>
            </a:prstGeom>
            <a:ln>
              <a:headEnd/>
              <a:tailEnd/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54000" tIns="25200" rIns="54000" bIns="25200" anchor="ctr"/>
            <a:lstStyle/>
            <a:p>
              <a:pPr algn="ctr">
                <a:defRPr/>
              </a:pPr>
              <a:r>
                <a:rPr lang="ko-KR" altLang="en-US" sz="9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대용량 저장 디스</a:t>
              </a:r>
              <a:r>
                <a:rPr lang="ko-KR" altLang="en-US" sz="900" b="1" dirty="0">
                  <a:latin typeface="나눔고딕" panose="020D0604000000000000" pitchFamily="50" charset="-127"/>
                  <a:ea typeface="나눔고딕" panose="020D0604000000000000" pitchFamily="50" charset="-127"/>
                </a:rPr>
                <a:t>크</a:t>
              </a:r>
              <a:endPara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46" name="Rectangle 26"/>
            <p:cNvSpPr>
              <a:spLocks noChangeAspect="1" noChangeArrowheads="1"/>
            </p:cNvSpPr>
            <p:nvPr/>
          </p:nvSpPr>
          <p:spPr bwMode="auto">
            <a:xfrm>
              <a:off x="6059016" y="2734639"/>
              <a:ext cx="1465618" cy="846368"/>
            </a:xfrm>
            <a:prstGeom prst="rect">
              <a:avLst/>
            </a:prstGeom>
            <a:noFill/>
            <a:ln w="21590" algn="ctr">
              <a:solidFill>
                <a:schemeClr val="tx1">
                  <a:lumMod val="50000"/>
                  <a:lumOff val="50000"/>
                </a:schemeClr>
              </a:solidFill>
              <a:miter lim="800000"/>
              <a:headEnd/>
              <a:tailEnd/>
            </a:ln>
          </p:spPr>
          <p:txBody>
            <a:bodyPr lIns="54000" tIns="25200" rIns="54000" bIns="25200" anchor="ctr"/>
            <a:lstStyle/>
            <a:p>
              <a:pPr>
                <a:defRPr/>
              </a:pPr>
              <a:endParaRPr lang="ko-KR" altLang="en-US" b="1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cxnSp>
        <p:nvCxnSpPr>
          <p:cNvPr id="47" name="직선 연결선 46"/>
          <p:cNvCxnSpPr/>
          <p:nvPr/>
        </p:nvCxnSpPr>
        <p:spPr>
          <a:xfrm flipH="1">
            <a:off x="2457748" y="5686932"/>
            <a:ext cx="4499493" cy="2118"/>
          </a:xfrm>
          <a:prstGeom prst="line">
            <a:avLst/>
          </a:prstGeom>
          <a:ln w="38100" cmpd="sng">
            <a:solidFill>
              <a:schemeClr val="tx2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3" name="Picture 5" descr="C:\Users\ryujaejoon\AppData\Local\Microsoft\Windows\Temporary Internet Files\Content.IE5\4R1DIGBT\MC900428969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300076" y="5443855"/>
            <a:ext cx="353853" cy="49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 Box 11"/>
          <p:cNvSpPr txBox="1">
            <a:spLocks noChangeArrowheads="1"/>
          </p:cNvSpPr>
          <p:nvPr/>
        </p:nvSpPr>
        <p:spPr bwMode="auto">
          <a:xfrm>
            <a:off x="1997892" y="6059155"/>
            <a:ext cx="919712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auto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 b="1" i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MAP </a:t>
            </a:r>
            <a:r>
              <a:rPr lang="ko-KR" altLang="en-US" sz="800" b="1" i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변환서</a:t>
            </a:r>
            <a:r>
              <a:rPr lang="ko-KR" altLang="en-US" sz="800" b="1" i="1" dirty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버</a:t>
            </a:r>
            <a:endParaRPr lang="en-US" altLang="ko-KR" sz="800" b="1" i="1" dirty="0" smtClean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5" name="모서리가 둥근 직사각형 54"/>
          <p:cNvSpPr/>
          <p:nvPr/>
        </p:nvSpPr>
        <p:spPr>
          <a:xfrm>
            <a:off x="1985574" y="5226789"/>
            <a:ext cx="1015117" cy="27540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Map </a:t>
            </a:r>
            <a:r>
              <a:rPr kumimoji="0"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변환서버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grpSp>
        <p:nvGrpSpPr>
          <p:cNvPr id="56" name="그룹 55"/>
          <p:cNvGrpSpPr/>
          <p:nvPr/>
        </p:nvGrpSpPr>
        <p:grpSpPr>
          <a:xfrm>
            <a:off x="3000691" y="5230708"/>
            <a:ext cx="1224136" cy="1123553"/>
            <a:chOff x="968805" y="5389240"/>
            <a:chExt cx="1224136" cy="1123553"/>
          </a:xfrm>
        </p:grpSpPr>
        <p:grpSp>
          <p:nvGrpSpPr>
            <p:cNvPr id="57" name="그룹 56"/>
            <p:cNvGrpSpPr/>
            <p:nvPr/>
          </p:nvGrpSpPr>
          <p:grpSpPr>
            <a:xfrm>
              <a:off x="1273328" y="5662519"/>
              <a:ext cx="449468" cy="476599"/>
              <a:chOff x="4314562" y="4171238"/>
              <a:chExt cx="495947" cy="536940"/>
            </a:xfrm>
          </p:grpSpPr>
          <p:pic>
            <p:nvPicPr>
              <p:cNvPr id="63" name="Picture 4" descr="C:\Users\ryujaejoon\AppData\Local\Microsoft\Windows\Temporary Internet Files\Content.IE5\TXS3QFNA\MC900428969[1].wmf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4562" y="4171238"/>
                <a:ext cx="410890" cy="536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4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14069" y="4304929"/>
                <a:ext cx="196440" cy="21602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grpSp>
          <p:nvGrpSpPr>
            <p:cNvPr id="58" name="그룹 57"/>
            <p:cNvGrpSpPr/>
            <p:nvPr/>
          </p:nvGrpSpPr>
          <p:grpSpPr>
            <a:xfrm>
              <a:off x="1492403" y="5672044"/>
              <a:ext cx="449468" cy="476599"/>
              <a:chOff x="4314562" y="4171238"/>
              <a:chExt cx="495947" cy="536940"/>
            </a:xfrm>
          </p:grpSpPr>
          <p:pic>
            <p:nvPicPr>
              <p:cNvPr id="61" name="Picture 4" descr="C:\Users\ryujaejoon\AppData\Local\Microsoft\Windows\Temporary Internet Files\Content.IE5\TXS3QFNA\MC900428969[1].wmf"/>
              <p:cNvPicPr>
                <a:picLocks noChangeAspect="1" noChangeArrowheads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314562" y="4171238"/>
                <a:ext cx="410890" cy="53694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  <p:pic>
            <p:nvPicPr>
              <p:cNvPr id="62" name="Picture 33" descr="ICON_1Storage_NoShadow_Q207"/>
              <p:cNvPicPr>
                <a:picLocks noChangeAspect="1" noChangeArrowheads="1"/>
              </p:cNvPicPr>
              <p:nvPr/>
            </p:nvPicPr>
            <p:blipFill>
              <a:blip r:embed="rId6" cstate="print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4614069" y="4439709"/>
                <a:ext cx="196440" cy="21602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pic>
        </p:grpSp>
        <p:sp>
          <p:nvSpPr>
            <p:cNvPr id="59" name="Text Box 11"/>
            <p:cNvSpPr txBox="1">
              <a:spLocks noChangeArrowheads="1"/>
            </p:cNvSpPr>
            <p:nvPr/>
          </p:nvSpPr>
          <p:spPr bwMode="auto">
            <a:xfrm>
              <a:off x="968805" y="6226561"/>
              <a:ext cx="1224136" cy="286232"/>
            </a:xfrm>
            <a:prstGeom prst="rect">
              <a:avLst/>
            </a:prstGeom>
            <a:noFill/>
            <a:ln w="9525" algn="ctr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 fontAlgn="auto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ko-KR" altLang="en-US" sz="800" b="1" i="1" dirty="0" err="1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오픈아키텍처</a:t>
              </a: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DB</a:t>
              </a:r>
            </a:p>
            <a:p>
              <a:pPr algn="ctr" fontAlgn="auto">
                <a:lnSpc>
                  <a:spcPct val="50000"/>
                </a:lnSpc>
                <a:spcBef>
                  <a:spcPct val="50000"/>
                </a:spcBef>
                <a:spcAft>
                  <a:spcPts val="0"/>
                </a:spcAft>
                <a:defRPr/>
              </a:pPr>
              <a:r>
                <a:rPr lang="en-US" altLang="ko-KR" sz="800" b="1" i="1" dirty="0" smtClean="0">
                  <a:solidFill>
                    <a:schemeClr val="tx2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#1, #2</a:t>
              </a:r>
            </a:p>
          </p:txBody>
        </p:sp>
        <p:sp>
          <p:nvSpPr>
            <p:cNvPr id="60" name="모서리가 둥근 직사각형 59"/>
            <p:cNvSpPr/>
            <p:nvPr/>
          </p:nvSpPr>
          <p:spPr>
            <a:xfrm>
              <a:off x="1056101" y="5389240"/>
              <a:ext cx="1015117" cy="275408"/>
            </a:xfrm>
            <a:prstGeom prst="roundRect">
              <a:avLst>
                <a:gd name="adj" fmla="val 50000"/>
              </a:avLst>
            </a:pr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Arch DB</a:t>
              </a:r>
              <a:endParaRPr kumimoji="0"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65" name="Picture 5" descr="C:\Users\ryujaejoon\AppData\Local\Microsoft\Windows\Temporary Internet Files\Content.IE5\4R1DIGBT\MC900428969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33721" y="5491799"/>
            <a:ext cx="353853" cy="49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6" name="모서리가 둥근 직사각형 65"/>
          <p:cNvSpPr/>
          <p:nvPr/>
        </p:nvSpPr>
        <p:spPr>
          <a:xfrm>
            <a:off x="4171815" y="5212250"/>
            <a:ext cx="1015117" cy="27540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ko-KR" altLang="en-US" sz="800" b="1" i="1" dirty="0" smtClean="0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업무관리</a:t>
            </a:r>
            <a:endParaRPr lang="en-US" altLang="ko-KR" sz="800" b="1" i="1" dirty="0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7" name="Text Box 11"/>
          <p:cNvSpPr txBox="1">
            <a:spLocks noChangeArrowheads="1"/>
          </p:cNvSpPr>
          <p:nvPr/>
        </p:nvSpPr>
        <p:spPr bwMode="auto">
          <a:xfrm>
            <a:off x="4079889" y="6044325"/>
            <a:ext cx="1224136" cy="16312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algn="ctr" fontAlgn="auto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ko-KR" altLang="en-US" sz="800" b="1" i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관리 서버</a:t>
            </a:r>
            <a:endParaRPr lang="en-US" altLang="ko-KR" sz="800" b="1" i="1" dirty="0" smtClean="0">
              <a:solidFill>
                <a:schemeClr val="tx2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8" name="꺾인 연결선 67"/>
          <p:cNvCxnSpPr>
            <a:stCxn id="46" idx="2"/>
          </p:cNvCxnSpPr>
          <p:nvPr/>
        </p:nvCxnSpPr>
        <p:spPr bwMode="auto">
          <a:xfrm rot="16200000" flipH="1">
            <a:off x="6800403" y="4062454"/>
            <a:ext cx="602756" cy="2541"/>
          </a:xfrm>
          <a:prstGeom prst="bentConnector3">
            <a:avLst>
              <a:gd name="adj1" fmla="val 50000"/>
            </a:avLst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9" name="Text Box 11"/>
          <p:cNvSpPr txBox="1">
            <a:spLocks noChangeArrowheads="1"/>
          </p:cNvSpPr>
          <p:nvPr/>
        </p:nvSpPr>
        <p:spPr bwMode="auto">
          <a:xfrm>
            <a:off x="7063534" y="3912080"/>
            <a:ext cx="519954" cy="1538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auto">
              <a:lnSpc>
                <a:spcPct val="50000"/>
              </a:lnSpc>
              <a:spcBef>
                <a:spcPct val="50000"/>
              </a:spcBef>
              <a:spcAft>
                <a:spcPts val="0"/>
              </a:spcAft>
              <a:defRPr/>
            </a:pPr>
            <a:r>
              <a:rPr lang="en-US" altLang="ko-KR" sz="800" b="1" i="1" dirty="0" smtClean="0">
                <a:solidFill>
                  <a:schemeClr val="tx2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SFTP</a:t>
            </a:r>
          </a:p>
        </p:txBody>
      </p:sp>
      <p:grpSp>
        <p:nvGrpSpPr>
          <p:cNvPr id="70" name="그룹 69"/>
          <p:cNvGrpSpPr/>
          <p:nvPr/>
        </p:nvGrpSpPr>
        <p:grpSpPr>
          <a:xfrm>
            <a:off x="6506510" y="3237134"/>
            <a:ext cx="1188000" cy="421530"/>
            <a:chOff x="962157" y="3573016"/>
            <a:chExt cx="1235092" cy="540895"/>
          </a:xfrm>
        </p:grpSpPr>
        <p:sp>
          <p:nvSpPr>
            <p:cNvPr id="71" name="직사각형 70"/>
            <p:cNvSpPr/>
            <p:nvPr/>
          </p:nvSpPr>
          <p:spPr bwMode="auto">
            <a:xfrm>
              <a:off x="962157" y="3573016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US" altLang="ko-KR" sz="8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LVM(Logical Volume)</a:t>
              </a:r>
              <a:endParaRPr kumimoji="0" lang="ko-KR" altLang="en-US" sz="8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2" name="직사각형 71"/>
            <p:cNvSpPr/>
            <p:nvPr/>
          </p:nvSpPr>
          <p:spPr bwMode="auto">
            <a:xfrm>
              <a:off x="967444" y="3875182"/>
              <a:ext cx="1229805" cy="238729"/>
            </a:xfrm>
            <a:prstGeom prst="rect">
              <a:avLst/>
            </a:prstGeom>
            <a:solidFill>
              <a:schemeClr val="bg1"/>
            </a:solidFill>
            <a:ln w="12700">
              <a:solidFill>
                <a:schemeClr val="tx1">
                  <a:lumMod val="50000"/>
                  <a:lumOff val="50000"/>
                </a:schemeClr>
              </a:solidFill>
            </a:ln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kumimoji="0" lang="en-US" altLang="ko-KR" sz="900" b="1" dirty="0" smtClean="0">
                  <a:solidFill>
                    <a:schemeClr val="tx2">
                      <a:lumMod val="50000"/>
                    </a:schemeClr>
                  </a:solidFill>
                  <a:latin typeface="나눔고딕" panose="020D0604000000000000" pitchFamily="50" charset="-127"/>
                  <a:ea typeface="나눔고딕" panose="020D0604000000000000" pitchFamily="50" charset="-127"/>
                </a:rPr>
                <a:t>Linux</a:t>
              </a:r>
              <a:endParaRPr kumimoji="0" lang="ko-KR" altLang="en-US" sz="900" b="1" dirty="0">
                <a:solidFill>
                  <a:schemeClr val="tx2">
                    <a:lumMod val="50000"/>
                  </a:schemeClr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pic>
        <p:nvPicPr>
          <p:cNvPr id="73" name="Picture 5" descr="C:\Users\ryujaejoon\AppData\Local\Microsoft\Windows\Temporary Internet Files\Content.IE5\4R1DIGBT\MC900428969[1].wmf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4506" y="5486828"/>
            <a:ext cx="353853" cy="4903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4" name="모서리가 둥근 직사각형 73"/>
          <p:cNvSpPr/>
          <p:nvPr/>
        </p:nvSpPr>
        <p:spPr>
          <a:xfrm>
            <a:off x="6582600" y="5207279"/>
            <a:ext cx="1015117" cy="275408"/>
          </a:xfrm>
          <a:prstGeom prst="roundRect">
            <a:avLst>
              <a:gd name="adj" fmla="val 50000"/>
            </a:avLst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전송 서버</a:t>
            </a:r>
            <a:r>
              <a:rPr kumimoji="0"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kumimoji="0" lang="ko-KR" altLang="en-US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동기화</a:t>
            </a:r>
            <a:r>
              <a:rPr kumimoji="0" lang="en-US" altLang="ko-KR" sz="8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kumimoji="0" lang="ko-KR" altLang="en-US" sz="8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75" name="Rectangle 28"/>
          <p:cNvSpPr>
            <a:spLocks noChangeAspect="1" noChangeArrowheads="1"/>
          </p:cNvSpPr>
          <p:nvPr/>
        </p:nvSpPr>
        <p:spPr bwMode="auto">
          <a:xfrm>
            <a:off x="344488" y="4365103"/>
            <a:ext cx="9136063" cy="304800"/>
          </a:xfrm>
          <a:prstGeom prst="rect">
            <a:avLst/>
          </a:prstGeom>
          <a:gradFill>
            <a:gsLst>
              <a:gs pos="0">
                <a:srgbClr val="8488C4"/>
              </a:gs>
              <a:gs pos="53000">
                <a:srgbClr val="D4DEFF"/>
              </a:gs>
              <a:gs pos="83000">
                <a:srgbClr val="D4DEFF"/>
              </a:gs>
              <a:gs pos="100000">
                <a:srgbClr val="96AB94"/>
              </a:gs>
            </a:gsLst>
            <a:lin ang="16200000" scaled="0"/>
          </a:gradFill>
          <a:ln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lIns="54000" tIns="25200" rIns="54000" bIns="25200" anchor="ctr"/>
          <a:lstStyle/>
          <a:p>
            <a:pPr algn="ctr">
              <a:defRPr/>
            </a:pP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Firewall</a:t>
            </a:r>
            <a:endParaRPr lang="en-US" altLang="ko-KR" sz="11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76" name="꺾인 연결선 75"/>
          <p:cNvCxnSpPr>
            <a:stCxn id="46" idx="1"/>
            <a:endCxn id="38" idx="2"/>
          </p:cNvCxnSpPr>
          <p:nvPr/>
        </p:nvCxnSpPr>
        <p:spPr bwMode="auto">
          <a:xfrm rot="10800000">
            <a:off x="6204158" y="2788927"/>
            <a:ext cx="163544" cy="550236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꺾인 연결선 79"/>
          <p:cNvCxnSpPr>
            <a:stCxn id="46" idx="3"/>
            <a:endCxn id="43" idx="2"/>
          </p:cNvCxnSpPr>
          <p:nvPr/>
        </p:nvCxnSpPr>
        <p:spPr bwMode="auto">
          <a:xfrm flipV="1">
            <a:off x="7833320" y="2788366"/>
            <a:ext cx="131287" cy="550797"/>
          </a:xfrm>
          <a:prstGeom prst="bentConnector2">
            <a:avLst/>
          </a:prstGeom>
          <a:ln>
            <a:headEnd type="triangl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직선 화살표 연결선 83"/>
          <p:cNvCxnSpPr>
            <a:stCxn id="74" idx="0"/>
          </p:cNvCxnSpPr>
          <p:nvPr/>
        </p:nvCxnSpPr>
        <p:spPr>
          <a:xfrm flipH="1" flipV="1">
            <a:off x="7090158" y="4669903"/>
            <a:ext cx="1" cy="537376"/>
          </a:xfrm>
          <a:prstGeom prst="straightConnector1">
            <a:avLst/>
          </a:prstGeom>
          <a:ln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88555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ounded Rectangle 9"/>
          <p:cNvSpPr/>
          <p:nvPr/>
        </p:nvSpPr>
        <p:spPr bwMode="auto">
          <a:xfrm>
            <a:off x="3719306" y="1754546"/>
            <a:ext cx="3753974" cy="4231027"/>
          </a:xfrm>
          <a:prstGeom prst="roundRect">
            <a:avLst>
              <a:gd name="adj" fmla="val 4373"/>
            </a:avLst>
          </a:prstGeom>
          <a:ln/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57" name="Rounded Rectangle 8"/>
          <p:cNvSpPr/>
          <p:nvPr/>
        </p:nvSpPr>
        <p:spPr bwMode="auto">
          <a:xfrm>
            <a:off x="4075261" y="3870059"/>
            <a:ext cx="1574247" cy="1614222"/>
          </a:xfrm>
          <a:prstGeom prst="roundRect">
            <a:avLst>
              <a:gd name="adj" fmla="val 981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소프트웨어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아키텍처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pic>
        <p:nvPicPr>
          <p:cNvPr id="4" name="Picture 14" descr="http://upload.wikimedia.org/wikipedia/commons/thumb/7/7b/Tomcat-logo.svg/2000px-Tomcat-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82869" y="2201808"/>
            <a:ext cx="454565" cy="30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6" name="Picture 64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639342" y="3375476"/>
            <a:ext cx="534987" cy="411163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Box 325"/>
          <p:cNvSpPr txBox="1">
            <a:spLocks noChangeArrowheads="1"/>
          </p:cNvSpPr>
          <p:nvPr/>
        </p:nvSpPr>
        <p:spPr bwMode="auto">
          <a:xfrm>
            <a:off x="1583779" y="3496126"/>
            <a:ext cx="646113" cy="184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600" b="1">
                <a:solidFill>
                  <a:schemeClr val="bg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Internet </a:t>
            </a:r>
            <a:endParaRPr lang="ko-KR" altLang="en-US" sz="600" b="1">
              <a:solidFill>
                <a:schemeClr val="bg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8" name="직선 연결선 418"/>
          <p:cNvCxnSpPr>
            <a:cxnSpLocks noChangeShapeType="1"/>
            <a:endCxn id="6" idx="2"/>
          </p:cNvCxnSpPr>
          <p:nvPr/>
        </p:nvCxnSpPr>
        <p:spPr bwMode="auto">
          <a:xfrm flipV="1">
            <a:off x="1173460" y="3786639"/>
            <a:ext cx="733376" cy="1036714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0" name="직선 연결선 418"/>
          <p:cNvCxnSpPr>
            <a:cxnSpLocks noChangeShapeType="1"/>
            <a:endCxn id="6" idx="1"/>
          </p:cNvCxnSpPr>
          <p:nvPr/>
        </p:nvCxnSpPr>
        <p:spPr bwMode="auto">
          <a:xfrm flipV="1">
            <a:off x="1193151" y="3581058"/>
            <a:ext cx="446191" cy="2615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1" name="직선 연결선 418"/>
          <p:cNvCxnSpPr>
            <a:cxnSpLocks noChangeShapeType="1"/>
            <a:stCxn id="7" idx="3"/>
            <a:endCxn id="12" idx="2"/>
          </p:cNvCxnSpPr>
          <p:nvPr/>
        </p:nvCxnSpPr>
        <p:spPr bwMode="auto">
          <a:xfrm flipV="1">
            <a:off x="2229892" y="3586614"/>
            <a:ext cx="474662" cy="1587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타원 70"/>
          <p:cNvSpPr>
            <a:spLocks noChangeArrowheads="1"/>
          </p:cNvSpPr>
          <p:nvPr/>
        </p:nvSpPr>
        <p:spPr bwMode="auto">
          <a:xfrm>
            <a:off x="2704554" y="3561214"/>
            <a:ext cx="52388" cy="52387"/>
          </a:xfrm>
          <a:prstGeom prst="ellipse">
            <a:avLst/>
          </a:prstGeom>
          <a:solidFill>
            <a:srgbClr val="00CC00"/>
          </a:solidFill>
          <a:ln w="3175" algn="ctr">
            <a:solidFill>
              <a:schemeClr val="tx1"/>
            </a:solidFill>
            <a:round/>
            <a:headEnd/>
            <a:tailEnd/>
          </a:ln>
        </p:spPr>
        <p:txBody>
          <a:bodyPr lIns="0" tIns="0" rIns="0" bIns="0" anchor="ctr"/>
          <a:lstStyle/>
          <a:p>
            <a:pPr algn="ctr"/>
            <a:endParaRPr lang="ko-KR" altLang="en-US" sz="70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6" name="직선 연결선 418"/>
          <p:cNvCxnSpPr>
            <a:cxnSpLocks noChangeShapeType="1"/>
            <a:endCxn id="6" idx="0"/>
          </p:cNvCxnSpPr>
          <p:nvPr/>
        </p:nvCxnSpPr>
        <p:spPr bwMode="auto">
          <a:xfrm>
            <a:off x="1269954" y="2168109"/>
            <a:ext cx="636882" cy="1207367"/>
          </a:xfrm>
          <a:prstGeom prst="line">
            <a:avLst/>
          </a:prstGeom>
          <a:noFill/>
          <a:ln w="3175" algn="ctr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pic>
        <p:nvPicPr>
          <p:cNvPr id="17" name="Picture 36"/>
          <p:cNvPicPr>
            <a:picLocks noChangeAspect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2756942" y="3431947"/>
            <a:ext cx="323850" cy="323850"/>
          </a:xfrm>
          <a:prstGeom prst="rect">
            <a:avLst/>
          </a:prstGeom>
          <a:noFill/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" name="Rounded Rectangle 6"/>
          <p:cNvSpPr/>
          <p:nvPr/>
        </p:nvSpPr>
        <p:spPr>
          <a:xfrm>
            <a:off x="2429123" y="1665094"/>
            <a:ext cx="6772349" cy="4490917"/>
          </a:xfrm>
          <a:prstGeom prst="roundRect">
            <a:avLst>
              <a:gd name="adj" fmla="val 2336"/>
            </a:avLst>
          </a:prstGeom>
          <a:noFill/>
          <a:ln w="19050">
            <a:solidFill>
              <a:schemeClr val="tx1"/>
            </a:solidFill>
            <a:prstDash val="sysDot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/>
            </a:endParaRPr>
          </a:p>
        </p:txBody>
      </p:sp>
      <p:sp>
        <p:nvSpPr>
          <p:cNvPr id="20" name="Rounded Rectangle 8"/>
          <p:cNvSpPr/>
          <p:nvPr/>
        </p:nvSpPr>
        <p:spPr bwMode="auto">
          <a:xfrm>
            <a:off x="4075262" y="3757288"/>
            <a:ext cx="1574247" cy="1780462"/>
          </a:xfrm>
          <a:prstGeom prst="roundRect">
            <a:avLst>
              <a:gd name="adj" fmla="val 981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3" name="Rounded Rectangle 8"/>
          <p:cNvSpPr/>
          <p:nvPr/>
        </p:nvSpPr>
        <p:spPr bwMode="auto">
          <a:xfrm>
            <a:off x="4075262" y="1914340"/>
            <a:ext cx="1574247" cy="1614222"/>
          </a:xfrm>
          <a:prstGeom prst="roundRect">
            <a:avLst>
              <a:gd name="adj" fmla="val 981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756942" y="3757288"/>
            <a:ext cx="338554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5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L4</a:t>
            </a:r>
            <a:endParaRPr lang="ko-KR" altLang="en-US" sz="105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28" name="Picture 12" descr="http://upload.wikimedia.org/wikipedia/commons/thumb/9/95/JBoss_logo.svg/640px-JBoss_logo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8254" y="2132856"/>
            <a:ext cx="597606" cy="34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14" descr="http://upload.wikimedia.org/wikipedia/commons/thumb/7/7b/Tomcat-logo.svg/2000px-Tomcat-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0483" y="4005064"/>
            <a:ext cx="454565" cy="30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12" descr="http://upload.wikimedia.org/wikipedia/commons/thumb/9/95/JBoss_logo.svg/640px-JBoss_logo.svg.png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1617" y="4015097"/>
            <a:ext cx="597606" cy="3492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모서리가 둥근 직사각형 32"/>
          <p:cNvSpPr/>
          <p:nvPr/>
        </p:nvSpPr>
        <p:spPr>
          <a:xfrm>
            <a:off x="4520952" y="4421427"/>
            <a:ext cx="666791" cy="6371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4" name="모서리가 둥근 직사각형 33"/>
          <p:cNvSpPr/>
          <p:nvPr/>
        </p:nvSpPr>
        <p:spPr>
          <a:xfrm>
            <a:off x="4462071" y="2501617"/>
            <a:ext cx="666791" cy="637115"/>
          </a:xfrm>
          <a:prstGeom prst="round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9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WAS</a:t>
            </a:r>
            <a:endParaRPr lang="ko-KR" altLang="en-US" sz="9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9" name="TextBox 34"/>
          <p:cNvSpPr txBox="1">
            <a:spLocks noChangeArrowheads="1"/>
          </p:cNvSpPr>
          <p:nvPr/>
        </p:nvSpPr>
        <p:spPr bwMode="auto">
          <a:xfrm>
            <a:off x="4303129" y="5247916"/>
            <a:ext cx="1153927" cy="27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50" b="1" dirty="0" smtClean="0">
                <a:solidFill>
                  <a:srgbClr val="6F292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SERVER #2</a:t>
            </a:r>
            <a:endParaRPr lang="en-US" altLang="ko-KR" sz="1050" b="1" dirty="0">
              <a:solidFill>
                <a:srgbClr val="6F2927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charset="0"/>
            </a:endParaRPr>
          </a:p>
        </p:txBody>
      </p:sp>
      <p:sp>
        <p:nvSpPr>
          <p:cNvPr id="40" name="Rounded Rectangle 9"/>
          <p:cNvSpPr/>
          <p:nvPr/>
        </p:nvSpPr>
        <p:spPr bwMode="auto">
          <a:xfrm>
            <a:off x="6081557" y="2771792"/>
            <a:ext cx="1296144" cy="1685929"/>
          </a:xfrm>
          <a:prstGeom prst="roundRect">
            <a:avLst>
              <a:gd name="adj" fmla="val 9818"/>
            </a:avLst>
          </a:prstGeom>
          <a:solidFill>
            <a:schemeClr val="bg1">
              <a:lumMod val="95000"/>
            </a:schemeClr>
          </a:solidFill>
          <a:ln w="6350">
            <a:solidFill>
              <a:schemeClr val="bg1">
                <a:lumMod val="85000"/>
              </a:schemeClr>
            </a:solidFill>
          </a:ln>
          <a:effectLst/>
        </p:spPr>
        <p:txBody>
          <a:bodyPr wrap="square" lIns="36000" tIns="36000" rIns="36000" bIns="36000">
            <a:noAutofit/>
          </a:bodyPr>
          <a:lstStyle/>
          <a:p>
            <a:pPr marL="95250" indent="-95250" eaLnBrk="0" fontAlgn="ctr" latinLnBrk="0" hangingPunct="0">
              <a:spcAft>
                <a:spcPct val="10000"/>
              </a:spcAft>
              <a:buClr>
                <a:srgbClr val="808080"/>
              </a:buClr>
              <a:buSzPct val="80000"/>
              <a:buFont typeface="Wingdings 2" pitchFamily="18" charset="2"/>
              <a:buChar char="¡"/>
            </a:pPr>
            <a:endParaRPr lang="en-US" sz="900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굴림" pitchFamily="50" charset="-127"/>
            </a:endParaRPr>
          </a:p>
        </p:txBody>
      </p:sp>
      <p:sp>
        <p:nvSpPr>
          <p:cNvPr id="41" name="TextBox 34"/>
          <p:cNvSpPr txBox="1">
            <a:spLocks noChangeArrowheads="1"/>
          </p:cNvSpPr>
          <p:nvPr/>
        </p:nvSpPr>
        <p:spPr bwMode="auto">
          <a:xfrm>
            <a:off x="6319353" y="4174488"/>
            <a:ext cx="1153927" cy="27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50" b="1" dirty="0" smtClean="0">
                <a:solidFill>
                  <a:srgbClr val="6F292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File Store</a:t>
            </a:r>
            <a:endParaRPr lang="en-US" altLang="ko-KR" sz="1050" b="1" dirty="0">
              <a:solidFill>
                <a:srgbClr val="6F2927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charset="0"/>
            </a:endParaRPr>
          </a:p>
        </p:txBody>
      </p:sp>
      <p:cxnSp>
        <p:nvCxnSpPr>
          <p:cNvPr id="42" name="직선 화살표 연결선 41"/>
          <p:cNvCxnSpPr>
            <a:stCxn id="17" idx="3"/>
            <a:endCxn id="34" idx="1"/>
          </p:cNvCxnSpPr>
          <p:nvPr/>
        </p:nvCxnSpPr>
        <p:spPr>
          <a:xfrm flipV="1">
            <a:off x="3080792" y="2820175"/>
            <a:ext cx="1381279" cy="773697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직선 화살표 연결선 42"/>
          <p:cNvCxnSpPr>
            <a:stCxn id="17" idx="3"/>
            <a:endCxn id="33" idx="1"/>
          </p:cNvCxnSpPr>
          <p:nvPr/>
        </p:nvCxnSpPr>
        <p:spPr>
          <a:xfrm>
            <a:off x="3080792" y="3593872"/>
            <a:ext cx="1440160" cy="1146113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직선 화살표 연결선 44"/>
          <p:cNvCxnSpPr>
            <a:stCxn id="34" idx="3"/>
          </p:cNvCxnSpPr>
          <p:nvPr/>
        </p:nvCxnSpPr>
        <p:spPr>
          <a:xfrm>
            <a:off x="5128862" y="2820175"/>
            <a:ext cx="1209089" cy="797073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/>
          <p:cNvCxnSpPr>
            <a:stCxn id="33" idx="3"/>
          </p:cNvCxnSpPr>
          <p:nvPr/>
        </p:nvCxnSpPr>
        <p:spPr>
          <a:xfrm flipV="1">
            <a:off x="5187743" y="3617248"/>
            <a:ext cx="1150208" cy="1122737"/>
          </a:xfrm>
          <a:prstGeom prst="straightConnector1">
            <a:avLst/>
          </a:prstGeom>
          <a:ln>
            <a:solidFill>
              <a:srgbClr val="002060"/>
            </a:solidFill>
            <a:prstDash val="sysDash"/>
            <a:headEnd type="non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34"/>
          <p:cNvSpPr txBox="1">
            <a:spLocks noChangeArrowheads="1"/>
          </p:cNvSpPr>
          <p:nvPr/>
        </p:nvSpPr>
        <p:spPr bwMode="auto">
          <a:xfrm>
            <a:off x="5217461" y="5706422"/>
            <a:ext cx="1153927" cy="27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ko-KR" altLang="en-US" sz="1200" b="1" dirty="0" err="1" smtClean="0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인터넷</a:t>
            </a:r>
            <a:r>
              <a:rPr lang="ko-KR" altLang="en-US" sz="1200" b="1" dirty="0" err="1">
                <a:solidFill>
                  <a:srgbClr val="FF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망</a:t>
            </a:r>
            <a:endParaRPr lang="en-US" altLang="ko-KR" sz="1200" b="1" dirty="0">
              <a:solidFill>
                <a:srgbClr val="FF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charset="0"/>
            </a:endParaRPr>
          </a:p>
        </p:txBody>
      </p:sp>
      <p:pic>
        <p:nvPicPr>
          <p:cNvPr id="50" name="Picture 14" descr="http://upload.wikimedia.org/wikipedia/commons/thumb/7/7b/Tomcat-logo.svg/2000px-Tomcat-logo.svg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58475" y="2179114"/>
            <a:ext cx="454565" cy="30296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1" name="TextBox 50"/>
          <p:cNvSpPr txBox="1"/>
          <p:nvPr/>
        </p:nvSpPr>
        <p:spPr>
          <a:xfrm>
            <a:off x="273051" y="908720"/>
            <a:ext cx="9217023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6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도입되는 </a:t>
            </a:r>
            <a:r>
              <a:rPr lang="en-US" altLang="ko-KR" dirty="0"/>
              <a:t>3</a:t>
            </a:r>
            <a:r>
              <a:rPr lang="ko-KR" altLang="en-US" dirty="0"/>
              <a:t>대의 서버 중 </a:t>
            </a:r>
            <a:r>
              <a:rPr lang="en-US" altLang="ko-KR" dirty="0"/>
              <a:t>2</a:t>
            </a:r>
            <a:r>
              <a:rPr lang="ko-KR" altLang="en-US" dirty="0"/>
              <a:t>대를 이중화하여 </a:t>
            </a:r>
            <a:r>
              <a:rPr lang="en-US" altLang="ko-KR" dirty="0" err="1"/>
              <a:t>JBoss</a:t>
            </a:r>
            <a:r>
              <a:rPr lang="en-US" altLang="ko-KR" dirty="0"/>
              <a:t> EWS</a:t>
            </a:r>
            <a:r>
              <a:rPr lang="ko-KR" altLang="en-US" dirty="0"/>
              <a:t>를 구성하고 다운로드 가능하도록 구성</a:t>
            </a:r>
            <a:endParaRPr lang="en-US" altLang="ko-KR" dirty="0"/>
          </a:p>
        </p:txBody>
      </p:sp>
      <p:pic>
        <p:nvPicPr>
          <p:cNvPr id="52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006" y="1919756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3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22" y="3299834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4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5422" y="4649382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8" name="TextBox 34"/>
          <p:cNvSpPr txBox="1">
            <a:spLocks noChangeArrowheads="1"/>
          </p:cNvSpPr>
          <p:nvPr/>
        </p:nvSpPr>
        <p:spPr bwMode="auto">
          <a:xfrm>
            <a:off x="4303129" y="3212976"/>
            <a:ext cx="1153927" cy="2722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1pPr>
            <a:lvl2pPr marL="742950" indent="-28575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2pPr>
            <a:lvl3pPr marL="11430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3pPr>
            <a:lvl4pPr marL="16002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4pPr>
            <a:lvl5pPr marL="2057400" indent="-228600" eaLnBrk="0" hangingPunct="0"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1000">
                <a:solidFill>
                  <a:srgbClr val="000000"/>
                </a:solidFill>
                <a:latin typeface="HY견고딕" pitchFamily="18" charset="-127"/>
                <a:ea typeface="HY견고딕" pitchFamily="18" charset="-127"/>
              </a:defRPr>
            </a:lvl9pPr>
          </a:lstStyle>
          <a:p>
            <a:pPr algn="ctr" eaLnBrk="1" hangingPunct="1"/>
            <a:r>
              <a:rPr lang="en-US" altLang="ko-KR" sz="1050" b="1" dirty="0" smtClean="0">
                <a:solidFill>
                  <a:srgbClr val="6F2927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charset="0"/>
              </a:rPr>
              <a:t>SERVER #1</a:t>
            </a:r>
            <a:endParaRPr lang="en-US" altLang="ko-KR" sz="1050" b="1" dirty="0">
              <a:solidFill>
                <a:srgbClr val="6F2927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charset="0"/>
            </a:endParaRPr>
          </a:p>
        </p:txBody>
      </p:sp>
      <p:pic>
        <p:nvPicPr>
          <p:cNvPr id="59" name="Picture 2" descr="http://icons.iconarchive.com/icons/icojam/blue-bits/128/database-search-icon.png"/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5578" y="3178664"/>
            <a:ext cx="765098" cy="7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53342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서버 애플리케이션 컴포넌트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5" name="Rectangle 137"/>
          <p:cNvSpPr>
            <a:spLocks noChangeArrowheads="1"/>
          </p:cNvSpPr>
          <p:nvPr/>
        </p:nvSpPr>
        <p:spPr bwMode="gray">
          <a:xfrm>
            <a:off x="2222696" y="1124744"/>
            <a:ext cx="4855076" cy="3419475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kumimoji="0" lang="ko-KR" altLang="en-US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대용량 파일 다운로드 모듈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7" name="Rectangle 5"/>
          <p:cNvSpPr>
            <a:spLocks noChangeArrowheads="1"/>
          </p:cNvSpPr>
          <p:nvPr/>
        </p:nvSpPr>
        <p:spPr bwMode="gray">
          <a:xfrm>
            <a:off x="2613393" y="2210905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Scheduler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8" name="Rectangle 5"/>
          <p:cNvSpPr>
            <a:spLocks noChangeArrowheads="1"/>
          </p:cNvSpPr>
          <p:nvPr/>
        </p:nvSpPr>
        <p:spPr bwMode="gray">
          <a:xfrm>
            <a:off x="2613393" y="177885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Download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Controller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19" name="Rectangle 5"/>
          <p:cNvSpPr>
            <a:spLocks noChangeArrowheads="1"/>
          </p:cNvSpPr>
          <p:nvPr/>
        </p:nvSpPr>
        <p:spPr bwMode="gray">
          <a:xfrm>
            <a:off x="350488" y="2714000"/>
            <a:ext cx="1509117" cy="688277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Console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0" name="Rectangle 137"/>
          <p:cNvSpPr>
            <a:spLocks noChangeArrowheads="1"/>
          </p:cNvSpPr>
          <p:nvPr/>
        </p:nvSpPr>
        <p:spPr bwMode="gray">
          <a:xfrm>
            <a:off x="194472" y="2386331"/>
            <a:ext cx="1794199" cy="1330700"/>
          </a:xfrm>
          <a:prstGeom prst="rect">
            <a:avLst/>
          </a:prstGeom>
          <a:noFill/>
          <a:ln w="12700">
            <a:solidFill>
              <a:schemeClr val="tx1"/>
            </a:solidFill>
            <a:prstDash val="sysDot"/>
            <a:miter lim="800000"/>
            <a:headEnd type="none" w="sm" len="sm"/>
            <a:tailEnd type="none" w="sm" len="sm"/>
          </a:ln>
        </p:spPr>
        <p:txBody>
          <a:bodyPr wrap="none"/>
          <a:lstStyle/>
          <a:p>
            <a:r>
              <a:rPr lang="en-US" altLang="ko-KR" sz="105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Management Console</a:t>
            </a:r>
            <a:endParaRPr kumimoji="0" lang="en-US" altLang="ko-KR" sz="1050" b="1" dirty="0"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2" name="Rectangle 5"/>
          <p:cNvSpPr>
            <a:spLocks noChangeArrowheads="1"/>
          </p:cNvSpPr>
          <p:nvPr/>
        </p:nvSpPr>
        <p:spPr bwMode="gray">
          <a:xfrm>
            <a:off x="506057" y="2941444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Java Script</a:t>
            </a:r>
          </a:p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Library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23" name="꺾인 연결선 22"/>
          <p:cNvCxnSpPr>
            <a:stCxn id="18" idx="1"/>
            <a:endCxn id="22" idx="3"/>
          </p:cNvCxnSpPr>
          <p:nvPr/>
        </p:nvCxnSpPr>
        <p:spPr>
          <a:xfrm rot="10800000" flipV="1">
            <a:off x="1704035" y="1950626"/>
            <a:ext cx="909358" cy="1162587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24" name="TextBox 23"/>
          <p:cNvSpPr txBox="1"/>
          <p:nvPr/>
        </p:nvSpPr>
        <p:spPr>
          <a:xfrm>
            <a:off x="1988669" y="1750573"/>
            <a:ext cx="401072" cy="20005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7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HTTP</a:t>
            </a:r>
            <a:endParaRPr lang="ko-KR" altLang="en-US" sz="7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Rectangle 5"/>
          <p:cNvSpPr>
            <a:spLocks noChangeArrowheads="1"/>
          </p:cNvSpPr>
          <p:nvPr/>
        </p:nvSpPr>
        <p:spPr bwMode="gray">
          <a:xfrm>
            <a:off x="2457824" y="1530793"/>
            <a:ext cx="3975981" cy="1183208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Spring Controller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6" name="Rectangle 5"/>
          <p:cNvSpPr>
            <a:spLocks noChangeArrowheads="1"/>
          </p:cNvSpPr>
          <p:nvPr/>
        </p:nvSpPr>
        <p:spPr bwMode="gray">
          <a:xfrm>
            <a:off x="3861981" y="2211955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err="1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EhCache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7" name="Rectangle 5"/>
          <p:cNvSpPr>
            <a:spLocks noChangeArrowheads="1"/>
          </p:cNvSpPr>
          <p:nvPr/>
        </p:nvSpPr>
        <p:spPr bwMode="gray">
          <a:xfrm>
            <a:off x="3861981" y="1779907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History Log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8" name="Rectangle 5"/>
          <p:cNvSpPr>
            <a:spLocks noChangeArrowheads="1"/>
          </p:cNvSpPr>
          <p:nvPr/>
        </p:nvSpPr>
        <p:spPr bwMode="gray">
          <a:xfrm>
            <a:off x="5110568" y="2214561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Data Compressor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sp>
        <p:nvSpPr>
          <p:cNvPr id="29" name="Rectangle 5"/>
          <p:cNvSpPr>
            <a:spLocks noChangeArrowheads="1"/>
          </p:cNvSpPr>
          <p:nvPr/>
        </p:nvSpPr>
        <p:spPr bwMode="gray">
          <a:xfrm>
            <a:off x="5110568" y="1782513"/>
            <a:ext cx="1197978" cy="343540"/>
          </a:xfrm>
          <a:prstGeom prst="rect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ctr"/>
          <a:lstStyle/>
          <a:p>
            <a:pPr algn="ctr"/>
            <a:r>
              <a:rPr lang="en-US" altLang="ko-KR" sz="900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ORM</a:t>
            </a:r>
            <a:endParaRPr lang="en-US" altLang="ko-KR" sz="900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cxnSp>
        <p:nvCxnSpPr>
          <p:cNvPr id="33" name="꺾인 연결선 32"/>
          <p:cNvCxnSpPr>
            <a:stCxn id="36" idx="1"/>
            <a:endCxn id="29" idx="3"/>
          </p:cNvCxnSpPr>
          <p:nvPr/>
        </p:nvCxnSpPr>
        <p:spPr>
          <a:xfrm rot="10800000" flipV="1">
            <a:off x="6308546" y="1823815"/>
            <a:ext cx="1558802" cy="130468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sp>
        <p:nvSpPr>
          <p:cNvPr id="35" name="Rectangle 5"/>
          <p:cNvSpPr>
            <a:spLocks noChangeArrowheads="1"/>
          </p:cNvSpPr>
          <p:nvPr/>
        </p:nvSpPr>
        <p:spPr bwMode="gray">
          <a:xfrm>
            <a:off x="3709337" y="3092894"/>
            <a:ext cx="1509117" cy="1183208"/>
          </a:xfrm>
          <a:prstGeom prst="rect">
            <a:avLst/>
          </a:prstGeom>
          <a:ln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anchor="t"/>
          <a:lstStyle/>
          <a:p>
            <a:pPr algn="ctr"/>
            <a:r>
              <a:rPr kumimoji="0" lang="en-US" altLang="ko-KR" sz="1000" b="1" dirty="0" smtClean="0">
                <a:solidFill>
                  <a:srgbClr val="000000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File Store</a:t>
            </a:r>
            <a:endParaRPr kumimoji="0" lang="en-US" altLang="ko-KR" sz="1000" b="1" dirty="0">
              <a:solidFill>
                <a:srgbClr val="000000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  <p:pic>
        <p:nvPicPr>
          <p:cNvPr id="36" name="Picture 2" descr="http://icons.iconarchive.com/icons/gakuseisean/ivista-2/128/Misc-Database-3-icon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67348" y="1374237"/>
            <a:ext cx="974084" cy="899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8" name="꺾인 연결선 35"/>
          <p:cNvCxnSpPr>
            <a:stCxn id="26" idx="2"/>
            <a:endCxn id="35" idx="0"/>
          </p:cNvCxnSpPr>
          <p:nvPr/>
        </p:nvCxnSpPr>
        <p:spPr>
          <a:xfrm rot="16200000" flipH="1">
            <a:off x="4193734" y="2822731"/>
            <a:ext cx="537399" cy="2926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grpSp>
        <p:nvGrpSpPr>
          <p:cNvPr id="3" name="그룹 38"/>
          <p:cNvGrpSpPr/>
          <p:nvPr/>
        </p:nvGrpSpPr>
        <p:grpSpPr>
          <a:xfrm>
            <a:off x="205928" y="4725144"/>
            <a:ext cx="9427592" cy="1584176"/>
            <a:chOff x="982508" y="4869160"/>
            <a:chExt cx="6541808" cy="1263916"/>
          </a:xfrm>
        </p:grpSpPr>
        <p:sp>
          <p:nvSpPr>
            <p:cNvPr id="40" name="Rectangle 8"/>
            <p:cNvSpPr>
              <a:spLocks noChangeArrowheads="1"/>
            </p:cNvSpPr>
            <p:nvPr/>
          </p:nvSpPr>
          <p:spPr bwMode="auto">
            <a:xfrm>
              <a:off x="2324842" y="4869160"/>
              <a:ext cx="5199474" cy="243287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Function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1" name="Rectangle 9"/>
            <p:cNvSpPr>
              <a:spLocks noChangeArrowheads="1"/>
            </p:cNvSpPr>
            <p:nvPr/>
          </p:nvSpPr>
          <p:spPr bwMode="auto">
            <a:xfrm>
              <a:off x="982508" y="4869160"/>
              <a:ext cx="1269390" cy="243287"/>
            </a:xfrm>
            <a:prstGeom prst="rect">
              <a:avLst/>
            </a:prstGeom>
            <a:solidFill>
              <a:srgbClr val="EAEAEA"/>
            </a:solidFill>
            <a:ln w="9525" algn="ctr">
              <a:solidFill>
                <a:schemeClr val="bg1">
                  <a:lumMod val="65000"/>
                </a:schemeClr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Component</a:t>
              </a:r>
              <a:endParaRPr lang="ko-KR" altLang="en-US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2" name="Rectangle 5"/>
            <p:cNvSpPr>
              <a:spLocks noChangeArrowheads="1"/>
            </p:cNvSpPr>
            <p:nvPr/>
          </p:nvSpPr>
          <p:spPr bwMode="auto">
            <a:xfrm>
              <a:off x="982508" y="5156462"/>
              <a:ext cx="1287449" cy="232044"/>
            </a:xfrm>
            <a:prstGeom prst="rect">
              <a:avLst/>
            </a:prstGeom>
            <a:solidFill>
              <a:srgbClr val="F8F8F8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30000"/>
                </a:spcBef>
                <a:defRPr/>
              </a:pPr>
              <a:r>
                <a:rPr lang="ko-KR" altLang="en-US" sz="1000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어드민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 콘솔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3" name="Rectangle 13"/>
            <p:cNvSpPr>
              <a:spLocks noChangeArrowheads="1"/>
            </p:cNvSpPr>
            <p:nvPr/>
          </p:nvSpPr>
          <p:spPr bwMode="auto">
            <a:xfrm>
              <a:off x="2340441" y="5156463"/>
              <a:ext cx="5183875" cy="232045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marL="171450" indent="-171450" algn="l" eaLnBrk="0" hangingPunct="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다운로드 서비스 통계 및 모니터링을 위한 관리 콘솔 제공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4" name="Rectangle 5"/>
            <p:cNvSpPr>
              <a:spLocks noChangeArrowheads="1"/>
            </p:cNvSpPr>
            <p:nvPr/>
          </p:nvSpPr>
          <p:spPr bwMode="auto">
            <a:xfrm>
              <a:off x="982508" y="5453457"/>
              <a:ext cx="1287449" cy="384032"/>
            </a:xfrm>
            <a:prstGeom prst="rect">
              <a:avLst/>
            </a:prstGeom>
            <a:solidFill>
              <a:srgbClr val="F8F8F8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30000"/>
                </a:spcBef>
                <a:defRPr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컨트롤러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5" name="Rectangle 13"/>
            <p:cNvSpPr>
              <a:spLocks noChangeArrowheads="1"/>
            </p:cNvSpPr>
            <p:nvPr/>
          </p:nvSpPr>
          <p:spPr bwMode="auto">
            <a:xfrm>
              <a:off x="2340441" y="5453456"/>
              <a:ext cx="5183875" cy="384032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marL="171450" indent="-171450" eaLnBrk="0" hangingPunct="0">
                <a:buFont typeface="Arial" pitchFamily="34" charset="0"/>
                <a:buChar char="•"/>
              </a:pP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Spring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 </a:t>
              </a: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MVC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를 통한 컨트롤러를 제공하고 다운로드 시 카운트를 업데이트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  <a:p>
              <a:pPr marL="171450" indent="-171450" eaLnBrk="0" hangingPunct="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파일은 스토어에서 로딩하여 메모리에 로딩하여 </a:t>
              </a:r>
              <a:r>
                <a:rPr lang="ko-KR" altLang="en-US" sz="1000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스트림을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 통해 데이터를 전송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6" name="Rectangle 5"/>
            <p:cNvSpPr>
              <a:spLocks noChangeArrowheads="1"/>
            </p:cNvSpPr>
            <p:nvPr/>
          </p:nvSpPr>
          <p:spPr bwMode="auto">
            <a:xfrm>
              <a:off x="982508" y="5901030"/>
              <a:ext cx="1287449" cy="232044"/>
            </a:xfrm>
            <a:prstGeom prst="rect">
              <a:avLst/>
            </a:prstGeom>
            <a:solidFill>
              <a:srgbClr val="F8F8F8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algn="ctr" eaLnBrk="0" hangingPunct="0">
                <a:spcBef>
                  <a:spcPct val="30000"/>
                </a:spcBef>
                <a:defRPr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파일 저장소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  <p:sp>
          <p:nvSpPr>
            <p:cNvPr id="47" name="Rectangle 13"/>
            <p:cNvSpPr>
              <a:spLocks noChangeArrowheads="1"/>
            </p:cNvSpPr>
            <p:nvPr/>
          </p:nvSpPr>
          <p:spPr bwMode="auto">
            <a:xfrm>
              <a:off x="2340441" y="5901031"/>
              <a:ext cx="5183875" cy="232045"/>
            </a:xfrm>
            <a:prstGeom prst="rect">
              <a:avLst/>
            </a:prstGeom>
            <a:solidFill>
              <a:srgbClr val="DDDDDD"/>
            </a:solidFill>
            <a:ln w="9525" algn="ctr">
              <a:solidFill>
                <a:srgbClr val="969696"/>
              </a:solidFill>
              <a:miter lim="800000"/>
              <a:headEnd/>
              <a:tailEnd/>
            </a:ln>
            <a:effectLst>
              <a:outerShdw dist="35921" dir="2700000" algn="ctr" rotWithShape="0">
                <a:srgbClr val="777777"/>
              </a:outerShdw>
            </a:effectLst>
          </p:spPr>
          <p:txBody>
            <a:bodyPr anchor="ctr"/>
            <a:lstStyle/>
            <a:p>
              <a:pPr marL="171450" indent="-171450" algn="l" eaLnBrk="0" hangingPunct="0">
                <a:buFont typeface="Arial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네트워크 관리를 위한 화면 통신 데이터 </a:t>
              </a: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API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Calibri" pitchFamily="34" charset="0"/>
                </a:rPr>
                <a:t>를 제공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endParaRPr>
            </a:p>
          </p:txBody>
        </p:sp>
      </p:grpSp>
      <p:pic>
        <p:nvPicPr>
          <p:cNvPr id="48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2844" y="3877453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9" name="직사각형 48"/>
          <p:cNvSpPr/>
          <p:nvPr/>
        </p:nvSpPr>
        <p:spPr>
          <a:xfrm>
            <a:off x="776536" y="4334907"/>
            <a:ext cx="579005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Admin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50" name="꺾인 연결선 49"/>
          <p:cNvCxnSpPr>
            <a:stCxn id="20" idx="2"/>
            <a:endCxn id="48" idx="0"/>
          </p:cNvCxnSpPr>
          <p:nvPr/>
        </p:nvCxnSpPr>
        <p:spPr>
          <a:xfrm rot="5400000">
            <a:off x="1011361" y="3797242"/>
            <a:ext cx="160422" cy="1"/>
          </a:xfrm>
          <a:prstGeom prst="bentConnector3">
            <a:avLst>
              <a:gd name="adj1" fmla="val 50000"/>
            </a:avLst>
          </a:prstGeom>
          <a:ln w="6350">
            <a:solidFill>
              <a:schemeClr val="tx1">
                <a:lumMod val="50000"/>
                <a:lumOff val="50000"/>
              </a:schemeClr>
            </a:solidFill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  <p:pic>
        <p:nvPicPr>
          <p:cNvPr id="1026" name="Picture 2" descr="http://icons.iconarchive.com/icons/icojam/blue-bits/128/database-search-icon.png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1346" y="3353172"/>
            <a:ext cx="765098" cy="76509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4" name="TextBox 53"/>
          <p:cNvSpPr txBox="1"/>
          <p:nvPr/>
        </p:nvSpPr>
        <p:spPr>
          <a:xfrm>
            <a:off x="7755156" y="2278033"/>
            <a:ext cx="13023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1100" b="1" dirty="0" err="1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열린데이터광장</a:t>
            </a:r>
            <a:r>
              <a:rPr lang="ko-KR" altLang="en-US" sz="11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 </a:t>
            </a:r>
            <a:r>
              <a:rPr lang="en-US" altLang="ko-KR" sz="11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DB</a:t>
            </a:r>
            <a:endParaRPr lang="ko-KR" altLang="en-US" sz="11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6431301" y="1583214"/>
            <a:ext cx="165618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9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Update(Download Count)</a:t>
            </a:r>
            <a:endParaRPr lang="ko-KR" altLang="en-US" sz="900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pic>
        <p:nvPicPr>
          <p:cNvPr id="58" name="Picture 10" descr="http://icons.iconarchive.com/icons/hopstarter/sleek-xp-basic/128/Administrator-icon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71" y="1490660"/>
            <a:ext cx="457454" cy="4574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9" name="직사각형 58"/>
          <p:cNvSpPr/>
          <p:nvPr/>
        </p:nvSpPr>
        <p:spPr>
          <a:xfrm>
            <a:off x="835317" y="1968340"/>
            <a:ext cx="449162" cy="24622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defRPr/>
            </a:pPr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User</a:t>
            </a:r>
            <a:endParaRPr lang="en-US" altLang="ko-KR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60" name="꺾인 연결선 59"/>
          <p:cNvCxnSpPr>
            <a:stCxn id="18" idx="1"/>
            <a:endCxn id="58" idx="3"/>
          </p:cNvCxnSpPr>
          <p:nvPr/>
        </p:nvCxnSpPr>
        <p:spPr>
          <a:xfrm rot="10800000">
            <a:off x="1288625" y="1719387"/>
            <a:ext cx="1324768" cy="231240"/>
          </a:xfrm>
          <a:prstGeom prst="bentConnector3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  <a:headEnd type="triangle" w="med" len="med"/>
            <a:tailEnd type="none" w="med" len="med"/>
          </a:ln>
          <a:effectLst>
            <a:outerShdw blurRad="215900" sx="102000" sy="102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</p:cxnSp>
    </p:spTree>
    <p:extLst>
      <p:ext uri="{BB962C8B-B14F-4D97-AF65-F5344CB8AC3E}">
        <p14:creationId xmlns:p14="http://schemas.microsoft.com/office/powerpoint/2010/main" val="36699457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처리 프로세스 검토</a:t>
            </a:r>
          </a:p>
        </p:txBody>
      </p:sp>
      <p:graphicFrame>
        <p:nvGraphicFramePr>
          <p:cNvPr id="3" name="표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7791176"/>
              </p:ext>
            </p:extLst>
          </p:nvPr>
        </p:nvGraphicFramePr>
        <p:xfrm>
          <a:off x="327835" y="3621443"/>
          <a:ext cx="1596310" cy="14852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9262"/>
                <a:gridCol w="319262"/>
                <a:gridCol w="319262"/>
                <a:gridCol w="319262"/>
                <a:gridCol w="319262"/>
              </a:tblGrid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4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5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</a:tr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7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8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9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0000"/>
                    </a:solidFill>
                  </a:tcPr>
                </a:tc>
              </a:tr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13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14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15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17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18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19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23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24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25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26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27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28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29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30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1218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31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32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33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34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600" b="0" dirty="0" smtClean="0">
                          <a:solidFill>
                            <a:schemeClr val="tx1"/>
                          </a:solidFill>
                          <a:latin typeface="Arial" pitchFamily="34" charset="0"/>
                          <a:cs typeface="Arial" pitchFamily="34" charset="0"/>
                        </a:rPr>
                        <a:t>35</a:t>
                      </a:r>
                      <a:endParaRPr lang="ko-KR" altLang="en-US" sz="600" b="0" dirty="0">
                        <a:solidFill>
                          <a:schemeClr val="tx1"/>
                        </a:solidFill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pSp>
        <p:nvGrpSpPr>
          <p:cNvPr id="4" name="그룹 3"/>
          <p:cNvGrpSpPr/>
          <p:nvPr/>
        </p:nvGrpSpPr>
        <p:grpSpPr>
          <a:xfrm>
            <a:off x="272480" y="1793955"/>
            <a:ext cx="9289030" cy="4659381"/>
            <a:chOff x="352697" y="1816461"/>
            <a:chExt cx="12422664" cy="7778974"/>
          </a:xfrm>
        </p:grpSpPr>
        <p:sp>
          <p:nvSpPr>
            <p:cNvPr id="5" name="자유형 4"/>
            <p:cNvSpPr/>
            <p:nvPr/>
          </p:nvSpPr>
          <p:spPr>
            <a:xfrm>
              <a:off x="352697" y="4338057"/>
              <a:ext cx="2521132" cy="3599083"/>
            </a:xfrm>
            <a:custGeom>
              <a:avLst/>
              <a:gdLst>
                <a:gd name="connsiteX0" fmla="*/ 1123406 w 2521132"/>
                <a:gd name="connsiteY0" fmla="*/ 0 h 3370217"/>
                <a:gd name="connsiteX1" fmla="*/ 888274 w 2521132"/>
                <a:gd name="connsiteY1" fmla="*/ 404948 h 3370217"/>
                <a:gd name="connsiteX2" fmla="*/ 0 w 2521132"/>
                <a:gd name="connsiteY2" fmla="*/ 404948 h 3370217"/>
                <a:gd name="connsiteX3" fmla="*/ 0 w 2521132"/>
                <a:gd name="connsiteY3" fmla="*/ 3370217 h 3370217"/>
                <a:gd name="connsiteX4" fmla="*/ 2521132 w 2521132"/>
                <a:gd name="connsiteY4" fmla="*/ 3357154 h 3370217"/>
                <a:gd name="connsiteX5" fmla="*/ 2521132 w 2521132"/>
                <a:gd name="connsiteY5" fmla="*/ 404948 h 3370217"/>
                <a:gd name="connsiteX6" fmla="*/ 1254034 w 2521132"/>
                <a:gd name="connsiteY6" fmla="*/ 418011 h 3370217"/>
                <a:gd name="connsiteX7" fmla="*/ 1123406 w 2521132"/>
                <a:gd name="connsiteY7" fmla="*/ 0 h 33702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21132" h="3370217">
                  <a:moveTo>
                    <a:pt x="1123406" y="0"/>
                  </a:moveTo>
                  <a:lnTo>
                    <a:pt x="888274" y="404948"/>
                  </a:lnTo>
                  <a:lnTo>
                    <a:pt x="0" y="404948"/>
                  </a:lnTo>
                  <a:lnTo>
                    <a:pt x="0" y="3370217"/>
                  </a:lnTo>
                  <a:lnTo>
                    <a:pt x="2521132" y="3357154"/>
                  </a:lnTo>
                  <a:lnTo>
                    <a:pt x="2521132" y="404948"/>
                  </a:lnTo>
                  <a:lnTo>
                    <a:pt x="1254034" y="418011"/>
                  </a:lnTo>
                  <a:lnTo>
                    <a:pt x="1123406" y="0"/>
                  </a:lnTo>
                  <a:close/>
                </a:path>
              </a:pathLst>
            </a:custGeom>
            <a:noFill/>
          </p:spPr>
          <p:style>
            <a:lnRef idx="2">
              <a:schemeClr val="dk1"/>
            </a:lnRef>
            <a:fillRef idx="1">
              <a:schemeClr val="lt1"/>
            </a:fillRef>
            <a:effectRef idx="0">
              <a:schemeClr val="dk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6" name="직사각형 5"/>
            <p:cNvSpPr/>
            <p:nvPr/>
          </p:nvSpPr>
          <p:spPr>
            <a:xfrm>
              <a:off x="4432169" y="1816750"/>
              <a:ext cx="8343192" cy="7778685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ot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lIns="83969" tIns="41985" rIns="83969" bIns="41985" anchor="ctr"/>
            <a:lstStyle/>
            <a:p>
              <a:endParaRPr kumimoji="0" lang="ko-KR" altLang="en-US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7" name="구름 모양 설명선 6"/>
            <p:cNvSpPr/>
            <p:nvPr/>
          </p:nvSpPr>
          <p:spPr>
            <a:xfrm>
              <a:off x="8437615" y="4246731"/>
              <a:ext cx="1440160" cy="1144984"/>
            </a:xfrm>
            <a:prstGeom prst="cloudCallout">
              <a:avLst>
                <a:gd name="adj1" fmla="val -10856"/>
                <a:gd name="adj2" fmla="val 38994"/>
              </a:avLst>
            </a:prstGeom>
          </p:spPr>
          <p:style>
            <a:lnRef idx="1">
              <a:schemeClr val="accent1"/>
            </a:lnRef>
            <a:fillRef idx="2">
              <a:schemeClr val="accent1"/>
            </a:fillRef>
            <a:effectRef idx="1">
              <a:schemeClr val="accent1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 fontAlgn="base">
                <a:spcBef>
                  <a:spcPct val="0"/>
                </a:spcBef>
                <a:spcAft>
                  <a:spcPct val="0"/>
                </a:spcAft>
              </a:pPr>
              <a:endParaRPr lang="ko-KR" altLang="en-US" sz="4200">
                <a:latin typeface="나눔고딕" panose="020D0604000000000000" pitchFamily="50" charset="-127"/>
                <a:ea typeface="나눔고딕" panose="020D0604000000000000" pitchFamily="50" charset="-127"/>
                <a:sym typeface="Gill Sans Light" pitchFamily="-106" charset="0"/>
              </a:endParaRPr>
            </a:p>
          </p:txBody>
        </p:sp>
        <p:grpSp>
          <p:nvGrpSpPr>
            <p:cNvPr id="47" name="Group 34"/>
            <p:cNvGrpSpPr>
              <a:grpSpLocks/>
            </p:cNvGrpSpPr>
            <p:nvPr/>
          </p:nvGrpSpPr>
          <p:grpSpPr bwMode="auto">
            <a:xfrm>
              <a:off x="10289218" y="3571656"/>
              <a:ext cx="2153843" cy="2466787"/>
              <a:chOff x="0" y="0"/>
              <a:chExt cx="2358" cy="2931"/>
            </a:xfrm>
          </p:grpSpPr>
          <p:sp>
            <p:nvSpPr>
              <p:cNvPr id="48" name="Oval 27"/>
              <p:cNvSpPr>
                <a:spLocks/>
              </p:cNvSpPr>
              <p:nvPr/>
            </p:nvSpPr>
            <p:spPr bwMode="auto">
              <a:xfrm>
                <a:off x="168" y="440"/>
                <a:ext cx="2168" cy="2168"/>
              </a:xfrm>
              <a:prstGeom prst="ellipse">
                <a:avLst/>
              </a:prstGeom>
              <a:noFill/>
              <a:ln w="12700">
                <a:solidFill>
                  <a:srgbClr val="000000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lIns="0" tIns="0" rIns="0" bIns="0"/>
              <a:lstStyle/>
              <a:p>
                <a:endParaRPr lang="en-US" sz="100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endParaRPr>
              </a:p>
            </p:txBody>
          </p:sp>
          <p:pic>
            <p:nvPicPr>
              <p:cNvPr id="49" name="Picture 28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442"/>
                <a:ext cx="534" cy="756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0" name="Picture 29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4" y="440"/>
                <a:ext cx="534" cy="755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1" name="Picture 30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824" y="1616"/>
                <a:ext cx="534" cy="755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2" name="Picture 31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0" y="1616"/>
                <a:ext cx="534" cy="755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3" name="Picture 32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8" y="2176"/>
                <a:ext cx="534" cy="755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54" name="Picture 33"/>
              <p:cNvPicPr>
                <a:picLocks noChangeAspect="1" noChangeArrowheads="1"/>
              </p:cNvPicPr>
              <p:nvPr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928" y="0"/>
                <a:ext cx="534" cy="755"/>
              </a:xfrm>
              <a:prstGeom prst="rect">
                <a:avLst/>
              </a:prstGeom>
              <a:noFill/>
              <a:ln w="28575">
                <a:solidFill>
                  <a:srgbClr val="0070C0"/>
                </a:solidFill>
                <a:prstDash val="sysDot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sp>
          <p:nvSpPr>
            <p:cNvPr id="9" name="TextBox 8"/>
            <p:cNvSpPr txBox="1"/>
            <p:nvPr/>
          </p:nvSpPr>
          <p:spPr>
            <a:xfrm>
              <a:off x="10102801" y="5956921"/>
              <a:ext cx="2565284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Back-end Area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10" name="순서도: 자기 디스크 9"/>
            <p:cNvSpPr/>
            <p:nvPr/>
          </p:nvSpPr>
          <p:spPr>
            <a:xfrm>
              <a:off x="5872330" y="3797483"/>
              <a:ext cx="2115235" cy="1995480"/>
            </a:xfrm>
            <a:prstGeom prst="flowChartMagneticDisk">
              <a:avLst/>
            </a:prstGeom>
          </p:spPr>
          <p:style>
            <a:lnRef idx="1">
              <a:schemeClr val="accent2"/>
            </a:lnRef>
            <a:fillRef idx="2">
              <a:schemeClr val="accent2"/>
            </a:fillRef>
            <a:effectRef idx="1">
              <a:schemeClr val="accent2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5827325" y="5929918"/>
              <a:ext cx="2293263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Front-end Area</a:t>
              </a:r>
              <a:endPara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12" name="직사각형 11"/>
            <p:cNvSpPr/>
            <p:nvPr/>
          </p:nvSpPr>
          <p:spPr>
            <a:xfrm>
              <a:off x="6007345" y="4246730"/>
              <a:ext cx="1575175" cy="30550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r>
                <a:rPr lang="ko-KR" altLang="en-US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대용량 데이터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6097354" y="6586991"/>
              <a:ext cx="6525726" cy="20810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7800" indent="-177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Back-end 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에서 대용량 데이터에 대한 처리 및 저장</a:t>
              </a:r>
              <a:endPara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  <a:p>
              <a:pPr marL="177800" indent="-177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처리된 대용량 파일데이터는 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SFTP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를 통해 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front-end 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측의 스토리지로 저장</a:t>
              </a:r>
              <a:endPara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  <a:p>
              <a:pPr marL="177800" indent="-177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파일을 저장하는 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WAS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는 클라이언트 요청에 의해 파일 전송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이어받기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, </a:t>
              </a: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브라우저에 따른 분할 전송 기능 제공</a:t>
              </a:r>
              <a:r>
                <a:rPr lang="en-US" altLang="ko-KR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</a:p>
            <a:p>
              <a:pPr marL="177800" indent="-17780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ko-KR" altLang="en-US" sz="10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다운로드 사용자 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클라이언트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PC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에는 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EXE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 또는 액티브 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X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 설치하지 않음</a:t>
              </a:r>
              <a:endPara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14" name="타원 13"/>
            <p:cNvSpPr/>
            <p:nvPr/>
          </p:nvSpPr>
          <p:spPr>
            <a:xfrm>
              <a:off x="3712090" y="4126633"/>
              <a:ext cx="990110" cy="144050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36000" rIns="36000" rtlCol="0" anchor="ctr"/>
            <a:lstStyle/>
            <a:p>
              <a:pPr algn="ctr"/>
              <a:r>
                <a:rPr lang="ko-KR" altLang="en-US" sz="1050" b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인터</a:t>
              </a:r>
              <a:r>
                <a:rPr lang="ko-KR" altLang="en-US" sz="1050" b="1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넷</a:t>
              </a:r>
              <a:endParaRPr lang="ko-KR" altLang="en-US" sz="105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15" name="직사각형 14"/>
            <p:cNvSpPr/>
            <p:nvPr/>
          </p:nvSpPr>
          <p:spPr>
            <a:xfrm>
              <a:off x="6015909" y="4616298"/>
              <a:ext cx="1575175" cy="845567"/>
            </a:xfrm>
            <a:prstGeom prst="rect">
              <a:avLst/>
            </a:prstGeom>
          </p:spPr>
          <p:style>
            <a:lnRef idx="1">
              <a:schemeClr val="accent6"/>
            </a:lnRef>
            <a:fillRef idx="2">
              <a:schemeClr val="accent6"/>
            </a:fillRef>
            <a:effectRef idx="1">
              <a:schemeClr val="accent6"/>
            </a:effectRef>
            <a:fontRef idx="minor">
              <a:schemeClr val="dk1"/>
            </a:fontRef>
          </p:style>
          <p:txBody>
            <a:bodyPr rtlCol="0" anchor="t" anchorCtr="0"/>
            <a:lstStyle/>
            <a:p>
              <a:pPr algn="ctr"/>
              <a:r>
                <a:rPr lang="en-US" altLang="ko-KR" sz="800" b="1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Files</a:t>
              </a:r>
              <a:endParaRPr lang="ko-KR" altLang="en-US" sz="800" b="1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16" name="직사각형 15"/>
            <p:cNvSpPr/>
            <p:nvPr/>
          </p:nvSpPr>
          <p:spPr>
            <a:xfrm>
              <a:off x="5872330" y="5237643"/>
              <a:ext cx="225025" cy="22422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7" name="직사각형 16"/>
            <p:cNvSpPr/>
            <p:nvPr/>
          </p:nvSpPr>
          <p:spPr>
            <a:xfrm>
              <a:off x="5872330" y="4201725"/>
              <a:ext cx="225025" cy="224222"/>
            </a:xfrm>
            <a:prstGeom prst="rect">
              <a:avLst/>
            </a:prstGeom>
            <a:noFill/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5197255" y="2127719"/>
              <a:ext cx="405045" cy="5944435"/>
            </a:xfrm>
            <a:prstGeom prst="rect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cxnSp>
          <p:nvCxnSpPr>
            <p:cNvPr id="19" name="직선 화살표 연결선 18"/>
            <p:cNvCxnSpPr/>
            <p:nvPr/>
          </p:nvCxnSpPr>
          <p:spPr>
            <a:xfrm>
              <a:off x="4657195" y="4443011"/>
              <a:ext cx="495055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직선 화살표 연결선 19"/>
            <p:cNvCxnSpPr/>
            <p:nvPr/>
          </p:nvCxnSpPr>
          <p:spPr>
            <a:xfrm>
              <a:off x="5602300" y="4426750"/>
              <a:ext cx="315035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21" name="TextBox 20"/>
            <p:cNvSpPr txBox="1"/>
            <p:nvPr/>
          </p:nvSpPr>
          <p:spPr>
            <a:xfrm>
              <a:off x="5648919" y="2659939"/>
              <a:ext cx="3486272" cy="11818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전송 </a:t>
              </a:r>
              <a:r>
                <a:rPr lang="ko-KR" altLang="en-US" sz="1000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서비스시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 메모리 최대 활용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다운로드 이어받기 기능 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Range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를 통한 데이터 전송</a:t>
              </a: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(IE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 지원 확</a:t>
              </a:r>
              <a:r>
                <a:rPr lang="ko-KR" altLang="en-US" sz="1000" dirty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인</a:t>
              </a: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</a:t>
              </a:r>
            </a:p>
            <a:p>
              <a:pPr marL="171450" indent="-171450">
                <a:buFont typeface="Arial" panose="020B0604020202020204" pitchFamily="34" charset="0"/>
                <a:buChar char="•"/>
              </a:pPr>
              <a:r>
                <a:rPr lang="ko-KR" altLang="en-US" sz="1000" dirty="0" err="1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부하시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 상태메시지 출력</a:t>
              </a:r>
              <a:endPara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491359" y="7487335"/>
              <a:ext cx="2084686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 분할 전송</a:t>
              </a:r>
              <a:r>
                <a:rPr lang="en-US" altLang="ko-KR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/</a:t>
              </a:r>
              <a:r>
                <a:rPr lang="ko-KR" altLang="en-US" sz="10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이어받기</a:t>
              </a:r>
            </a:p>
          </p:txBody>
        </p:sp>
        <p:sp>
          <p:nvSpPr>
            <p:cNvPr id="23" name="TextBox 22"/>
            <p:cNvSpPr txBox="1"/>
            <p:nvPr/>
          </p:nvSpPr>
          <p:spPr>
            <a:xfrm>
              <a:off x="8032570" y="3757300"/>
              <a:ext cx="2293263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10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Firewall</a:t>
              </a:r>
              <a:endPara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9877776" y="1816461"/>
              <a:ext cx="2790309" cy="43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100" b="1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열린 데이터 광장 대용량 데이터</a:t>
              </a:r>
            </a:p>
          </p:txBody>
        </p:sp>
        <p:sp>
          <p:nvSpPr>
            <p:cNvPr id="25" name="직사각형 24"/>
            <p:cNvSpPr/>
            <p:nvPr/>
          </p:nvSpPr>
          <p:spPr>
            <a:xfrm>
              <a:off x="5197255" y="2626551"/>
              <a:ext cx="7425825" cy="3780420"/>
            </a:xfrm>
            <a:prstGeom prst="rect">
              <a:avLst/>
            </a:prstGeom>
            <a:noFill/>
            <a:ln w="41275">
              <a:solidFill>
                <a:srgbClr val="FF0000"/>
              </a:solidFill>
              <a:prstDash val="sysDash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00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  <p:sp>
          <p:nvSpPr>
            <p:cNvPr id="26" name="TextBox 25"/>
            <p:cNvSpPr txBox="1"/>
            <p:nvPr/>
          </p:nvSpPr>
          <p:spPr>
            <a:xfrm>
              <a:off x="7424940" y="2211632"/>
              <a:ext cx="3015335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smtClean="0">
                  <a:solidFill>
                    <a:srgbClr val="FF0000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대용량 데이터 동기화</a:t>
              </a:r>
            </a:p>
          </p:txBody>
        </p:sp>
        <p:pic>
          <p:nvPicPr>
            <p:cNvPr id="27" name="Picture 8" descr="https://encrypted-tbn2.gstatic.com/images?q=tbn:ANd9GcSpgmSU0uEN_cNiB6zIBwfn1o6YVTzoyMW6PpkBvcOwfYYRwBH6lw"/>
            <p:cNvPicPr>
              <a:picLocks noChangeAspect="1" noChangeArrowheads="1"/>
            </p:cNvPicPr>
            <p:nvPr/>
          </p:nvPicPr>
          <p:blipFill>
            <a:blip r:embed="rId3" cstate="print"/>
            <a:srcRect/>
            <a:stretch>
              <a:fillRect/>
            </a:stretch>
          </p:blipFill>
          <p:spPr bwMode="auto">
            <a:xfrm>
              <a:off x="826600" y="2799869"/>
              <a:ext cx="1079510" cy="953041"/>
            </a:xfrm>
            <a:prstGeom prst="rect">
              <a:avLst/>
            </a:prstGeom>
            <a:noFill/>
            <a:ln w="28575">
              <a:solidFill>
                <a:srgbClr val="0070C0"/>
              </a:solidFill>
              <a:prstDash val="sysDot"/>
              <a:miter lim="800000"/>
              <a:headEnd/>
              <a:tailEnd/>
            </a:ln>
          </p:spPr>
        </p:pic>
        <p:sp>
          <p:nvSpPr>
            <p:cNvPr id="28" name="TextBox 27"/>
            <p:cNvSpPr txBox="1"/>
            <p:nvPr/>
          </p:nvSpPr>
          <p:spPr>
            <a:xfrm>
              <a:off x="560767" y="2331851"/>
              <a:ext cx="1856586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ko-KR" altLang="en-US" sz="10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대용량 </a:t>
              </a:r>
              <a:r>
                <a:rPr lang="ko-KR" altLang="en-US" sz="10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 데이터</a:t>
              </a:r>
              <a:endPara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cxnSp>
          <p:nvCxnSpPr>
            <p:cNvPr id="29" name="직선 화살표 연결선 28"/>
            <p:cNvCxnSpPr/>
            <p:nvPr/>
          </p:nvCxnSpPr>
          <p:spPr>
            <a:xfrm>
              <a:off x="4657195" y="5281845"/>
              <a:ext cx="495055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30" name="직선 화살표 연결선 29"/>
            <p:cNvCxnSpPr/>
            <p:nvPr/>
          </p:nvCxnSpPr>
          <p:spPr>
            <a:xfrm>
              <a:off x="5602300" y="5281845"/>
              <a:ext cx="315035" cy="0"/>
            </a:xfrm>
            <a:prstGeom prst="straightConnector1">
              <a:avLst/>
            </a:prstGeom>
            <a:ln>
              <a:headEnd type="triangle" w="med" len="med"/>
              <a:tailEnd type="none" w="med" len="med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1" name="TextBox 30"/>
            <p:cNvSpPr txBox="1"/>
            <p:nvPr/>
          </p:nvSpPr>
          <p:spPr>
            <a:xfrm>
              <a:off x="3811287" y="5326850"/>
              <a:ext cx="1318460" cy="667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lang="ko-KR" altLang="en-US" sz="10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 </a:t>
              </a:r>
              <a:endParaRPr lang="en-US" altLang="ko-KR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  <a:p>
              <a:pPr algn="r"/>
              <a:r>
                <a:rPr lang="ko-KR" altLang="en-US" sz="1000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블럭</a:t>
              </a:r>
              <a:endParaRPr lang="ko-KR" altLang="en-US" sz="10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32" name="직사각형 31"/>
            <p:cNvSpPr/>
            <p:nvPr/>
          </p:nvSpPr>
          <p:spPr>
            <a:xfrm>
              <a:off x="6225693" y="4966810"/>
              <a:ext cx="360039" cy="319917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11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7222480" y="4820180"/>
              <a:ext cx="405045" cy="43676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1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…</a:t>
              </a:r>
              <a:endParaRPr lang="ko-KR" altLang="en-US" sz="1100" dirty="0" err="1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cxnSp>
          <p:nvCxnSpPr>
            <p:cNvPr id="34" name="직선 화살표 연결선 33"/>
            <p:cNvCxnSpPr/>
            <p:nvPr/>
          </p:nvCxnSpPr>
          <p:spPr>
            <a:xfrm flipH="1">
              <a:off x="2136915" y="4426750"/>
              <a:ext cx="292792" cy="541065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5" name="TextBox 34"/>
            <p:cNvSpPr txBox="1"/>
            <p:nvPr/>
          </p:nvSpPr>
          <p:spPr>
            <a:xfrm>
              <a:off x="1793039" y="4163978"/>
              <a:ext cx="1604016" cy="35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노랑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전송 완료</a:t>
              </a:r>
            </a:p>
          </p:txBody>
        </p:sp>
        <p:sp>
          <p:nvSpPr>
            <p:cNvPr id="36" name="TextBox 35"/>
            <p:cNvSpPr txBox="1"/>
            <p:nvPr/>
          </p:nvSpPr>
          <p:spPr>
            <a:xfrm>
              <a:off x="2429706" y="8072154"/>
              <a:ext cx="1822443" cy="35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백색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전송 미 시작</a:t>
              </a:r>
            </a:p>
          </p:txBody>
        </p:sp>
        <p:cxnSp>
          <p:nvCxnSpPr>
            <p:cNvPr id="37" name="직선 화살표 연결선 36"/>
            <p:cNvCxnSpPr/>
            <p:nvPr/>
          </p:nvCxnSpPr>
          <p:spPr>
            <a:xfrm flipH="1" flipV="1">
              <a:off x="2581037" y="7352075"/>
              <a:ext cx="449002" cy="72008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38" name="TextBox 37"/>
            <p:cNvSpPr txBox="1"/>
            <p:nvPr/>
          </p:nvSpPr>
          <p:spPr>
            <a:xfrm>
              <a:off x="2766985" y="6243791"/>
              <a:ext cx="1604016" cy="56522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빨강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전송 실패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/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재전송</a:t>
              </a:r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2736435" y="6873860"/>
              <a:ext cx="1604016" cy="35969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(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파랑</a:t>
              </a:r>
              <a:r>
                <a:rPr lang="en-US" altLang="ko-KR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) </a:t>
              </a:r>
              <a:r>
                <a:rPr lang="ko-KR" altLang="en-US" sz="8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전송 </a:t>
              </a:r>
              <a:r>
                <a:rPr lang="ko-KR" altLang="en-US" sz="800" dirty="0" err="1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대기중</a:t>
              </a:r>
              <a:endParaRPr lang="ko-KR" altLang="en-US" sz="800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40" name="직사각형 39"/>
            <p:cNvSpPr/>
            <p:nvPr/>
          </p:nvSpPr>
          <p:spPr>
            <a:xfrm>
              <a:off x="7035783" y="4966810"/>
              <a:ext cx="360039" cy="319917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13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41" name="직사각형 40"/>
            <p:cNvSpPr/>
            <p:nvPr/>
          </p:nvSpPr>
          <p:spPr>
            <a:xfrm>
              <a:off x="6630738" y="4967815"/>
              <a:ext cx="360039" cy="319917"/>
            </a:xfrm>
            <a:prstGeom prst="rect">
              <a:avLst/>
            </a:prstGeom>
            <a:solidFill>
              <a:srgbClr val="FFFFFF"/>
            </a:solidFill>
            <a:ln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ko-KR" sz="7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12</a:t>
              </a:r>
              <a:endParaRPr lang="ko-KR" altLang="en-US" sz="700" dirty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42" name="타원 41"/>
            <p:cNvSpPr/>
            <p:nvPr/>
          </p:nvSpPr>
          <p:spPr>
            <a:xfrm>
              <a:off x="11624635" y="2983363"/>
              <a:ext cx="990109" cy="854292"/>
            </a:xfrm>
            <a:prstGeom prst="ellipse">
              <a:avLst/>
            </a:prstGeom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lIns="0" rIns="0" rtlCol="0" anchor="ctr"/>
            <a:lstStyle/>
            <a:p>
              <a:pPr algn="ctr"/>
              <a:r>
                <a:rPr lang="en-US" altLang="ko-KR" sz="800" dirty="0" smtClean="0"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Server File Manager</a:t>
              </a:r>
              <a:endParaRPr lang="ko-KR" altLang="en-US" sz="800" dirty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endParaRPr>
            </a:p>
          </p:txBody>
        </p:sp>
        <p:sp>
          <p:nvSpPr>
            <p:cNvPr id="43" name="TextBox 42"/>
            <p:cNvSpPr txBox="1"/>
            <p:nvPr/>
          </p:nvSpPr>
          <p:spPr>
            <a:xfrm>
              <a:off x="10597855" y="3247327"/>
              <a:ext cx="1304135" cy="41107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ko-KR" altLang="en-US" sz="1000" dirty="0" smtClean="0">
                  <a:solidFill>
                    <a:schemeClr val="tx1"/>
                  </a:solidFill>
                  <a:latin typeface="나눔고딕" panose="020D0604000000000000" pitchFamily="50" charset="-127"/>
                  <a:ea typeface="나눔고딕" panose="020D0604000000000000" pitchFamily="50" charset="-127"/>
                  <a:cs typeface="Arial" pitchFamily="34" charset="0"/>
                </a:rPr>
                <a:t>파일 생성</a:t>
              </a:r>
            </a:p>
          </p:txBody>
        </p:sp>
        <p:cxnSp>
          <p:nvCxnSpPr>
            <p:cNvPr id="44" name="직선 화살표 연결선 43"/>
            <p:cNvCxnSpPr/>
            <p:nvPr/>
          </p:nvCxnSpPr>
          <p:spPr>
            <a:xfrm flipH="1" flipV="1">
              <a:off x="2205206" y="5523710"/>
              <a:ext cx="824833" cy="72008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cxnSp>
          <p:nvCxnSpPr>
            <p:cNvPr id="45" name="직선 화살표 연결선 44"/>
            <p:cNvCxnSpPr/>
            <p:nvPr/>
          </p:nvCxnSpPr>
          <p:spPr>
            <a:xfrm flipH="1" flipV="1">
              <a:off x="1687913" y="5883750"/>
              <a:ext cx="1342126" cy="1153290"/>
            </a:xfrm>
            <a:prstGeom prst="straightConnector1">
              <a:avLst/>
            </a:prstGeom>
            <a:ln>
              <a:solidFill>
                <a:srgbClr val="FF0000"/>
              </a:solidFill>
              <a:tailEnd type="arrow"/>
            </a:ln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55" name="왼쪽 화살표 54"/>
          <p:cNvSpPr/>
          <p:nvPr/>
        </p:nvSpPr>
        <p:spPr>
          <a:xfrm>
            <a:off x="6080910" y="3356992"/>
            <a:ext cx="1517343" cy="427899"/>
          </a:xfrm>
          <a:prstGeom prst="lef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SFTP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6" name="왼쪽 화살표 55"/>
          <p:cNvSpPr/>
          <p:nvPr/>
        </p:nvSpPr>
        <p:spPr>
          <a:xfrm rot="20118317">
            <a:off x="2165082" y="3756381"/>
            <a:ext cx="626752" cy="427899"/>
          </a:xfrm>
          <a:prstGeom prst="leftArrow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HTTP</a:t>
            </a:r>
            <a:endParaRPr lang="ko-KR" altLang="en-US" sz="10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272480" y="908720"/>
            <a:ext cx="7205243" cy="658642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4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HTTP</a:t>
            </a:r>
            <a:r>
              <a:rPr lang="ko-KR" altLang="en-US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를 이용한 데이터 처리 중심으로 순수 웹 기반 기술만을 활용하여 처리</a:t>
            </a:r>
            <a:endParaRPr lang="en-US" altLang="ko-KR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>
              <a:lnSpc>
                <a:spcPct val="100000"/>
              </a:lnSpc>
            </a:pPr>
            <a:r>
              <a:rPr lang="en-US" altLang="ko-KR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IE9+, Chrome, Firefox </a:t>
            </a:r>
            <a:r>
              <a:rPr lang="ko-KR" altLang="en-US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등이 다운로드 관리자를 제공하고 있음</a:t>
            </a:r>
            <a:endParaRPr lang="en-US" altLang="ko-KR" b="1" dirty="0" smtClean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8" name="Picture 2" descr="http://icons.iconarchive.com/icons/hopstarter/office-2010/128/Microsoft-Office-Excel-icon.png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22194" y="2616265"/>
            <a:ext cx="609600" cy="6096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35838" y="3353266"/>
            <a:ext cx="443574" cy="40132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0545026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프로토타이핑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기능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aphicFrame>
        <p:nvGraphicFramePr>
          <p:cNvPr id="3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39697714"/>
              </p:ext>
            </p:extLst>
          </p:nvPr>
        </p:nvGraphicFramePr>
        <p:xfrm>
          <a:off x="273050" y="1340768"/>
          <a:ext cx="9217025" cy="27180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87662"/>
                <a:gridCol w="7129363"/>
              </a:tblGrid>
              <a:tr h="169717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구분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설명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</a:tr>
              <a:tr h="41326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en-US" sz="1200" spc="-5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HTML</a:t>
                      </a:r>
                      <a:r>
                        <a:rPr lang="en-US" sz="1200" spc="-5" baseline="0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5 </a:t>
                      </a:r>
                      <a:r>
                        <a:rPr lang="ko-KR" altLang="en-US" sz="1200" spc="-5" baseline="0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표준 </a:t>
                      </a:r>
                      <a:r>
                        <a:rPr lang="en-US" altLang="ko-KR" sz="1200" spc="-5" baseline="0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API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 API (Let me call it as File Reader API)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 API: Writer (also called as File Writer API)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 API: Directories and System (also called as File System API)  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  <a:tr h="535039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지원 가능 브라우저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Microsoft Internet Explorer 10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Google Chrome 30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Mozilla Firefox 24 </a:t>
                      </a:r>
                    </a:p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Safari 6 (Mac OS and iOS 7) </a:t>
                      </a:r>
                      <a:endParaRPr lang="en-US" altLang="ko-KR" sz="1200" kern="120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  <a:tr h="268178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파일 읽기 및 조작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</a:pPr>
                      <a:r>
                        <a:rPr lang="en-US" altLang="ko-KR" sz="1200" dirty="0" smtClean="0"/>
                        <a:t>File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200" dirty="0" smtClean="0"/>
                        <a:t>Blob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FileList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FileReader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  <a:tr h="255405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생성 및 파일 쓰기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lang="en-US" altLang="ko-KR" sz="1200" dirty="0" smtClean="0"/>
                        <a:t>Blob()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FileWriter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  <a:tr h="23060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385"/>
                        </a:spcBef>
                      </a:pPr>
                      <a:r>
                        <a:rPr lang="ko-KR" altLang="en-US" sz="1200" dirty="0" err="1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디렉토리</a:t>
                      </a:r>
                      <a:r>
                        <a:rPr lang="ko-KR" alt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및 파일 액세스 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83820" marR="150495">
                        <a:lnSpc>
                          <a:spcPct val="100000"/>
                        </a:lnSpc>
                        <a:spcBef>
                          <a:spcPts val="505"/>
                        </a:spcBef>
                      </a:pPr>
                      <a:r>
                        <a:rPr lang="en-US" altLang="ko-KR" sz="1200" dirty="0" err="1" smtClean="0"/>
                        <a:t>DirectoryReader</a:t>
                      </a:r>
                      <a:r>
                        <a:rPr lang="en-US" altLang="ko-KR" sz="1800" b="0" i="0" kern="1200" dirty="0" err="1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1200" dirty="0" err="1" smtClean="0"/>
                        <a:t>FileEntry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</a:t>
                      </a:r>
                      <a:r>
                        <a:rPr lang="en-US" altLang="ko-KR" sz="1200" dirty="0" err="1" smtClean="0"/>
                        <a:t>DirectoryEntry</a:t>
                      </a:r>
                      <a:r>
                        <a:rPr lang="en-US" altLang="ko-KR" sz="1800" b="0" i="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, </a:t>
                      </a:r>
                      <a:r>
                        <a:rPr lang="en-US" altLang="ko-KR" sz="1200" dirty="0" err="1" smtClean="0"/>
                        <a:t>LocalFileSystem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72480" y="908720"/>
            <a:ext cx="7205243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HTML5</a:t>
            </a:r>
            <a:r>
              <a:rPr lang="ko-KR" altLang="en-US" dirty="0"/>
              <a:t>를 통한 </a:t>
            </a:r>
            <a:r>
              <a:rPr lang="en-US" altLang="ko-KR" dirty="0"/>
              <a:t>File Download </a:t>
            </a:r>
            <a:r>
              <a:rPr lang="ko-KR" altLang="en-US" dirty="0"/>
              <a:t>확인</a:t>
            </a:r>
            <a:endParaRPr lang="en-US" altLang="ko-KR" dirty="0"/>
          </a:p>
        </p:txBody>
      </p:sp>
      <p:graphicFrame>
        <p:nvGraphicFramePr>
          <p:cNvPr id="6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8756432"/>
              </p:ext>
            </p:extLst>
          </p:nvPr>
        </p:nvGraphicFramePr>
        <p:xfrm>
          <a:off x="273050" y="4581128"/>
          <a:ext cx="9217025" cy="177048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159670"/>
                <a:gridCol w="7057355"/>
              </a:tblGrid>
              <a:tr h="220314"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구분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  <a:tc>
                  <a:txBody>
                    <a:bodyPr/>
                    <a:lstStyle/>
                    <a:p>
                      <a:pPr marL="9525" algn="ctr">
                        <a:lnSpc>
                          <a:spcPct val="100000"/>
                        </a:lnSpc>
                        <a:spcBef>
                          <a:spcPts val="470"/>
                        </a:spcBef>
                      </a:pPr>
                      <a:r>
                        <a:rPr lang="ko-KR" altLang="en-US" sz="1200" b="1" dirty="0" smtClean="0">
                          <a:solidFill>
                            <a:srgbClr val="292929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Malgun Gothic"/>
                        </a:rPr>
                        <a:t>설명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Malgun Gothic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28575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  <a:solidFill>
                      <a:srgbClr val="B1B1B1"/>
                    </a:solidFill>
                  </a:tcPr>
                </a:tc>
              </a:tr>
              <a:tr h="180530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65"/>
                        </a:spcBef>
                      </a:pPr>
                      <a:r>
                        <a:rPr 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Servlet</a:t>
                      </a:r>
                      <a:r>
                        <a:rPr lang="en-US" sz="1200" baseline="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File Downloader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public static void download(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HttpServletRequest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request,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HttpServletResponse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response, 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  <a:hlinkClick r:id="rId3"/>
                        </a:rPr>
                        <a:t>File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file)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  <a:tr h="605444">
                <a:tc>
                  <a:txBody>
                    <a:bodyPr/>
                    <a:lstStyle/>
                    <a:p>
                      <a:pPr marL="75565">
                        <a:lnSpc>
                          <a:spcPct val="100000"/>
                        </a:lnSpc>
                        <a:spcBef>
                          <a:spcPts val="415"/>
                        </a:spcBef>
                      </a:pPr>
                      <a:r>
                        <a:rPr lang="en-US" sz="1200" dirty="0" smtClean="0"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Spring Controller</a:t>
                      </a:r>
                      <a:endParaRPr sz="1200" dirty="0"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28575">
                      <a:solidFill>
                        <a:srgbClr val="0D227D"/>
                      </a:solidFill>
                      <a:prstDash val="solid"/>
                    </a:lnL>
                    <a:lnR w="12700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71450" indent="-171450">
                        <a:buFont typeface="Arial" panose="020B0604020202020204" pitchFamily="34" charset="0"/>
                        <a:buChar char="•"/>
                      </a:pPr>
                      <a:r>
                        <a:rPr lang="en-US" altLang="ko-KR" sz="1800" kern="1200" dirty="0" smtClean="0">
                          <a:solidFill>
                            <a:schemeClr val="tx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@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RequestMapping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(value = "/files/{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file_name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}", method =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RequestMethod.GET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) public void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getFile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 @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PathVariable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("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file_name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") String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HttpServletResponse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response) { try { // get your file as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InputStream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InputStream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is = ...; // copy it to response's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OutputStream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org.apache.commons.io.IOUtils.copy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(is,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response.getOutputStream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());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response.flushBuffer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(); } catch (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IOException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ex) { log.info("Error writing file to output stream. Filename was '{}'",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fileName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, ex); throw new 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RuntimeException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("</a:t>
                      </a:r>
                      <a:r>
                        <a:rPr lang="en-US" altLang="ko-KR" sz="1200" kern="1200" baseline="0" dirty="0" err="1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IOError</a:t>
                      </a:r>
                      <a:r>
                        <a:rPr lang="en-US" altLang="ko-KR" sz="1200" kern="1200" baseline="0" dirty="0" smtClean="0">
                          <a:solidFill>
                            <a:schemeClr val="tx1"/>
                          </a:solidFill>
                          <a:latin typeface="나눔고딕" panose="020D0604000000000000" pitchFamily="50" charset="-127"/>
                          <a:ea typeface="나눔고딕" panose="020D0604000000000000" pitchFamily="50" charset="-127"/>
                          <a:cs typeface="Gulim"/>
                        </a:rPr>
                        <a:t> writing file to output stream"); } }</a:t>
                      </a:r>
                      <a:endParaRPr lang="en-US" altLang="ko-KR" sz="1200" kern="1200" baseline="0" dirty="0">
                        <a:solidFill>
                          <a:schemeClr val="tx1"/>
                        </a:solidFill>
                        <a:latin typeface="나눔고딕" panose="020D0604000000000000" pitchFamily="50" charset="-127"/>
                        <a:ea typeface="나눔고딕" panose="020D0604000000000000" pitchFamily="50" charset="-127"/>
                        <a:cs typeface="Gulim"/>
                      </a:endParaRPr>
                    </a:p>
                  </a:txBody>
                  <a:tcPr marL="36000" marR="36000" marT="36000" marB="36000" anchor="ctr">
                    <a:lnL w="12700">
                      <a:solidFill>
                        <a:srgbClr val="0D227D"/>
                      </a:solidFill>
                      <a:prstDash val="solid"/>
                    </a:lnL>
                    <a:lnR w="28575">
                      <a:solidFill>
                        <a:srgbClr val="0D227D"/>
                      </a:solidFill>
                      <a:prstDash val="solid"/>
                    </a:lnR>
                    <a:lnT w="12700">
                      <a:solidFill>
                        <a:srgbClr val="0D227D"/>
                      </a:solidFill>
                      <a:prstDash val="solid"/>
                    </a:lnT>
                    <a:lnB w="12700">
                      <a:solidFill>
                        <a:srgbClr val="0D227D"/>
                      </a:solidFill>
                      <a:prstDash val="solid"/>
                    </a:lnB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2480" y="4149080"/>
            <a:ext cx="7205243" cy="338554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1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600" b="0" ker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defRPr>
            </a:lvl1pPr>
          </a:lstStyle>
          <a:p>
            <a:pPr>
              <a:lnSpc>
                <a:spcPct val="100000"/>
              </a:lnSpc>
            </a:pPr>
            <a:r>
              <a:rPr lang="en-US" altLang="ko-KR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Java File Download</a:t>
            </a:r>
          </a:p>
        </p:txBody>
      </p:sp>
    </p:spTree>
    <p:extLst>
      <p:ext uri="{BB962C8B-B14F-4D97-AF65-F5344CB8AC3E}">
        <p14:creationId xmlns:p14="http://schemas.microsoft.com/office/powerpoint/2010/main" val="253731934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데이터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전송 제한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지정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- </a:t>
            </a:r>
            <a:r>
              <a:rPr lang="en-US" altLang="ko-KR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QoS</a:t>
            </a:r>
            <a:endParaRPr lang="ko-KR" alt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72480" y="908720"/>
            <a:ext cx="7205243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/>
              <a:t>동시</a:t>
            </a:r>
            <a:r>
              <a:rPr lang="en-US" altLang="ko-KR" dirty="0"/>
              <a:t> </a:t>
            </a:r>
            <a:r>
              <a:rPr lang="ko-KR" altLang="en-US" dirty="0"/>
              <a:t>데이터 다운로드 요청이 많은 경우 메시지를 통한 다운로드 제한</a:t>
            </a:r>
            <a:endParaRPr lang="en-US" altLang="ko-KR" dirty="0"/>
          </a:p>
          <a:p>
            <a:r>
              <a:rPr lang="en-US" altLang="ko-KR" dirty="0"/>
              <a:t>Concurrent Request</a:t>
            </a:r>
            <a:r>
              <a:rPr lang="ko-KR" altLang="en-US" dirty="0"/>
              <a:t>를 메모리에 </a:t>
            </a:r>
            <a:r>
              <a:rPr lang="ko-KR" altLang="en-US" dirty="0" err="1"/>
              <a:t>카운팅</a:t>
            </a:r>
            <a:r>
              <a:rPr lang="ko-KR" altLang="en-US" dirty="0"/>
              <a:t> 적용</a:t>
            </a:r>
            <a:endParaRPr lang="en-US" altLang="ko-KR" dirty="0"/>
          </a:p>
        </p:txBody>
      </p:sp>
      <p:sp>
        <p:nvSpPr>
          <p:cNvPr id="4" name="직사각형 3"/>
          <p:cNvSpPr/>
          <p:nvPr/>
        </p:nvSpPr>
        <p:spPr>
          <a:xfrm>
            <a:off x="298918" y="1585800"/>
            <a:ext cx="8614522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00000"/>
              </a:lnSpc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###############################################################</a:t>
            </a:r>
          </a:p>
          <a:p>
            <a:pPr>
              <a:lnSpc>
                <a:spcPct val="100000"/>
              </a:lnSpc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 Saturated Point Setting</a:t>
            </a:r>
          </a:p>
          <a:p>
            <a:pPr>
              <a:lnSpc>
                <a:spcPct val="100000"/>
              </a:lnSpc>
            </a:pP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###############################################################</a:t>
            </a:r>
          </a:p>
          <a:p>
            <a:pPr>
              <a:lnSpc>
                <a:spcPct val="100000"/>
              </a:lnSpc>
            </a:pPr>
            <a:r>
              <a:rPr lang="en-US" altLang="ko-KR" sz="1600" dirty="0" err="1" smtClean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limit_concurrent_downloads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=true</a:t>
            </a:r>
          </a:p>
          <a:p>
            <a:pPr>
              <a:lnSpc>
                <a:spcPct val="100000"/>
              </a:lnSpc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allowed_concurrent_downloads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=3</a:t>
            </a:r>
          </a:p>
          <a:p>
            <a:pPr>
              <a:lnSpc>
                <a:spcPct val="100000"/>
              </a:lnSpc>
            </a:pP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reject_page_if_saturated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=/</a:t>
            </a:r>
            <a:r>
              <a:rPr lang="en-US" altLang="ko-KR" sz="1600" dirty="0" err="1" smtClean="0">
                <a:latin typeface="Courier New" panose="02070309020205020404" pitchFamily="49" charset="0"/>
                <a:cs typeface="Courier New" panose="02070309020205020404" pitchFamily="49" charset="0"/>
              </a:rPr>
              <a:t>qos</a:t>
            </a:r>
            <a:r>
              <a:rPr lang="en-US" altLang="ko-KR" sz="1600" dirty="0" smtClean="0">
                <a:latin typeface="Courier New" panose="02070309020205020404" pitchFamily="49" charset="0"/>
                <a:cs typeface="Courier New" panose="02070309020205020404" pitchFamily="49" charset="0"/>
              </a:rPr>
              <a:t>/limit_exeed.html</a:t>
            </a:r>
            <a:endParaRPr lang="en-US" altLang="ko-KR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pic>
        <p:nvPicPr>
          <p:cNvPr id="5" name="Picture 2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1856657" y="3200444"/>
            <a:ext cx="4858526" cy="339690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625577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XLS, CSV, JSON </a:t>
            </a: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다운로드 방안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38296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열린데이터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광장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XLS, CVS, JSON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다운로드 속도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72480" y="908720"/>
            <a:ext cx="7205243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다운로드 시간 </a:t>
            </a:r>
            <a:r>
              <a:rPr lang="en-US" altLang="ko-KR" dirty="0" smtClean="0"/>
              <a:t>= DB Query </a:t>
            </a:r>
            <a:r>
              <a:rPr lang="ko-KR" altLang="en-US" dirty="0" smtClean="0"/>
              <a:t> </a:t>
            </a:r>
            <a:r>
              <a:rPr lang="ko-KR" altLang="en-US" dirty="0"/>
              <a:t>및</a:t>
            </a:r>
            <a:r>
              <a:rPr lang="en-US" altLang="ko-KR" dirty="0" smtClean="0"/>
              <a:t> </a:t>
            </a:r>
            <a:r>
              <a:rPr lang="ko-KR" altLang="en-US" dirty="0" smtClean="0"/>
              <a:t>데이터</a:t>
            </a:r>
            <a:r>
              <a:rPr lang="en-US" altLang="ko-KR" dirty="0" smtClean="0"/>
              <a:t> </a:t>
            </a:r>
            <a:r>
              <a:rPr lang="ko-KR" altLang="en-US" dirty="0" smtClean="0"/>
              <a:t>변환</a:t>
            </a:r>
            <a:r>
              <a:rPr lang="en-US" altLang="ko-KR" dirty="0" smtClean="0"/>
              <a:t>(XLS, CVS, JSON)</a:t>
            </a:r>
            <a:r>
              <a:rPr lang="ko-KR" altLang="en-US" dirty="0" smtClean="0"/>
              <a:t> 시간 </a:t>
            </a:r>
            <a:r>
              <a:rPr lang="en-US" altLang="ko-KR" dirty="0" smtClean="0"/>
              <a:t>+ </a:t>
            </a:r>
            <a:r>
              <a:rPr lang="ko-KR" altLang="en-US" smtClean="0"/>
              <a:t>파일 다운로드 </a:t>
            </a:r>
            <a:r>
              <a:rPr lang="ko-KR" altLang="en-US" dirty="0" smtClean="0"/>
              <a:t>시간</a:t>
            </a:r>
            <a:endParaRPr lang="en-US" altLang="ko-KR" dirty="0"/>
          </a:p>
        </p:txBody>
      </p:sp>
      <p:sp>
        <p:nvSpPr>
          <p:cNvPr id="10" name="TextBox 9"/>
          <p:cNvSpPr txBox="1"/>
          <p:nvPr/>
        </p:nvSpPr>
        <p:spPr>
          <a:xfrm>
            <a:off x="272480" y="1465039"/>
            <a:ext cx="8352928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en-US" altLang="ko-KR" dirty="0"/>
              <a:t>5~8</a:t>
            </a:r>
            <a:r>
              <a:rPr lang="ko-KR" altLang="en-US" dirty="0"/>
              <a:t>호선 </a:t>
            </a:r>
            <a:r>
              <a:rPr lang="ko-KR" altLang="en-US" dirty="0" err="1"/>
              <a:t>역별</a:t>
            </a:r>
            <a:r>
              <a:rPr lang="ko-KR" altLang="en-US" dirty="0"/>
              <a:t> 시간대별</a:t>
            </a:r>
            <a:r>
              <a:rPr lang="en-US" altLang="ko-KR" dirty="0"/>
              <a:t>(</a:t>
            </a:r>
            <a:r>
              <a:rPr lang="ko-KR" altLang="en-US" dirty="0"/>
              <a:t>일</a:t>
            </a:r>
            <a:r>
              <a:rPr lang="en-US" altLang="ko-KR" dirty="0"/>
              <a:t>) </a:t>
            </a:r>
            <a:r>
              <a:rPr lang="ko-KR" altLang="en-US" dirty="0" err="1"/>
              <a:t>승하차</a:t>
            </a:r>
            <a:r>
              <a:rPr lang="ko-KR" altLang="en-US" dirty="0"/>
              <a:t> 인원</a:t>
            </a:r>
            <a:r>
              <a:rPr lang="en-US" altLang="ko-KR" dirty="0"/>
              <a:t>[2009~2013</a:t>
            </a:r>
            <a:r>
              <a:rPr lang="en-US" altLang="ko-KR" dirty="0" smtClean="0"/>
              <a:t>] </a:t>
            </a:r>
            <a:r>
              <a:rPr lang="ko-KR" altLang="en-US" dirty="0" err="1" smtClean="0"/>
              <a:t>데이터셋</a:t>
            </a:r>
            <a:r>
              <a:rPr lang="ko-KR" altLang="en-US" dirty="0" smtClean="0"/>
              <a:t> 다운로드 시간 측정 </a:t>
            </a:r>
            <a:r>
              <a:rPr lang="en-US" altLang="ko-KR" dirty="0" smtClean="0"/>
              <a:t>(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273766 </a:t>
            </a:r>
            <a:r>
              <a:rPr lang="ko-KR" altLang="en-US" dirty="0" smtClean="0"/>
              <a:t>건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graphicFrame>
        <p:nvGraphicFramePr>
          <p:cNvPr id="11" name="표 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594866"/>
              </p:ext>
            </p:extLst>
          </p:nvPr>
        </p:nvGraphicFramePr>
        <p:xfrm>
          <a:off x="632521" y="1916832"/>
          <a:ext cx="8640959" cy="16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911"/>
                <a:gridCol w="1974012"/>
                <a:gridCol w="1974012"/>
                <a:gridCol w="1974012"/>
                <a:gridCol w="1974012"/>
              </a:tblGrid>
              <a:tr h="36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형태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DB Query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및 데이터 변환 시간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다운로드 시간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다운로드 파일 용량</a:t>
                      </a:r>
                      <a:endParaRPr lang="en-US" altLang="ko-KR" sz="10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(SIZE_MB)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+mn-ea"/>
                        </a:rPr>
                        <a:t>총시간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40</a:t>
                      </a:r>
                      <a:r>
                        <a:rPr lang="en-US" altLang="ko-KR" sz="10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 ~ 50 </a:t>
                      </a:r>
                      <a:r>
                        <a:rPr lang="ko-KR" altLang="en-US" sz="10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chemeClr val="dk1"/>
                          </a:solidFill>
                          <a:latin typeface="+mn-lt"/>
                        </a:rPr>
                        <a:t>10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chemeClr val="dk1"/>
                          </a:solidFill>
                          <a:latin typeface="+mn-lt"/>
                        </a:rPr>
                        <a:t> ~ 15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dk1"/>
                          </a:solidFill>
                          <a:latin typeface="+mn-lt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62.8M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50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 ~ 65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~ 5</a:t>
                      </a: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41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77.9M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45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4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40 ~ 50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181M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44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 ~ 54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272480" y="3789040"/>
            <a:ext cx="8352928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2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서초구 식품위생업소 </a:t>
            </a:r>
            <a:r>
              <a:rPr lang="en-US" altLang="ko-KR" dirty="0" smtClean="0"/>
              <a:t>(</a:t>
            </a:r>
            <a:r>
              <a:rPr lang="ko-KR" altLang="en-US" dirty="0" smtClean="0"/>
              <a:t>전체</a:t>
            </a:r>
            <a:r>
              <a:rPr lang="en-US" altLang="ko-KR" dirty="0" smtClean="0"/>
              <a:t>)</a:t>
            </a:r>
            <a:r>
              <a:rPr lang="ko-KR" altLang="en-US" dirty="0" smtClean="0"/>
              <a:t> </a:t>
            </a:r>
            <a:r>
              <a:rPr lang="en-US" altLang="ko-KR" dirty="0" smtClean="0"/>
              <a:t>(</a:t>
            </a:r>
            <a:r>
              <a:rPr lang="ko-KR" altLang="en-US" dirty="0" smtClean="0"/>
              <a:t>총 </a:t>
            </a:r>
            <a:r>
              <a:rPr lang="en-US" altLang="ko-KR" dirty="0" smtClean="0"/>
              <a:t>45920 </a:t>
            </a:r>
            <a:r>
              <a:rPr lang="ko-KR" altLang="en-US" dirty="0" smtClean="0"/>
              <a:t>건</a:t>
            </a:r>
            <a:r>
              <a:rPr lang="en-US" altLang="ko-KR" dirty="0" smtClean="0"/>
              <a:t>)</a:t>
            </a:r>
            <a:endParaRPr lang="en-US" altLang="ko-KR" dirty="0"/>
          </a:p>
        </p:txBody>
      </p:sp>
      <p:graphicFrame>
        <p:nvGraphicFramePr>
          <p:cNvPr id="13" name="표 1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68465430"/>
              </p:ext>
            </p:extLst>
          </p:nvPr>
        </p:nvGraphicFramePr>
        <p:xfrm>
          <a:off x="632520" y="4240833"/>
          <a:ext cx="8640959" cy="1692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44911"/>
                <a:gridCol w="1974012"/>
                <a:gridCol w="1974012"/>
                <a:gridCol w="1974012"/>
                <a:gridCol w="1974012"/>
              </a:tblGrid>
              <a:tr h="360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형태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DB Query 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및 데이터 변환 시간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다운로드 시간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다운로드 파일 용량</a:t>
                      </a:r>
                      <a:endParaRPr lang="en-US" altLang="ko-KR" sz="1000" dirty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맑은 고딕" pitchFamily="50" charset="-127"/>
                        <a:ea typeface="맑은 고딕" pitchFamily="50" charset="-127"/>
                      </a:endParaRPr>
                    </a:p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(SIZE_MB)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 err="1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+mn-ea"/>
                        </a:rPr>
                        <a:t>총시간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XLS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52 </a:t>
                      </a:r>
                      <a:r>
                        <a:rPr lang="ko-KR" altLang="en-US" sz="1000" b="0" baseline="0" dirty="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맑은 고딕" pitchFamily="50" charset="-127"/>
                          <a:ea typeface="맑은 고딕" pitchFamily="50" charset="-127"/>
                        </a:rPr>
                        <a:t>초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baseline="0" dirty="0" smtClean="0">
                          <a:solidFill>
                            <a:schemeClr val="dk1"/>
                          </a:solidFill>
                          <a:latin typeface="+mn-lt"/>
                        </a:rPr>
                        <a:t>3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chemeClr val="dk1"/>
                          </a:solidFill>
                          <a:latin typeface="+mn-lt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11.9M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55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CVS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25 </a:t>
                      </a:r>
                      <a:r>
                        <a:rPr lang="ko-KR" altLang="en-US" sz="1000" b="0" baseline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9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20.7M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34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43200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JSON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lang="en-US" altLang="ko-KR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26 </a:t>
                      </a:r>
                      <a:r>
                        <a:rPr lang="ko-KR" altLang="en-US" sz="1000" b="0" dirty="0" smtClean="0">
                          <a:solidFill>
                            <a:schemeClr val="tx1"/>
                          </a:solidFill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초</a:t>
                      </a: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18</a:t>
                      </a:r>
                      <a:r>
                        <a:rPr lang="en-US" altLang="ko-KR" sz="1100" b="0" i="0" u="none" strike="noStrike" baseline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 </a:t>
                      </a:r>
                      <a:r>
                        <a:rPr lang="ko-KR" altLang="en-US" sz="1100" b="0" i="0" u="none" strike="noStrike" baseline="0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57.0M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44 </a:t>
                      </a:r>
                      <a:r>
                        <a:rPr lang="ko-KR" altLang="en-US" sz="1100" b="0" i="0" u="none" strike="noStrike" dirty="0" smtClean="0">
                          <a:solidFill>
                            <a:srgbClr val="000000"/>
                          </a:solidFill>
                          <a:latin typeface="맑은 고딕"/>
                        </a:rPr>
                        <a:t>초</a:t>
                      </a:r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오른쪽 화살표 4"/>
          <p:cNvSpPr/>
          <p:nvPr/>
        </p:nvSpPr>
        <p:spPr bwMode="auto">
          <a:xfrm>
            <a:off x="632520" y="6165304"/>
            <a:ext cx="576064" cy="432048"/>
          </a:xfrm>
          <a:prstGeom prst="rightArrow">
            <a:avLst/>
          </a:prstGeom>
          <a:ln>
            <a:headEnd/>
            <a:tailEnd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280592" y="6216667"/>
            <a:ext cx="6647974" cy="329321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400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데이터를 </a:t>
            </a:r>
            <a:r>
              <a:rPr kumimoji="0" lang="en-US" altLang="ko-KR" sz="1400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Query</a:t>
            </a:r>
            <a:r>
              <a:rPr kumimoji="0" lang="ko-KR" altLang="en-US" sz="1400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하고 변환하는 시간이 경우에 따라 다운로드 보다 더 많은 시간이 소요 됨</a:t>
            </a:r>
            <a:r>
              <a:rPr kumimoji="0" lang="en-US" altLang="ko-KR" sz="1400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.</a:t>
            </a:r>
            <a:r>
              <a:rPr kumimoji="0" lang="ko-KR" altLang="en-US" sz="1400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8570432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99" name="표 9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0483802"/>
              </p:ext>
            </p:extLst>
          </p:nvPr>
        </p:nvGraphicFramePr>
        <p:xfrm>
          <a:off x="270704" y="1700808"/>
          <a:ext cx="5184576" cy="44644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0343"/>
                <a:gridCol w="2536040"/>
                <a:gridCol w="1728193"/>
              </a:tblGrid>
              <a:tr h="316265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사용자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err="1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열린데이터광장</a:t>
                      </a:r>
                      <a:endParaRPr lang="en-US" altLang="ko-KR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b="1" dirty="0" err="1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빅데이터</a:t>
                      </a:r>
                      <a:r>
                        <a:rPr lang="ko-KR" altLang="en-US" sz="1000" b="1" dirty="0" smtClean="0">
                          <a:solidFill>
                            <a:schemeClr val="tx1"/>
                          </a:solidFill>
                          <a:effectLst/>
                          <a:latin typeface="Calibri" pitchFamily="34" charset="0"/>
                          <a:cs typeface="Calibri" pitchFamily="34" charset="0"/>
                        </a:rPr>
                        <a:t> 파일 서비스</a:t>
                      </a:r>
                      <a:endParaRPr lang="en-US" sz="1000" b="1" dirty="0" smtClean="0">
                        <a:solidFill>
                          <a:schemeClr val="tx1"/>
                        </a:solidFill>
                        <a:effectLst/>
                        <a:latin typeface="Calibri" pitchFamily="34" charset="0"/>
                        <a:cs typeface="Calibri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60000"/>
                        <a:lumOff val="40000"/>
                      </a:schemeClr>
                    </a:solidFill>
                  </a:tcPr>
                </a:tc>
              </a:tr>
              <a:tr h="4148231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lang="en-US" altLang="ko-KR" sz="1000" b="0" dirty="0" smtClean="0">
                        <a:solidFill>
                          <a:schemeClr val="tx1"/>
                        </a:solidFill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11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9525" marR="9525" marT="9525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err="1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열린데이터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광장 </a:t>
            </a:r>
            <a:r>
              <a:rPr lang="en-US" altLang="ko-KR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XLS, CVS, JSON </a:t>
            </a:r>
            <a:r>
              <a:rPr lang="ko-KR" altLang="en-US" dirty="0" smtClean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다운로드 개선안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grpSp>
        <p:nvGrpSpPr>
          <p:cNvPr id="3" name="그룹 2"/>
          <p:cNvGrpSpPr/>
          <p:nvPr/>
        </p:nvGrpSpPr>
        <p:grpSpPr>
          <a:xfrm>
            <a:off x="475180" y="2536283"/>
            <a:ext cx="457454" cy="723901"/>
            <a:chOff x="831171" y="1490660"/>
            <a:chExt cx="457454" cy="723901"/>
          </a:xfrm>
        </p:grpSpPr>
        <p:pic>
          <p:nvPicPr>
            <p:cNvPr id="14" name="Picture 10" descr="http://icons.iconarchive.com/icons/hopstarter/sleek-xp-basic/128/Administrator-icon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1171" y="1490660"/>
              <a:ext cx="457454" cy="457454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16" name="직사각형 15"/>
            <p:cNvSpPr/>
            <p:nvPr/>
          </p:nvSpPr>
          <p:spPr>
            <a:xfrm>
              <a:off x="835317" y="1968340"/>
              <a:ext cx="449162" cy="246221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pPr algn="ctr">
                <a:defRPr/>
              </a:pPr>
              <a:r>
                <a:rPr lang="en-US" altLang="ko-KR" sz="1000" dirty="0" smtClean="0">
                  <a:latin typeface="나눔고딕" panose="020D0604000000000000" pitchFamily="50" charset="-127"/>
                  <a:ea typeface="나눔고딕" panose="020D0604000000000000" pitchFamily="50" charset="-127"/>
                </a:rPr>
                <a:t>User</a:t>
              </a:r>
              <a:endParaRPr lang="en-US" altLang="ko-KR" sz="1000" dirty="0">
                <a:latin typeface="나눔고딕" panose="020D0604000000000000" pitchFamily="50" charset="-127"/>
                <a:ea typeface="나눔고딕" panose="020D0604000000000000" pitchFamily="50" charset="-127"/>
              </a:endParaRPr>
            </a:p>
          </p:txBody>
        </p:sp>
      </p:grpSp>
      <p:sp>
        <p:nvSpPr>
          <p:cNvPr id="18" name="직사각형 92"/>
          <p:cNvSpPr>
            <a:spLocks noChangeArrowheads="1"/>
          </p:cNvSpPr>
          <p:nvPr/>
        </p:nvSpPr>
        <p:spPr bwMode="auto">
          <a:xfrm>
            <a:off x="2358935" y="2625762"/>
            <a:ext cx="857250" cy="269875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noProof="0" dirty="0" smtClean="0">
                <a:solidFill>
                  <a:srgbClr val="000000"/>
                </a:solidFill>
                <a:latin typeface="Arial"/>
                <a:ea typeface="가는각진제목체"/>
              </a:rPr>
              <a:t>파일 요</a:t>
            </a:r>
            <a:r>
              <a:rPr kumimoji="0" lang="ko-KR" altLang="en-US" sz="1200" kern="0" dirty="0">
                <a:solidFill>
                  <a:srgbClr val="000000"/>
                </a:solidFill>
                <a:latin typeface="Arial"/>
                <a:ea typeface="가는각진제목체"/>
              </a:rPr>
              <a:t>청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</a:endParaRPr>
          </a:p>
        </p:txBody>
      </p:sp>
      <p:sp>
        <p:nvSpPr>
          <p:cNvPr id="19" name="다이아몬드 18"/>
          <p:cNvSpPr/>
          <p:nvPr/>
        </p:nvSpPr>
        <p:spPr>
          <a:xfrm>
            <a:off x="2236735" y="3306013"/>
            <a:ext cx="1101650" cy="36004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이전 요청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3" name="직선 화살표 연결선 22"/>
          <p:cNvCxnSpPr>
            <a:stCxn id="14" idx="3"/>
            <a:endCxn id="18" idx="1"/>
          </p:cNvCxnSpPr>
          <p:nvPr/>
        </p:nvCxnSpPr>
        <p:spPr bwMode="auto">
          <a:xfrm flipV="1">
            <a:off x="932634" y="2760700"/>
            <a:ext cx="1426301" cy="431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26" name="직사각형 92"/>
          <p:cNvSpPr>
            <a:spLocks noChangeArrowheads="1"/>
          </p:cNvSpPr>
          <p:nvPr/>
        </p:nvSpPr>
        <p:spPr bwMode="auto">
          <a:xfrm>
            <a:off x="2358935" y="4293096"/>
            <a:ext cx="857250" cy="269875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파일 생성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</a:endParaRPr>
          </a:p>
        </p:txBody>
      </p:sp>
      <p:cxnSp>
        <p:nvCxnSpPr>
          <p:cNvPr id="27" name="직선 화살표 연결선 26"/>
          <p:cNvCxnSpPr>
            <a:stCxn id="18" idx="2"/>
            <a:endCxn id="19" idx="0"/>
          </p:cNvCxnSpPr>
          <p:nvPr/>
        </p:nvCxnSpPr>
        <p:spPr bwMode="auto">
          <a:xfrm>
            <a:off x="2787560" y="2895637"/>
            <a:ext cx="0" cy="410376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30" name="직선 화살표 연결선 29"/>
          <p:cNvCxnSpPr>
            <a:stCxn id="19" idx="2"/>
            <a:endCxn id="26" idx="0"/>
          </p:cNvCxnSpPr>
          <p:nvPr/>
        </p:nvCxnSpPr>
        <p:spPr bwMode="auto">
          <a:xfrm>
            <a:off x="2787560" y="3666053"/>
            <a:ext cx="0" cy="627043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34" name="TextBox 33"/>
          <p:cNvSpPr txBox="1"/>
          <p:nvPr/>
        </p:nvSpPr>
        <p:spPr>
          <a:xfrm>
            <a:off x="2720752" y="3645024"/>
            <a:ext cx="303288" cy="22775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No</a:t>
            </a:r>
            <a:endParaRPr kumimoji="0" lang="ko-KR" altLang="en-US" sz="800" b="1" kern="0" dirty="0" err="1" smtClean="0">
              <a:solidFill>
                <a:srgbClr val="000000"/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sp>
        <p:nvSpPr>
          <p:cNvPr id="35" name="직사각형 92"/>
          <p:cNvSpPr>
            <a:spLocks noChangeArrowheads="1"/>
          </p:cNvSpPr>
          <p:nvPr/>
        </p:nvSpPr>
        <p:spPr bwMode="auto">
          <a:xfrm>
            <a:off x="4222169" y="4304785"/>
            <a:ext cx="857250" cy="269875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파일 복사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</a:endParaRPr>
          </a:p>
        </p:txBody>
      </p:sp>
      <p:cxnSp>
        <p:nvCxnSpPr>
          <p:cNvPr id="36" name="직선 화살표 연결선 35"/>
          <p:cNvCxnSpPr>
            <a:stCxn id="26" idx="3"/>
            <a:endCxn id="35" idx="1"/>
          </p:cNvCxnSpPr>
          <p:nvPr/>
        </p:nvCxnSpPr>
        <p:spPr bwMode="auto">
          <a:xfrm>
            <a:off x="3216185" y="4428034"/>
            <a:ext cx="1005984" cy="11689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40" name="직선 화살표 연결선 39"/>
          <p:cNvCxnSpPr>
            <a:stCxn id="26" idx="2"/>
            <a:endCxn id="43" idx="0"/>
          </p:cNvCxnSpPr>
          <p:nvPr/>
        </p:nvCxnSpPr>
        <p:spPr bwMode="auto">
          <a:xfrm>
            <a:off x="2787560" y="4562971"/>
            <a:ext cx="0" cy="840837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43" name="직사각형 92"/>
          <p:cNvSpPr>
            <a:spLocks noChangeArrowheads="1"/>
          </p:cNvSpPr>
          <p:nvPr/>
        </p:nvSpPr>
        <p:spPr bwMode="auto">
          <a:xfrm>
            <a:off x="2358935" y="5403808"/>
            <a:ext cx="857250" cy="513135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파일 요청 정보</a:t>
            </a:r>
            <a:r>
              <a:rPr kumimoji="0" lang="en-US" altLang="ko-KR" sz="1200" kern="0" dirty="0">
                <a:solidFill>
                  <a:srgbClr val="000000"/>
                </a:solidFill>
                <a:latin typeface="Arial"/>
                <a:ea typeface="가는각진제목체"/>
              </a:rPr>
              <a:t> </a:t>
            </a:r>
            <a:r>
              <a:rPr kumimoji="0" lang="ko-KR" altLang="en-US" sz="1200" b="0" i="0" u="none" strike="noStrike" kern="0" cap="none" spc="0" normalizeH="0" baseline="0" noProof="0" dirty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가는각진제목체"/>
              </a:rPr>
              <a:t>저장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</a:endParaRPr>
          </a:p>
        </p:txBody>
      </p:sp>
      <p:sp>
        <p:nvSpPr>
          <p:cNvPr id="60" name="직사각형 92"/>
          <p:cNvSpPr>
            <a:spLocks noChangeArrowheads="1"/>
          </p:cNvSpPr>
          <p:nvPr/>
        </p:nvSpPr>
        <p:spPr bwMode="auto">
          <a:xfrm>
            <a:off x="4058293" y="3362785"/>
            <a:ext cx="1185003" cy="269875"/>
          </a:xfrm>
          <a:prstGeom prst="rect">
            <a:avLst/>
          </a:prstGeom>
          <a:gradFill rotWithShape="1">
            <a:gsLst>
              <a:gs pos="0">
                <a:srgbClr val="000000">
                  <a:tint val="50000"/>
                  <a:satMod val="300000"/>
                </a:srgbClr>
              </a:gs>
              <a:gs pos="35000">
                <a:srgbClr val="000000">
                  <a:tint val="37000"/>
                  <a:satMod val="300000"/>
                </a:srgbClr>
              </a:gs>
              <a:gs pos="100000">
                <a:srgbClr val="000000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000000">
                <a:shade val="95000"/>
                <a:satMod val="105000"/>
              </a:srgbClr>
            </a:solidFill>
            <a:prstDash val="solid"/>
            <a:headEnd/>
            <a:tailEnd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ct val="500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1200" kern="0" dirty="0" smtClean="0">
                <a:solidFill>
                  <a:srgbClr val="000000"/>
                </a:solidFill>
                <a:latin typeface="Arial"/>
                <a:ea typeface="가는각진제목체"/>
              </a:rPr>
              <a:t>파일 다운로드</a:t>
            </a:r>
            <a:endParaRPr kumimoji="0" lang="en-US" altLang="ko-KR" sz="1200" b="0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가는각진제목체"/>
            </a:endParaRPr>
          </a:p>
        </p:txBody>
      </p:sp>
      <p:sp>
        <p:nvSpPr>
          <p:cNvPr id="61" name="원통 60"/>
          <p:cNvSpPr/>
          <p:nvPr/>
        </p:nvSpPr>
        <p:spPr>
          <a:xfrm>
            <a:off x="1376577" y="4154545"/>
            <a:ext cx="400501" cy="426566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DB</a:t>
            </a:r>
          </a:p>
        </p:txBody>
      </p:sp>
      <p:cxnSp>
        <p:nvCxnSpPr>
          <p:cNvPr id="63" name="꺾인 연결선 62"/>
          <p:cNvCxnSpPr>
            <a:stCxn id="19" idx="1"/>
            <a:endCxn id="61" idx="1"/>
          </p:cNvCxnSpPr>
          <p:nvPr/>
        </p:nvCxnSpPr>
        <p:spPr bwMode="auto">
          <a:xfrm rot="10800000" flipV="1">
            <a:off x="1576829" y="3486033"/>
            <a:ext cx="659907" cy="668512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64" name="꺾인 연결선 63"/>
          <p:cNvCxnSpPr>
            <a:stCxn id="43" idx="1"/>
            <a:endCxn id="61" idx="3"/>
          </p:cNvCxnSpPr>
          <p:nvPr/>
        </p:nvCxnSpPr>
        <p:spPr bwMode="auto">
          <a:xfrm rot="10800000">
            <a:off x="1576829" y="4581112"/>
            <a:ext cx="782107" cy="1079265"/>
          </a:xfrm>
          <a:prstGeom prst="bentConnector2">
            <a:avLst/>
          </a:prstGeom>
          <a:noFill/>
          <a:ln w="9525">
            <a:solidFill>
              <a:schemeClr val="tx1"/>
            </a:solidFill>
            <a:round/>
            <a:headEnd/>
            <a:tailEnd type="none" w="med" len="med"/>
          </a:ln>
        </p:spPr>
      </p:cxnSp>
      <p:cxnSp>
        <p:nvCxnSpPr>
          <p:cNvPr id="73" name="직선 화살표 연결선 72"/>
          <p:cNvCxnSpPr>
            <a:stCxn id="35" idx="0"/>
            <a:endCxn id="60" idx="2"/>
          </p:cNvCxnSpPr>
          <p:nvPr/>
        </p:nvCxnSpPr>
        <p:spPr bwMode="auto">
          <a:xfrm flipV="1">
            <a:off x="4650794" y="3632660"/>
            <a:ext cx="1" cy="672125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78" name="꺾인 연결선 77"/>
          <p:cNvCxnSpPr>
            <a:stCxn id="60" idx="0"/>
            <a:endCxn id="14" idx="0"/>
          </p:cNvCxnSpPr>
          <p:nvPr/>
        </p:nvCxnSpPr>
        <p:spPr bwMode="auto">
          <a:xfrm rot="16200000" flipV="1">
            <a:off x="2264100" y="976090"/>
            <a:ext cx="826502" cy="3946888"/>
          </a:xfrm>
          <a:prstGeom prst="bentConnector3">
            <a:avLst>
              <a:gd name="adj1" fmla="val 127659"/>
            </a:avLst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cxnSp>
        <p:nvCxnSpPr>
          <p:cNvPr id="105" name="직선 화살표 연결선 104"/>
          <p:cNvCxnSpPr>
            <a:stCxn id="19" idx="3"/>
            <a:endCxn id="60" idx="1"/>
          </p:cNvCxnSpPr>
          <p:nvPr/>
        </p:nvCxnSpPr>
        <p:spPr bwMode="auto">
          <a:xfrm>
            <a:off x="3338385" y="3486033"/>
            <a:ext cx="719908" cy="11690"/>
          </a:xfrm>
          <a:prstGeom prst="straightConnector1">
            <a:avLst/>
          </a:prstGeom>
          <a:noFill/>
          <a:ln w="9525">
            <a:solidFill>
              <a:schemeClr val="tx1"/>
            </a:solidFill>
            <a:round/>
            <a:headEnd/>
            <a:tailEnd type="triangle"/>
          </a:ln>
        </p:spPr>
      </p:cxnSp>
      <p:sp>
        <p:nvSpPr>
          <p:cNvPr id="126" name="TextBox 125"/>
          <p:cNvSpPr txBox="1"/>
          <p:nvPr/>
        </p:nvSpPr>
        <p:spPr>
          <a:xfrm>
            <a:off x="272480" y="908720"/>
            <a:ext cx="9292968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smtClean="0"/>
              <a:t>데이터 </a:t>
            </a:r>
            <a:r>
              <a:rPr lang="en-US" altLang="ko-KR" dirty="0" smtClean="0"/>
              <a:t>Query </a:t>
            </a:r>
            <a:r>
              <a:rPr lang="ko-KR" altLang="en-US" dirty="0" smtClean="0"/>
              <a:t>및 변환시간을 최소화 하기 위해 사용자가 요청한 정보를 </a:t>
            </a:r>
            <a:r>
              <a:rPr lang="en-US" altLang="ko-KR" dirty="0" smtClean="0"/>
              <a:t>DB</a:t>
            </a:r>
            <a:r>
              <a:rPr lang="ko-KR" altLang="en-US" dirty="0" smtClean="0"/>
              <a:t>로 저장하고 결과를 파일로 저장해 해줌 </a:t>
            </a:r>
            <a:endParaRPr lang="en-US" altLang="ko-KR" dirty="0"/>
          </a:p>
          <a:p>
            <a:r>
              <a:rPr lang="ko-KR" altLang="en-US" dirty="0" smtClean="0"/>
              <a:t>반복되는 요청에 대해 </a:t>
            </a:r>
            <a:r>
              <a:rPr lang="ko-KR" altLang="en-US" dirty="0"/>
              <a:t>데이터 </a:t>
            </a:r>
            <a:r>
              <a:rPr lang="en-US" altLang="ko-KR" dirty="0"/>
              <a:t>Query </a:t>
            </a:r>
            <a:r>
              <a:rPr lang="ko-KR" altLang="en-US" dirty="0"/>
              <a:t>및 </a:t>
            </a:r>
            <a:r>
              <a:rPr lang="ko-KR" altLang="en-US" dirty="0" smtClean="0"/>
              <a:t>변환을 수행하지 않고 저장해둔 파일을 다운로드 함</a:t>
            </a:r>
            <a:r>
              <a:rPr lang="en-US" altLang="ko-KR" dirty="0" smtClean="0"/>
              <a:t>.</a:t>
            </a:r>
          </a:p>
        </p:txBody>
      </p:sp>
      <p:pic>
        <p:nvPicPr>
          <p:cNvPr id="130" name="Picture 2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71920" y="2821418"/>
            <a:ext cx="4142214" cy="229460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32" name="직사각형 131"/>
          <p:cNvSpPr/>
          <p:nvPr/>
        </p:nvSpPr>
        <p:spPr bwMode="auto">
          <a:xfrm>
            <a:off x="8769423" y="2895637"/>
            <a:ext cx="1016275" cy="118326"/>
          </a:xfrm>
          <a:prstGeom prst="rect">
            <a:avLst/>
          </a:prstGeom>
          <a:noFill/>
          <a:ln w="28575">
            <a:solidFill>
              <a:srgbClr val="C00000"/>
            </a:solidFill>
            <a:prstDash val="sysDash"/>
            <a:headEnd/>
            <a:tailEnd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 latinLnBrk="0">
              <a:lnSpc>
                <a:spcPts val="1400"/>
              </a:lnSpc>
              <a:spcAft>
                <a:spcPct val="30000"/>
              </a:spcAft>
            </a:pPr>
            <a:endParaRPr lang="ko-KR" altLang="en-US" sz="1200" kern="0" dirty="0" smtClean="0">
              <a:solidFill>
                <a:schemeClr val="tx1">
                  <a:lumMod val="50000"/>
                  <a:lumOff val="50000"/>
                </a:schemeClr>
              </a:solidFill>
              <a:latin typeface="산돌고딕 M" pitchFamily="18" charset="-127"/>
              <a:ea typeface="산돌고딕 M" pitchFamily="18" charset="-127"/>
            </a:endParaRPr>
          </a:p>
        </p:txBody>
      </p:sp>
      <p:cxnSp>
        <p:nvCxnSpPr>
          <p:cNvPr id="133" name="구부러진 연결선 132"/>
          <p:cNvCxnSpPr>
            <a:endCxn id="136" idx="3"/>
          </p:cNvCxnSpPr>
          <p:nvPr/>
        </p:nvCxnSpPr>
        <p:spPr bwMode="auto">
          <a:xfrm rot="10800000">
            <a:off x="8528682" y="2260205"/>
            <a:ext cx="748881" cy="635438"/>
          </a:xfrm>
          <a:prstGeom prst="curvedConnector3">
            <a:avLst>
              <a:gd name="adj1" fmla="val 50000"/>
            </a:avLst>
          </a:prstGeom>
          <a:ln>
            <a:headEnd/>
            <a:tailEnd type="arrow"/>
          </a:ln>
        </p:spPr>
        <p:style>
          <a:lnRef idx="2">
            <a:schemeClr val="accent2"/>
          </a:lnRef>
          <a:fillRef idx="0">
            <a:schemeClr val="accent2"/>
          </a:fillRef>
          <a:effectRef idx="1">
            <a:schemeClr val="accent2"/>
          </a:effectRef>
          <a:fontRef idx="minor">
            <a:schemeClr val="tx1"/>
          </a:fontRef>
        </p:style>
      </p:cxnSp>
      <p:sp>
        <p:nvSpPr>
          <p:cNvPr id="136" name="TextBox 135"/>
          <p:cNvSpPr txBox="1"/>
          <p:nvPr/>
        </p:nvSpPr>
        <p:spPr>
          <a:xfrm>
            <a:off x="6393160" y="1955506"/>
            <a:ext cx="2135521" cy="609398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400" b="1" kern="0" dirty="0" smtClean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생성된 파일이 존재한다면</a:t>
            </a:r>
            <a:endParaRPr kumimoji="0" lang="en-US" altLang="ko-KR" sz="1400" b="1" kern="0" dirty="0" smtClean="0">
              <a:solidFill>
                <a:srgbClr val="000000"/>
              </a:solidFill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ko-KR" altLang="en-US" sz="1400" b="1" kern="0" dirty="0" smtClean="0">
                <a:solidFill>
                  <a:srgbClr val="000000"/>
                </a:solidFill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해당 파일로 링크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244690" y="3284984"/>
            <a:ext cx="340158" cy="227755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none" rtlCol="0">
            <a:spAutoFit/>
          </a:bodyPr>
          <a:lstStyle/>
          <a:p>
            <a:pPr fontAlgn="auto" latinLnBrk="0">
              <a:lnSpc>
                <a:spcPct val="110000"/>
              </a:lnSpc>
              <a:spcBef>
                <a:spcPct val="20000"/>
              </a:spcBef>
              <a:spcAft>
                <a:spcPts val="0"/>
              </a:spcAft>
              <a:buSzPct val="100000"/>
            </a:pPr>
            <a:r>
              <a:rPr kumimoji="0" lang="en-US" altLang="ko-KR" sz="800" b="1" kern="0" dirty="0" smtClean="0">
                <a:solidFill>
                  <a:srgbClr val="000000"/>
                </a:solidFill>
                <a:latin typeface="산돌고딕 M" pitchFamily="18" charset="-127"/>
                <a:ea typeface="산돌고딕 M" pitchFamily="18" charset="-127"/>
              </a:rPr>
              <a:t>Yes</a:t>
            </a:r>
            <a:endParaRPr kumimoji="0" lang="ko-KR" altLang="en-US" sz="800" b="1" kern="0" dirty="0" err="1" smtClean="0">
              <a:solidFill>
                <a:srgbClr val="000000"/>
              </a:solidFill>
              <a:latin typeface="산돌고딕 M" pitchFamily="18" charset="-127"/>
              <a:ea typeface="산돌고딕 M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2556434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4"/>
          <p:cNvSpPr>
            <a:spLocks noChangeArrowheads="1"/>
          </p:cNvSpPr>
          <p:nvPr/>
        </p:nvSpPr>
        <p:spPr bwMode="auto">
          <a:xfrm>
            <a:off x="0" y="1514475"/>
            <a:ext cx="9906000" cy="1236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/>
          <a:lstStyle/>
          <a:p>
            <a:pPr algn="ctr" fontAlgn="auto" latinLnBrk="0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#</a:t>
            </a: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별첨 </a:t>
            </a:r>
            <a:r>
              <a:rPr kumimoji="0" lang="en-US" altLang="ko-KR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- </a:t>
            </a:r>
            <a:r>
              <a:rPr kumimoji="0" lang="en-US" altLang="ko-KR" sz="3600" b="1" kern="0" dirty="0" err="1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Talend</a:t>
            </a:r>
            <a:r>
              <a:rPr kumimoji="0" lang="en-US" altLang="ko-KR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 </a:t>
            </a:r>
            <a:r>
              <a:rPr kumimoji="0" lang="ko-KR" altLang="en-US" sz="3600" b="1" kern="0" dirty="0" smtClean="0">
                <a:solidFill>
                  <a:srgbClr val="FFFFFF"/>
                </a:solidFill>
                <a:latin typeface="나눔고딕" panose="020D0604000000000000" pitchFamily="50" charset="-127"/>
                <a:ea typeface="나눔고딕" panose="020D0604000000000000" pitchFamily="50" charset="-127"/>
                <a:cs typeface="Calibri" pitchFamily="34" charset="0"/>
              </a:rPr>
              <a:t>주요 컴포넌트</a:t>
            </a:r>
            <a:endParaRPr kumimoji="0" lang="en-US" altLang="ko-KR" sz="3600" b="1" kern="0" dirty="0" smtClean="0">
              <a:solidFill>
                <a:srgbClr val="FFFFFF"/>
              </a:solidFill>
              <a:latin typeface="나눔고딕" panose="020D0604000000000000" pitchFamily="50" charset="-127"/>
              <a:ea typeface="나눔고딕" panose="020D0604000000000000" pitchFamily="50" charset="-127"/>
              <a:cs typeface="Calibri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120538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내부망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– </a:t>
            </a:r>
            <a:r>
              <a:rPr lang="ko-KR" altLang="en-US" dirty="0" err="1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외부망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 파일 전송</a:t>
            </a:r>
          </a:p>
        </p:txBody>
      </p:sp>
      <p:sp>
        <p:nvSpPr>
          <p:cNvPr id="3" name="다이아몬드 2"/>
          <p:cNvSpPr/>
          <p:nvPr/>
        </p:nvSpPr>
        <p:spPr>
          <a:xfrm>
            <a:off x="3923358" y="2924944"/>
            <a:ext cx="936104" cy="36004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273051" y="1233935"/>
            <a:ext cx="9196264" cy="5341036"/>
          </a:xfrm>
          <a:prstGeom prst="rect">
            <a:avLst/>
          </a:prstGeom>
          <a:noFill/>
          <a:ln w="12700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457200" lvl="0" indent="-457200">
              <a:spcBef>
                <a:spcPct val="20000"/>
              </a:spcBef>
            </a:pPr>
            <a:endParaRPr lang="en-US" altLang="ko-KR" b="1" dirty="0" smtClean="0">
              <a:solidFill>
                <a:prstClr val="black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6" name="AutoShape 35"/>
          <p:cNvSpPr>
            <a:spLocks noChangeArrowheads="1"/>
          </p:cNvSpPr>
          <p:nvPr/>
        </p:nvSpPr>
        <p:spPr bwMode="auto">
          <a:xfrm>
            <a:off x="5723558" y="1412776"/>
            <a:ext cx="864096" cy="288032"/>
          </a:xfrm>
          <a:prstGeom prst="roundRect">
            <a:avLst>
              <a:gd name="adj" fmla="val 7009"/>
            </a:avLst>
          </a:prstGeom>
          <a:solidFill>
            <a:schemeClr val="bg2">
              <a:lumMod val="90000"/>
            </a:schemeClr>
          </a:solidFill>
          <a:ln w="6350">
            <a:solidFill>
              <a:srgbClr val="DDDDDD"/>
            </a:solidFill>
            <a:round/>
            <a:headEnd/>
            <a:tailEnd/>
          </a:ln>
        </p:spPr>
        <p:txBody>
          <a:bodyPr wrap="none" lIns="78843" tIns="40999" rIns="78843" bIns="40999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01688">
              <a:defRPr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Server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  <a:cs typeface="Arial" pitchFamily="34" charset="0"/>
            </a:endParaRPr>
          </a:p>
        </p:txBody>
      </p:sp>
      <p:sp>
        <p:nvSpPr>
          <p:cNvPr id="7" name="AutoShape 35"/>
          <p:cNvSpPr>
            <a:spLocks noChangeArrowheads="1"/>
          </p:cNvSpPr>
          <p:nvPr/>
        </p:nvSpPr>
        <p:spPr bwMode="auto">
          <a:xfrm>
            <a:off x="682998" y="2780928"/>
            <a:ext cx="2304256" cy="1584176"/>
          </a:xfrm>
          <a:prstGeom prst="roundRect">
            <a:avLst>
              <a:gd name="adj" fmla="val 7009"/>
            </a:avLst>
          </a:prstGeom>
          <a:solidFill>
            <a:schemeClr val="bg2">
              <a:lumMod val="90000"/>
            </a:schemeClr>
          </a:solidFill>
          <a:ln w="6350">
            <a:solidFill>
              <a:srgbClr val="DDDDDD"/>
            </a:solidFill>
            <a:round/>
            <a:headEnd/>
            <a:tailEnd/>
          </a:ln>
        </p:spPr>
        <p:txBody>
          <a:bodyPr wrap="none" lIns="78843" tIns="40999" rIns="78843" bIns="40999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01688">
              <a:defRPr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ETL Server #1</a:t>
            </a:r>
          </a:p>
        </p:txBody>
      </p:sp>
      <p:sp>
        <p:nvSpPr>
          <p:cNvPr id="8" name="순서도: 데이터 7"/>
          <p:cNvSpPr/>
          <p:nvPr/>
        </p:nvSpPr>
        <p:spPr>
          <a:xfrm>
            <a:off x="1115046" y="3212976"/>
            <a:ext cx="1392535" cy="288032"/>
          </a:xfrm>
          <a:prstGeom prst="flowChartInputOutpu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Open ETL</a:t>
            </a:r>
          </a:p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Agent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9" name="꺾인 연결선 8"/>
          <p:cNvCxnSpPr>
            <a:stCxn id="8" idx="4"/>
            <a:endCxn id="33" idx="1"/>
          </p:cNvCxnSpPr>
          <p:nvPr/>
        </p:nvCxnSpPr>
        <p:spPr>
          <a:xfrm rot="5400000">
            <a:off x="723480" y="4584080"/>
            <a:ext cx="2170906" cy="4763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순서도: 데이터 9"/>
          <p:cNvSpPr/>
          <p:nvPr/>
        </p:nvSpPr>
        <p:spPr>
          <a:xfrm>
            <a:off x="7811790" y="1412776"/>
            <a:ext cx="1392535" cy="288032"/>
          </a:xfrm>
          <a:prstGeom prst="flowChartInputOutpu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Solution</a:t>
            </a:r>
          </a:p>
        </p:txBody>
      </p:sp>
      <p:sp>
        <p:nvSpPr>
          <p:cNvPr id="11" name="다이아몬드 10"/>
          <p:cNvSpPr/>
          <p:nvPr/>
        </p:nvSpPr>
        <p:spPr>
          <a:xfrm>
            <a:off x="4571430" y="1412776"/>
            <a:ext cx="936104" cy="36004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File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2" name="다이아몬드 11"/>
          <p:cNvSpPr/>
          <p:nvPr/>
        </p:nvSpPr>
        <p:spPr>
          <a:xfrm>
            <a:off x="1907134" y="3861048"/>
            <a:ext cx="936104" cy="36004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 File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14" name="꺾인 연결선 13"/>
          <p:cNvCxnSpPr>
            <a:endCxn id="12" idx="0"/>
          </p:cNvCxnSpPr>
          <p:nvPr/>
        </p:nvCxnSpPr>
        <p:spPr>
          <a:xfrm rot="16200000" flipH="1">
            <a:off x="2069152" y="3555014"/>
            <a:ext cx="360040" cy="25202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연결선 14"/>
          <p:cNvCxnSpPr/>
          <p:nvPr/>
        </p:nvCxnSpPr>
        <p:spPr>
          <a:xfrm rot="5400000">
            <a:off x="2627214" y="4149080"/>
            <a:ext cx="3888432" cy="0"/>
          </a:xfrm>
          <a:prstGeom prst="line">
            <a:avLst/>
          </a:prstGeom>
          <a:ln w="2540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31950" y="1844824"/>
            <a:ext cx="25154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외부망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(</a:t>
            </a:r>
            <a:r>
              <a:rPr lang="ko-KR" altLang="en-US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열린데이터광장</a:t>
            </a:r>
            <a:r>
              <a:rPr lang="en-US" altLang="ko-KR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)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099603" y="1844824"/>
            <a:ext cx="8338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내부</a:t>
            </a:r>
            <a:r>
              <a:rPr lang="ko-KR" altLang="en-US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망</a:t>
            </a:r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8" name="AutoShape 35"/>
          <p:cNvSpPr>
            <a:spLocks noChangeArrowheads="1"/>
          </p:cNvSpPr>
          <p:nvPr/>
        </p:nvSpPr>
        <p:spPr bwMode="auto">
          <a:xfrm>
            <a:off x="6465318" y="2780928"/>
            <a:ext cx="2304256" cy="1584176"/>
          </a:xfrm>
          <a:prstGeom prst="roundRect">
            <a:avLst>
              <a:gd name="adj" fmla="val 7009"/>
            </a:avLst>
          </a:prstGeom>
          <a:solidFill>
            <a:schemeClr val="bg2">
              <a:lumMod val="90000"/>
            </a:schemeClr>
          </a:solidFill>
          <a:ln w="6350">
            <a:solidFill>
              <a:srgbClr val="DDDDDD"/>
            </a:solidFill>
            <a:round/>
            <a:headEnd/>
            <a:tailEnd/>
          </a:ln>
        </p:spPr>
        <p:txBody>
          <a:bodyPr wrap="none" lIns="78843" tIns="40999" rIns="78843" bIns="40999" anchor="t"/>
          <a:lstStyle>
            <a:defPPr>
              <a:defRPr lang="ko-KR"/>
            </a:defPPr>
            <a:lvl1pPr marL="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 defTabSz="801688">
              <a:defRPr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  <a:cs typeface="Arial" pitchFamily="34" charset="0"/>
              </a:rPr>
              <a:t>ETL Server #1</a:t>
            </a:r>
          </a:p>
        </p:txBody>
      </p:sp>
      <p:sp>
        <p:nvSpPr>
          <p:cNvPr id="19" name="순서도: 데이터 18"/>
          <p:cNvSpPr/>
          <p:nvPr/>
        </p:nvSpPr>
        <p:spPr>
          <a:xfrm>
            <a:off x="6897366" y="3212976"/>
            <a:ext cx="1392535" cy="288032"/>
          </a:xfrm>
          <a:prstGeom prst="flowChartInputOutput">
            <a:avLst/>
          </a:prstGeom>
          <a:solidFill>
            <a:schemeClr val="accent3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Open ETL</a:t>
            </a:r>
          </a:p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Agent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0" name="꺾인 연결선 19"/>
          <p:cNvCxnSpPr>
            <a:stCxn id="19" idx="4"/>
            <a:endCxn id="21" idx="0"/>
          </p:cNvCxnSpPr>
          <p:nvPr/>
        </p:nvCxnSpPr>
        <p:spPr>
          <a:xfrm rot="16200000" flipH="1">
            <a:off x="6820596" y="4274046"/>
            <a:ext cx="1548209" cy="2132"/>
          </a:xfrm>
          <a:prstGeom prst="bentConnector3">
            <a:avLst>
              <a:gd name="adj1" fmla="val 50000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다이아몬드 20"/>
          <p:cNvSpPr/>
          <p:nvPr/>
        </p:nvSpPr>
        <p:spPr>
          <a:xfrm>
            <a:off x="7127714" y="5049217"/>
            <a:ext cx="936104" cy="360040"/>
          </a:xfrm>
          <a:prstGeom prst="diamond">
            <a:avLst/>
          </a:prstGeom>
          <a:solidFill>
            <a:schemeClr val="accent6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 File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2" name="직사각형 21"/>
          <p:cNvSpPr/>
          <p:nvPr/>
        </p:nvSpPr>
        <p:spPr>
          <a:xfrm>
            <a:off x="682998" y="5301208"/>
            <a:ext cx="2376264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5" name="원통 24"/>
          <p:cNvSpPr/>
          <p:nvPr/>
        </p:nvSpPr>
        <p:spPr>
          <a:xfrm rot="16200000">
            <a:off x="4535426" y="2312876"/>
            <a:ext cx="288032" cy="2088232"/>
          </a:xfrm>
          <a:prstGeom prst="can">
            <a:avLst/>
          </a:prstGeom>
          <a:solidFill>
            <a:schemeClr val="accent1">
              <a:lumMod val="40000"/>
              <a:lumOff val="60000"/>
            </a:schemeClr>
          </a:solidFill>
          <a:ln w="127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cxnSp>
        <p:nvCxnSpPr>
          <p:cNvPr id="26" name="꺾인 연결선 25"/>
          <p:cNvCxnSpPr>
            <a:stCxn id="8" idx="5"/>
            <a:endCxn id="25" idx="0"/>
          </p:cNvCxnSpPr>
          <p:nvPr/>
        </p:nvCxnSpPr>
        <p:spPr>
          <a:xfrm>
            <a:off x="2368328" y="3356992"/>
            <a:ext cx="1339006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꺾인 연결선 26"/>
          <p:cNvCxnSpPr>
            <a:stCxn id="25" idx="3"/>
            <a:endCxn id="19" idx="2"/>
          </p:cNvCxnSpPr>
          <p:nvPr/>
        </p:nvCxnSpPr>
        <p:spPr>
          <a:xfrm>
            <a:off x="5723558" y="3356992"/>
            <a:ext cx="1313062" cy="1588"/>
          </a:xfrm>
          <a:prstGeom prst="bentConnector3">
            <a:avLst>
              <a:gd name="adj1" fmla="val 50000"/>
            </a:avLst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/>
          <p:cNvSpPr txBox="1"/>
          <p:nvPr/>
        </p:nvSpPr>
        <p:spPr>
          <a:xfrm>
            <a:off x="4038799" y="3212976"/>
            <a:ext cx="1287532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200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Secure Channel</a:t>
            </a:r>
            <a:endParaRPr lang="ko-KR" altLang="en-US" sz="1200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 rot="5400000">
            <a:off x="2123158" y="3356992"/>
            <a:ext cx="21602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0" name="직사각형 29"/>
          <p:cNvSpPr/>
          <p:nvPr/>
        </p:nvSpPr>
        <p:spPr>
          <a:xfrm>
            <a:off x="3563318" y="1484784"/>
            <a:ext cx="792088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Firewall</a:t>
            </a:r>
            <a:endParaRPr lang="ko-KR" altLang="en-US" sz="1000" b="1" dirty="0">
              <a:solidFill>
                <a:schemeClr val="tx1"/>
              </a:solidFill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1" name="직사각형 30"/>
          <p:cNvSpPr/>
          <p:nvPr/>
        </p:nvSpPr>
        <p:spPr>
          <a:xfrm rot="5400000">
            <a:off x="5147494" y="3356992"/>
            <a:ext cx="2160240" cy="144016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928069" y="4469050"/>
            <a:ext cx="54534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방화</a:t>
            </a:r>
            <a:r>
              <a:rPr lang="ko-KR" altLang="en-US" sz="10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벽</a:t>
            </a:r>
          </a:p>
        </p:txBody>
      </p:sp>
      <p:sp>
        <p:nvSpPr>
          <p:cNvPr id="33" name="원통 32"/>
          <p:cNvSpPr/>
          <p:nvPr/>
        </p:nvSpPr>
        <p:spPr>
          <a:xfrm>
            <a:off x="726431" y="5671914"/>
            <a:ext cx="2160240" cy="720080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Database</a:t>
            </a:r>
          </a:p>
        </p:txBody>
      </p:sp>
      <p:sp>
        <p:nvSpPr>
          <p:cNvPr id="37" name="원통 36"/>
          <p:cNvSpPr/>
          <p:nvPr/>
        </p:nvSpPr>
        <p:spPr>
          <a:xfrm>
            <a:off x="6803678" y="1359818"/>
            <a:ext cx="864096" cy="360040"/>
          </a:xfrm>
          <a:prstGeom prst="can">
            <a:avLst/>
          </a:prstGeom>
          <a:solidFill>
            <a:schemeClr val="accent1">
              <a:lumMod val="60000"/>
              <a:lumOff val="40000"/>
            </a:schemeClr>
          </a:solidFill>
          <a:ln w="9525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000" b="1" dirty="0" smtClean="0">
                <a:solidFill>
                  <a:schemeClr val="tx1"/>
                </a:solidFill>
                <a:latin typeface="나눔고딕" panose="020D0604000000000000" pitchFamily="50" charset="-127"/>
                <a:ea typeface="나눔고딕" panose="020D0604000000000000" pitchFamily="50" charset="-127"/>
              </a:rPr>
              <a:t>Database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763118" y="4653136"/>
            <a:ext cx="94128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파일관련 정보</a:t>
            </a:r>
            <a:endParaRPr lang="en-US" altLang="ko-KR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업데이트</a:t>
            </a:r>
            <a:endParaRPr lang="ko-KR" altLang="en-US" sz="10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3819378" y="2492896"/>
            <a:ext cx="2273379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파일전송방식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Option</a:t>
            </a:r>
          </a:p>
          <a:p>
            <a:pPr marL="228600" indent="-228600">
              <a:buAutoNum type="arabicPeriod"/>
            </a:pP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Compressed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파일을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SCP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로 전송</a:t>
            </a:r>
            <a:endParaRPr lang="en-US" altLang="ko-KR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  <a:p>
            <a:pPr marL="228600" indent="-228600">
              <a:buAutoNum type="arabicPeriod"/>
            </a:pP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일반 포트를 사용하여 </a:t>
            </a:r>
            <a:r>
              <a:rPr lang="en-US" altLang="ko-KR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Socket </a:t>
            </a:r>
            <a:r>
              <a:rPr lang="ko-KR" altLang="en-US" sz="10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전송</a:t>
            </a:r>
            <a:endParaRPr lang="en-US" altLang="ko-KR" sz="1000" b="1" dirty="0" smtClean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1026" name="Picture 2" descr="http://jaxenter.com/wp-content/uploads/2012/11/talend.jp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07360" y="5941772"/>
            <a:ext cx="1266046" cy="63302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TextBox 33"/>
          <p:cNvSpPr txBox="1"/>
          <p:nvPr/>
        </p:nvSpPr>
        <p:spPr>
          <a:xfrm>
            <a:off x="273050" y="908050"/>
            <a:ext cx="9217025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>
            <a:defPPr>
              <a:defRPr lang="ko-KR"/>
            </a:defPPr>
            <a:lvl1pPr marL="268288" indent="-268288" eaLnBrk="1" fontAlgn="auto" latinLnBrk="0" hangingPunct="1">
              <a:lnSpc>
                <a:spcPct val="100000"/>
              </a:lnSpc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  <a:defRPr kumimoji="0" sz="1400" b="1" kern="0">
                <a:latin typeface="나눔고딕" panose="020D0604000000000000" pitchFamily="50" charset="-127"/>
                <a:ea typeface="나눔고딕" panose="020D0604000000000000" pitchFamily="50" charset="-127"/>
              </a:defRPr>
            </a:lvl1pPr>
          </a:lstStyle>
          <a:p>
            <a:r>
              <a:rPr lang="ko-KR" altLang="en-US" dirty="0" err="1" smtClean="0"/>
              <a:t>오픈소스</a:t>
            </a:r>
            <a:r>
              <a:rPr lang="ko-KR" altLang="en-US" dirty="0" smtClean="0"/>
              <a:t> </a:t>
            </a:r>
            <a:r>
              <a:rPr lang="en-US" altLang="ko-KR" dirty="0" smtClean="0"/>
              <a:t>ETL </a:t>
            </a:r>
            <a:r>
              <a:rPr lang="ko-KR" altLang="en-US" dirty="0" smtClean="0"/>
              <a:t>솔루션 활용 가능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063744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Appendix – TOS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주요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Component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627924" y="5805265"/>
            <a:ext cx="334899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1&gt; Databases Component Group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50489" y="1772816"/>
            <a:ext cx="3683794" cy="40953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5535064" y="1772817"/>
            <a:ext cx="3797300" cy="3960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5734491" y="5805265"/>
            <a:ext cx="310694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2&gt; Oracle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관련 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Component List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4484948" y="3501008"/>
            <a:ext cx="780087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" name="직사각형 1"/>
          <p:cNvSpPr/>
          <p:nvPr/>
        </p:nvSpPr>
        <p:spPr>
          <a:xfrm>
            <a:off x="273049" y="895648"/>
            <a:ext cx="9217025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marL="268288" indent="-268288" fontAlgn="auto" latinLnBrk="0"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5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Databases – 30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여가지 데이터 베이스 관련 컴포넌트 제공한다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  <a:p>
            <a:pPr marL="268288" indent="-268288" fontAlgn="auto" latinLnBrk="0"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5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Oracle – Oracle 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관련 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DML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을 수행할 수 있는 컴포넌트 제공한다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9640350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Appendix – TOS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주요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Component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72480" y="908720"/>
            <a:ext cx="9609465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marL="268288" indent="-268288" fontAlgn="auto" latinLnBrk="0"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File Group – File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생성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삭제기능 및 원하는 포맷으로 파일을 생성하고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압축할 수 있다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13676" y="3769296"/>
            <a:ext cx="277672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3&gt; File Component Group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5577070" y="6021289"/>
            <a:ext cx="284084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4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&gt; File Output Component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350489" y="2636912"/>
            <a:ext cx="3756025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" name="오른쪽 화살표 9"/>
          <p:cNvSpPr/>
          <p:nvPr/>
        </p:nvSpPr>
        <p:spPr>
          <a:xfrm>
            <a:off x="4484948" y="2924944"/>
            <a:ext cx="780087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6147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499060" y="1844825"/>
            <a:ext cx="3776663" cy="402451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35611213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Appendix – TOS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주요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Component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72480" y="908720"/>
            <a:ext cx="9609465" cy="307777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marL="268288" indent="-268288" fontAlgn="auto" latinLnBrk="0"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Internet – SCP, HTTP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및 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Socket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송수신 기능을 제공한다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0657" y="5949280"/>
            <a:ext cx="313419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5&gt; Internet Component Group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6385692" y="5733256"/>
            <a:ext cx="223971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6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&gt; SCP Component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sp>
        <p:nvSpPr>
          <p:cNvPr id="10" name="오른쪽 화살표 9"/>
          <p:cNvSpPr/>
          <p:nvPr/>
        </p:nvSpPr>
        <p:spPr>
          <a:xfrm>
            <a:off x="4484948" y="2636911"/>
            <a:ext cx="780087" cy="43204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7170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72480" y="1484783"/>
            <a:ext cx="3776663" cy="44596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5733087" y="1412776"/>
            <a:ext cx="3642519" cy="415786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8864942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2"/>
          <p:cNvSpPr>
            <a:spLocks noGrp="1"/>
          </p:cNvSpPr>
          <p:nvPr>
            <p:ph type="title"/>
          </p:nvPr>
        </p:nvSpPr>
        <p:spPr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Appendix – TOS </a:t>
            </a:r>
            <a:r>
              <a:rPr lang="ko-KR" altLang="en-US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주요 </a:t>
            </a:r>
            <a:r>
              <a:rPr lang="en-US" altLang="ko-KR" dirty="0">
                <a:latin typeface="나눔고딕 ExtraBold" panose="020D0904000000000000" pitchFamily="50" charset="-127"/>
                <a:ea typeface="나눔고딕 ExtraBold" panose="020D0904000000000000" pitchFamily="50" charset="-127"/>
              </a:rPr>
              <a:t>Component</a:t>
            </a:r>
            <a:endParaRPr lang="ko-KR" altLang="en-US" dirty="0">
              <a:latin typeface="나눔고딕 ExtraBold" panose="020D0904000000000000" pitchFamily="50" charset="-127"/>
              <a:ea typeface="나눔고딕 ExtraBold" panose="020D0904000000000000" pitchFamily="50" charset="-127"/>
            </a:endParaRPr>
          </a:p>
        </p:txBody>
      </p:sp>
      <p:sp>
        <p:nvSpPr>
          <p:cNvPr id="29" name="직사각형 28"/>
          <p:cNvSpPr/>
          <p:nvPr/>
        </p:nvSpPr>
        <p:spPr>
          <a:xfrm>
            <a:off x="272480" y="908720"/>
            <a:ext cx="9217595" cy="587853"/>
          </a:xfrm>
          <a:prstGeom prst="rect">
            <a:avLst/>
          </a:prstGeom>
          <a:noFill/>
          <a:ln w="19050" algn="ctr">
            <a:noFill/>
            <a:round/>
            <a:headEnd/>
            <a:tailEnd/>
          </a:ln>
        </p:spPr>
        <p:txBody>
          <a:bodyPr wrap="square" rtlCol="0">
            <a:spAutoFit/>
          </a:bodyPr>
          <a:lstStyle/>
          <a:p>
            <a:pPr marL="268288" indent="-268288" fontAlgn="auto" latinLnBrk="0"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Processing – File, Database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Component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들의 데이터를 처리할 수 있다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 </a:t>
            </a:r>
          </a:p>
          <a:p>
            <a:pPr marL="268288" indent="-268288" fontAlgn="auto" latinLnBrk="0">
              <a:spcBef>
                <a:spcPct val="30000"/>
              </a:spcBef>
              <a:spcAft>
                <a:spcPts val="0"/>
              </a:spcAft>
              <a:buSzPct val="100000"/>
              <a:buFontTx/>
              <a:buBlip>
                <a:blip r:embed="rId3"/>
              </a:buBlip>
              <a:tabLst>
                <a:tab pos="0" algn="l"/>
                <a:tab pos="457200" algn="l"/>
                <a:tab pos="914400" algn="l"/>
                <a:tab pos="1371600" algn="l"/>
                <a:tab pos="1828800" algn="l"/>
                <a:tab pos="2286000" algn="l"/>
                <a:tab pos="2743200" algn="l"/>
                <a:tab pos="3200400" algn="l"/>
                <a:tab pos="3657600" algn="l"/>
                <a:tab pos="4114800" algn="l"/>
                <a:tab pos="4572000" algn="l"/>
                <a:tab pos="5029200" algn="l"/>
                <a:tab pos="5486400" algn="l"/>
                <a:tab pos="5943600" algn="l"/>
                <a:tab pos="6400800" algn="l"/>
                <a:tab pos="6858000" algn="l"/>
                <a:tab pos="7315200" algn="l"/>
                <a:tab pos="7772400" algn="l"/>
                <a:tab pos="8229600" algn="l"/>
                <a:tab pos="8686800" algn="l"/>
                <a:tab pos="9144000" algn="l"/>
              </a:tabLst>
            </a:pPr>
            <a:r>
              <a:rPr kumimoji="0" lang="en-US" altLang="ko-KR" sz="1400" b="1" kern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tMap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Component – 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입력 및 출력 데이터가 변환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, </a:t>
            </a:r>
            <a:r>
              <a:rPr kumimoji="0" lang="ko-KR" altLang="en-US" sz="1400" b="1" kern="0" dirty="0" err="1">
                <a:latin typeface="나눔고딕" panose="020D0604000000000000" pitchFamily="50" charset="-127"/>
                <a:ea typeface="나눔고딕" panose="020D0604000000000000" pitchFamily="50" charset="-127"/>
              </a:rPr>
              <a:t>맵핑</a:t>
            </a:r>
            <a:r>
              <a:rPr kumimoji="0" lang="ko-KR" altLang="en-US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 기능을 제공한다</a:t>
            </a:r>
            <a:r>
              <a:rPr kumimoji="0" lang="en-US" altLang="ko-KR" sz="1400" b="1" kern="0" dirty="0">
                <a:latin typeface="나눔고딕" panose="020D0604000000000000" pitchFamily="50" charset="-127"/>
                <a:ea typeface="나눔고딕" panose="020D0604000000000000" pitchFamily="50" charset="-127"/>
              </a:rPr>
              <a:t>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212195" y="5589241"/>
            <a:ext cx="337784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7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&gt; Processing Component Group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890549" y="2132856"/>
            <a:ext cx="2262251" cy="3162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195" name="Picture 3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106906" y="1772816"/>
            <a:ext cx="5322119" cy="399987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TextBox 11"/>
          <p:cNvSpPr txBox="1"/>
          <p:nvPr/>
        </p:nvSpPr>
        <p:spPr>
          <a:xfrm>
            <a:off x="5484346" y="5785520"/>
            <a:ext cx="2396810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&lt;</a:t>
            </a:r>
            <a:r>
              <a:rPr lang="ko-KR" altLang="en-US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화면</a:t>
            </a:r>
            <a:r>
              <a:rPr lang="en-US" altLang="ko-KR" sz="1400" b="1" dirty="0">
                <a:latin typeface="나눔고딕" panose="020D0604000000000000" pitchFamily="50" charset="-127"/>
                <a:ea typeface="나눔고딕" panose="020D0604000000000000" pitchFamily="50" charset="-127"/>
              </a:rPr>
              <a:t>8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&gt; </a:t>
            </a:r>
            <a:r>
              <a:rPr lang="en-US" altLang="ko-KR" sz="1400" b="1" dirty="0" err="1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TMap</a:t>
            </a:r>
            <a:r>
              <a:rPr lang="en-US" altLang="ko-KR" sz="1400" b="1" dirty="0" smtClean="0">
                <a:latin typeface="나눔고딕" panose="020D0604000000000000" pitchFamily="50" charset="-127"/>
                <a:ea typeface="나눔고딕" panose="020D0604000000000000" pitchFamily="50" charset="-127"/>
              </a:rPr>
              <a:t> Component</a:t>
            </a:r>
            <a:endParaRPr lang="ko-KR" altLang="en-US" sz="1400" b="1" dirty="0">
              <a:latin typeface="나눔고딕" panose="020D0604000000000000" pitchFamily="50" charset="-127"/>
              <a:ea typeface="나눔고딕" panose="020D0604000000000000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9519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png"/></Relationships>
</file>

<file path=ppt/theme/theme1.xml><?xml version="1.0" encoding="utf-8"?>
<a:theme xmlns:a="http://schemas.openxmlformats.org/drawingml/2006/main" name="1_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solidFill>
            <a:schemeClr val="tx1">
              <a:lumMod val="50000"/>
              <a:lumOff val="50000"/>
            </a:schemeClr>
          </a:solidFill>
          <a:headEnd/>
          <a:tailEnd/>
        </a:ln>
        <a:effectLst/>
      </a:spPr>
      <a:bodyPr wrap="none" rtlCol="0" anchor="ctr"/>
      <a:lstStyle>
        <a:defPPr algn="ctr" latinLnBrk="0">
          <a:lnSpc>
            <a:spcPts val="1400"/>
          </a:lnSpc>
          <a:spcAft>
            <a:spcPct val="30000"/>
          </a:spcAft>
          <a:defRPr sz="1200" kern="0" dirty="0" smtClean="0">
            <a:solidFill>
              <a:schemeClr val="tx1">
                <a:lumMod val="50000"/>
                <a:lumOff val="50000"/>
              </a:schemeClr>
            </a:solidFill>
            <a:latin typeface="산돌고딕 M" pitchFamily="18" charset="-127"/>
            <a:ea typeface="산돌고딕 M" pitchFamily="18" charset="-127"/>
          </a:defRPr>
        </a:defPPr>
      </a:lstStyle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 bwMode="auto">
        <a:noFill/>
        <a:ln w="9525">
          <a:solidFill>
            <a:schemeClr val="tx1"/>
          </a:solidFill>
          <a:round/>
          <a:headEnd/>
          <a:tailEnd type="triangle" w="med" len="med"/>
        </a:ln>
      </a:spPr>
      <a:bodyPr/>
      <a:lstStyle/>
    </a:lnDef>
    <a:txDef>
      <a:spPr>
        <a:noFill/>
        <a:ln w="19050" algn="ctr">
          <a:noFill/>
          <a:round/>
          <a:headEnd/>
          <a:tailEnd/>
        </a:ln>
      </a:spPr>
      <a:bodyPr wrap="none" rtlCol="0">
        <a:spAutoFit/>
      </a:bodyPr>
      <a:lstStyle>
        <a:defPPr marL="268288" indent="-268288" fontAlgn="auto" latinLnBrk="0">
          <a:lnSpc>
            <a:spcPct val="110000"/>
          </a:lnSpc>
          <a:spcBef>
            <a:spcPct val="20000"/>
          </a:spcBef>
          <a:spcAft>
            <a:spcPts val="0"/>
          </a:spcAft>
          <a:buSzPct val="100000"/>
          <a:buFontTx/>
          <a:buBlip>
            <a:blip xmlns:r="http://schemas.openxmlformats.org/officeDocument/2006/relationships" r:embed="rId1"/>
          </a:buBlip>
          <a:defRPr kumimoji="0" sz="1400" b="1" kern="0" dirty="0" err="1" smtClean="0">
            <a:solidFill>
              <a:srgbClr val="000000"/>
            </a:solidFill>
            <a:latin typeface="산돌고딕 M" pitchFamily="18" charset="-127"/>
            <a:ea typeface="산돌고딕 M" pitchFamily="18" charset="-127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70102</TotalTime>
  <Words>1272</Words>
  <Application>Microsoft Office PowerPoint</Application>
  <PresentationFormat>A4 용지(210x297mm)</PresentationFormat>
  <Paragraphs>343</Paragraphs>
  <Slides>18</Slides>
  <Notes>7</Notes>
  <HiddenSlides>0</HiddenSlides>
  <MMClips>0</MMClips>
  <ScaleCrop>false</ScaleCrop>
  <HeadingPairs>
    <vt:vector size="6" baseType="variant">
      <vt:variant>
        <vt:lpstr>사용한 글꼴</vt:lpstr>
      </vt:variant>
      <vt:variant>
        <vt:i4>14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33" baseType="lpstr">
      <vt:lpstr>맑은 고딕</vt:lpstr>
      <vt:lpstr>산돌고딕 M</vt:lpstr>
      <vt:lpstr>Wingdings</vt:lpstr>
      <vt:lpstr>Wingdings 2</vt:lpstr>
      <vt:lpstr>맑은 고딕</vt:lpstr>
      <vt:lpstr>Gulim</vt:lpstr>
      <vt:lpstr>Calibri</vt:lpstr>
      <vt:lpstr>나눔고딕</vt:lpstr>
      <vt:lpstr>Gill Sans Light</vt:lpstr>
      <vt:lpstr>나눔고딕 ExtraBold</vt:lpstr>
      <vt:lpstr>Arial</vt:lpstr>
      <vt:lpstr>Gulim</vt:lpstr>
      <vt:lpstr>가는각진제목체</vt:lpstr>
      <vt:lpstr>Courier New</vt:lpstr>
      <vt:lpstr>1_Office 테마</vt:lpstr>
      <vt:lpstr>PowerPoint 프레젠테이션</vt:lpstr>
      <vt:lpstr>개요</vt:lpstr>
      <vt:lpstr>데이터 처리 및 고려사항</vt:lpstr>
      <vt:lpstr>소프트웨어 아키텍처</vt:lpstr>
      <vt:lpstr>소프트웨어 아키텍처</vt:lpstr>
      <vt:lpstr>서버 애플리케이션 컴포넌트</vt:lpstr>
      <vt:lpstr>데이터 처리 프로세스 검토</vt:lpstr>
      <vt:lpstr>프로토타이핑 기능</vt:lpstr>
      <vt:lpstr>데이터 전송 제한 지정 - QoS</vt:lpstr>
      <vt:lpstr>PowerPoint 프레젠테이션</vt:lpstr>
      <vt:lpstr>열린데이터 광장 XLS, CVS, JSON 다운로드 속도</vt:lpstr>
      <vt:lpstr>열린데이터 광장 XLS, CVS, JSON 다운로드 개선안</vt:lpstr>
      <vt:lpstr>PowerPoint 프레젠테이션</vt:lpstr>
      <vt:lpstr>내부망 – 외부망 파일 전송</vt:lpstr>
      <vt:lpstr>Appendix – TOS 주요 Component</vt:lpstr>
      <vt:lpstr>Appendix – TOS 주요 Component</vt:lpstr>
      <vt:lpstr>Appendix – TOS 주요 Component</vt:lpstr>
      <vt:lpstr>Appendix – TOS 주요 Component</vt:lpstr>
    </vt:vector>
  </TitlesOfParts>
  <Company>Open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Open</dc:creator>
  <cp:lastModifiedBy>정상헌</cp:lastModifiedBy>
  <cp:revision>4375</cp:revision>
  <cp:lastPrinted>2012-05-24T11:23:39Z</cp:lastPrinted>
  <dcterms:created xsi:type="dcterms:W3CDTF">2010-06-22T00:01:58Z</dcterms:created>
  <dcterms:modified xsi:type="dcterms:W3CDTF">2016-01-11T01:00:21Z</dcterms:modified>
</cp:coreProperties>
</file>