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-1258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A48D6-3AB6-4CEA-A4AB-E37F433752C0}" type="datetimeFigureOut">
              <a:rPr lang="ko-KR" altLang="en-US" smtClean="0"/>
              <a:t>2016-10-23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64949-840F-4ABA-80B4-3BB2CE187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65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33981" latinLnBrk="1">
              <a:defRPr/>
            </a:pPr>
            <a:fld id="{A92E57E6-DFF4-4C1E-9E9B-AC36C6B79886}" type="slidenum">
              <a:rPr lang="ko-KR" altLang="en-US" smtClean="0">
                <a:solidFill>
                  <a:prstClr val="black"/>
                </a:solidFill>
              </a:rPr>
              <a:pPr defTabSz="1033981" latinLnBrk="1"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38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80" y="0"/>
            <a:ext cx="2036223" cy="120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266067" y="1208034"/>
            <a:ext cx="4162040" cy="5094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961819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4623584" y="1208034"/>
            <a:ext cx="4193263" cy="5094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pic>
        <p:nvPicPr>
          <p:cNvPr id="8" name="그림 1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21429" r="1733" b="70950"/>
          <a:stretch>
            <a:fillRect/>
          </a:stretch>
        </p:blipFill>
        <p:spPr bwMode="auto">
          <a:xfrm>
            <a:off x="101811" y="1208033"/>
            <a:ext cx="8941735" cy="52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 userDrawn="1"/>
        </p:nvSpPr>
        <p:spPr>
          <a:xfrm>
            <a:off x="266067" y="1307383"/>
            <a:ext cx="8550781" cy="34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0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B452B00-BD82-464D-B86F-B99273B6D14E}" type="slidenum">
              <a:rPr lang="ko-KR" altLang="en-US" sz="1197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sz="1197" dirty="0">
              <a:solidFill>
                <a:prstClr val="black"/>
              </a:solidFill>
            </a:endParaRPr>
          </a:p>
        </p:txBody>
      </p:sp>
      <p:sp>
        <p:nvSpPr>
          <p:cNvPr id="12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EB899-8B11-4E34-AC1D-4AB1B3F7DAF2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2016-10-23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74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80" y="0"/>
            <a:ext cx="2036223" cy="120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266067" y="1208034"/>
            <a:ext cx="2462473" cy="509418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grpSp>
        <p:nvGrpSpPr>
          <p:cNvPr id="4" name="그룹 8"/>
          <p:cNvGrpSpPr>
            <a:grpSpLocks/>
          </p:cNvGrpSpPr>
          <p:nvPr userDrawn="1"/>
        </p:nvGrpSpPr>
        <p:grpSpPr bwMode="auto">
          <a:xfrm>
            <a:off x="266067" y="1363538"/>
            <a:ext cx="2636230" cy="694007"/>
            <a:chOff x="3215421" y="1955721"/>
            <a:chExt cx="3083747" cy="496715"/>
          </a:xfrm>
        </p:grpSpPr>
        <p:sp>
          <p:nvSpPr>
            <p:cNvPr id="5" name="직사각형 4"/>
            <p:cNvSpPr/>
            <p:nvPr/>
          </p:nvSpPr>
          <p:spPr>
            <a:xfrm>
              <a:off x="3215421" y="1955721"/>
              <a:ext cx="3080571" cy="35965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891917" latinLnBrk="0">
                <a:defRPr/>
              </a:pPr>
              <a:endParaRPr lang="ko-KR" altLang="en-US" sz="1368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" name="직각 삼각형 5"/>
            <p:cNvSpPr/>
            <p:nvPr/>
          </p:nvSpPr>
          <p:spPr>
            <a:xfrm flipV="1">
              <a:off x="6097502" y="2308162"/>
              <a:ext cx="201666" cy="144274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891917" latinLnBrk="0">
                <a:defRPr/>
              </a:pPr>
              <a:endParaRPr lang="ko-KR" altLang="en-US" sz="1539">
                <a:solidFill>
                  <a:prstClr val="white"/>
                </a:solidFill>
              </a:endParaRPr>
            </a:p>
          </p:txBody>
        </p:sp>
      </p:grpSp>
      <p:sp>
        <p:nvSpPr>
          <p:cNvPr id="7" name="직사각형 6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961819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0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DF2D938-D359-49D5-8953-DF6D24630308}" type="slidenum">
              <a:rPr lang="ko-KR" altLang="en-US" sz="1197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sz="1197" dirty="0">
              <a:solidFill>
                <a:prstClr val="black"/>
              </a:solidFill>
            </a:endParaRPr>
          </a:p>
        </p:txBody>
      </p:sp>
      <p:sp>
        <p:nvSpPr>
          <p:cNvPr id="12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4F61E-7FB3-4212-90E7-47F85AAE812D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2016-10-23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549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80" y="0"/>
            <a:ext cx="2036223" cy="120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961819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266067" y="1307383"/>
            <a:ext cx="8550781" cy="34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7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43E25577-E1B0-40B0-AFFC-BE351772372F}" type="slidenum">
              <a:rPr lang="ko-KR" altLang="en-US" sz="1197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sz="1197" dirty="0">
              <a:solidFill>
                <a:prstClr val="black"/>
              </a:solidFill>
            </a:endParaRPr>
          </a:p>
        </p:txBody>
      </p:sp>
      <p:sp>
        <p:nvSpPr>
          <p:cNvPr id="9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6F354-3965-405A-AA0B-37DFDBBD1282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2016-10-23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35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sp>
        <p:nvSpPr>
          <p:cNvPr id="3" name="직사각형 2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266067" y="1307383"/>
            <a:ext cx="8550781" cy="34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5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4" y="6498608"/>
            <a:ext cx="738895" cy="21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D1A472F-E1AA-490E-88F7-82C37E63A517}" type="slidenum">
              <a:rPr lang="ko-KR" altLang="en-US" sz="1197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sz="1197" dirty="0">
              <a:solidFill>
                <a:prstClr val="black"/>
              </a:solidFill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2016-10-23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08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80" y="0"/>
            <a:ext cx="2036223" cy="120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266067" y="1208034"/>
            <a:ext cx="8550781" cy="5094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961819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7" name="그림 1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" t="21429" r="50066" b="70950"/>
          <a:stretch>
            <a:fillRect/>
          </a:stretch>
        </p:blipFill>
        <p:spPr bwMode="auto">
          <a:xfrm>
            <a:off x="77377" y="1208033"/>
            <a:ext cx="8989247" cy="52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 userDrawn="1"/>
        </p:nvSpPr>
        <p:spPr>
          <a:xfrm>
            <a:off x="266067" y="1307383"/>
            <a:ext cx="8550781" cy="34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9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0D05BC6-F075-4CCB-B29F-85C8C3449DE2}" type="slidenum">
              <a:rPr lang="ko-KR" altLang="en-US" sz="1197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sz="1197" dirty="0">
              <a:solidFill>
                <a:prstClr val="black"/>
              </a:solidFill>
            </a:endParaRPr>
          </a:p>
        </p:txBody>
      </p:sp>
      <p:sp>
        <p:nvSpPr>
          <p:cNvPr id="11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34B69-7CC7-4E23-B0EE-699322B7FD28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2016-10-23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235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857" y="0"/>
            <a:ext cx="1441646" cy="84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latinLnBrk="0">
              <a:defRPr/>
            </a:pPr>
            <a:endParaRPr lang="ko-KR" altLang="en-US" sz="1539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751601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8E9945A-CC52-4F50-A03E-1A37F1C34639}" type="slidenum">
              <a:rPr lang="ko-KR" altLang="en-US" sz="1197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sz="1197" dirty="0">
              <a:solidFill>
                <a:prstClr val="black"/>
              </a:solidFill>
            </a:endParaRPr>
          </a:p>
        </p:txBody>
      </p:sp>
      <p:sp>
        <p:nvSpPr>
          <p:cNvPr id="8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A3D44-C8D9-4856-B0AB-FCA99AC55D47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2016-10-23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40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659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45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144000" cy="34282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latinLnBrk="0">
              <a:buFont typeface="Arial" panose="020B0604020202020204" pitchFamily="34" charset="0"/>
              <a:buChar char="•"/>
              <a:defRPr/>
            </a:pPr>
            <a:endParaRPr lang="ko-KR" altLang="en-US" sz="1026" dirty="0" err="1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00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40"/>
          <a:stretch>
            <a:fillRect/>
          </a:stretch>
        </p:blipFill>
        <p:spPr bwMode="auto">
          <a:xfrm>
            <a:off x="0" y="0"/>
            <a:ext cx="9160290" cy="278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그림 2" descr="IDigitalU.bmp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727" y="5976115"/>
            <a:ext cx="1418568" cy="83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271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472" y="275012"/>
            <a:ext cx="8229057" cy="114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472" y="1599673"/>
            <a:ext cx="8229057" cy="452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472" y="6356933"/>
            <a:ext cx="2133962" cy="364281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 defTabSz="891917" fontAlgn="auto">
              <a:spcBef>
                <a:spcPts val="0"/>
              </a:spcBef>
              <a:spcAft>
                <a:spcPts val="0"/>
              </a:spcAft>
              <a:defRPr kumimoji="0" sz="1197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latinLnBrk="0">
              <a:defRPr/>
            </a:pPr>
            <a:fld id="{723FA960-DDB2-4B55-B992-7005A9199C7E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 latinLnBrk="0">
                <a:defRPr/>
              </a:pPr>
              <a:t>2016-10-23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3567" y="6356933"/>
            <a:ext cx="2896867" cy="364281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 defTabSz="891917" fontAlgn="auto">
              <a:spcBef>
                <a:spcPts val="0"/>
              </a:spcBef>
              <a:spcAft>
                <a:spcPts val="0"/>
              </a:spcAft>
              <a:defRPr kumimoji="0" sz="1197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latinLnBrk="0"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2567" y="6356933"/>
            <a:ext cx="2133962" cy="364281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 defTabSz="891917" fontAlgn="auto">
              <a:spcBef>
                <a:spcPts val="0"/>
              </a:spcBef>
              <a:spcAft>
                <a:spcPts val="0"/>
              </a:spcAft>
              <a:defRPr kumimoji="0" sz="1197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latinLnBrk="0">
              <a:defRPr/>
            </a:pPr>
            <a:fld id="{B24E6F06-9684-4F2C-B1C8-9977D893A2D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atinLnBrk="0"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00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ctr" defTabSz="891859" rtl="0" eaLnBrk="0" fontAlgn="base" latinLnBrk="1" hangingPunct="0">
        <a:spcBef>
          <a:spcPct val="0"/>
        </a:spcBef>
        <a:spcAft>
          <a:spcPct val="0"/>
        </a:spcAft>
        <a:defRPr sz="4276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j-cs"/>
        </a:defRPr>
      </a:lvl1pPr>
      <a:lvl2pPr algn="ctr" defTabSz="891859" rtl="0" eaLnBrk="0" fontAlgn="base" latinLnBrk="1" hangingPunct="0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2pPr>
      <a:lvl3pPr algn="ctr" defTabSz="891859" rtl="0" eaLnBrk="0" fontAlgn="base" latinLnBrk="1" hangingPunct="0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3pPr>
      <a:lvl4pPr algn="ctr" defTabSz="891859" rtl="0" eaLnBrk="0" fontAlgn="base" latinLnBrk="1" hangingPunct="0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4pPr>
      <a:lvl5pPr algn="ctr" defTabSz="891859" rtl="0" eaLnBrk="0" fontAlgn="base" latinLnBrk="1" hangingPunct="0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5pPr>
      <a:lvl6pPr marL="390952" algn="ctr" defTabSz="891859" rtl="0" fontAlgn="base" latinLnBrk="1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6pPr>
      <a:lvl7pPr marL="781903" algn="ctr" defTabSz="891859" rtl="0" fontAlgn="base" latinLnBrk="1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7pPr>
      <a:lvl8pPr marL="1172855" algn="ctr" defTabSz="891859" rtl="0" fontAlgn="base" latinLnBrk="1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8pPr>
      <a:lvl9pPr marL="1563807" algn="ctr" defTabSz="891859" rtl="0" fontAlgn="base" latinLnBrk="1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9pPr>
    </p:titleStyle>
    <p:bodyStyle>
      <a:lvl1pPr marL="333938" indent="-333938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164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723533" indent="-278282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736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114484" indent="-222625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309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559735" indent="-222625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967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006343" indent="-222625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967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452772" indent="-222979" algn="l" defTabSz="891917" rtl="0" eaLnBrk="1" latinLnBrk="1" hangingPunct="1">
        <a:spcBef>
          <a:spcPct val="20000"/>
        </a:spcBef>
        <a:buFont typeface="Arial" panose="020B0604020202020204" pitchFamily="34" charset="0"/>
        <a:buChar char="•"/>
        <a:defRPr sz="1967" kern="1200">
          <a:solidFill>
            <a:schemeClr val="tx1"/>
          </a:solidFill>
          <a:latin typeface="+mn-lt"/>
          <a:ea typeface="+mn-ea"/>
          <a:cs typeface="+mn-cs"/>
        </a:defRPr>
      </a:lvl6pPr>
      <a:lvl7pPr marL="2898731" indent="-222979" algn="l" defTabSz="891917" rtl="0" eaLnBrk="1" latinLnBrk="1" hangingPunct="1">
        <a:spcBef>
          <a:spcPct val="20000"/>
        </a:spcBef>
        <a:buFont typeface="Arial" panose="020B0604020202020204" pitchFamily="34" charset="0"/>
        <a:buChar char="•"/>
        <a:defRPr sz="1967" kern="1200">
          <a:solidFill>
            <a:schemeClr val="tx1"/>
          </a:solidFill>
          <a:latin typeface="+mn-lt"/>
          <a:ea typeface="+mn-ea"/>
          <a:cs typeface="+mn-cs"/>
        </a:defRPr>
      </a:lvl7pPr>
      <a:lvl8pPr marL="3344689" indent="-222979" algn="l" defTabSz="891917" rtl="0" eaLnBrk="1" latinLnBrk="1" hangingPunct="1">
        <a:spcBef>
          <a:spcPct val="20000"/>
        </a:spcBef>
        <a:buFont typeface="Arial" panose="020B0604020202020204" pitchFamily="34" charset="0"/>
        <a:buChar char="•"/>
        <a:defRPr sz="1967" kern="1200">
          <a:solidFill>
            <a:schemeClr val="tx1"/>
          </a:solidFill>
          <a:latin typeface="+mn-lt"/>
          <a:ea typeface="+mn-ea"/>
          <a:cs typeface="+mn-cs"/>
        </a:defRPr>
      </a:lvl8pPr>
      <a:lvl9pPr marL="3790648" indent="-222979" algn="l" defTabSz="891917" rtl="0" eaLnBrk="1" latinLnBrk="1" hangingPunct="1">
        <a:spcBef>
          <a:spcPct val="20000"/>
        </a:spcBef>
        <a:buFont typeface="Arial" panose="020B0604020202020204" pitchFamily="34" charset="0"/>
        <a:buChar char="•"/>
        <a:defRPr sz="19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1pPr>
      <a:lvl2pPr marL="445959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891917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3pPr>
      <a:lvl4pPr marL="1337876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4pPr>
      <a:lvl5pPr marL="1783834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5pPr>
      <a:lvl6pPr marL="2229793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675752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121710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567669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421339" y="440809"/>
            <a:ext cx="1946640" cy="315801"/>
          </a:xfrm>
          <a:prstGeom prst="rect">
            <a:avLst/>
          </a:prstGeom>
          <a:noFill/>
        </p:spPr>
        <p:txBody>
          <a:bodyPr wrap="none" lIns="78177" tIns="39089" rIns="78177" bIns="39089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17372" defTabSz="891917">
              <a:spcBef>
                <a:spcPts val="231"/>
              </a:spcBef>
              <a:defRPr/>
            </a:pPr>
            <a:r>
              <a:rPr lang="ko-KR" altLang="en-US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cs typeface="Malgun Gothic"/>
              </a:rPr>
              <a:t>시나리오 작성 개요 </a:t>
            </a:r>
            <a:endParaRPr lang="en-US" altLang="ko-KR" sz="1539" b="1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cs typeface="Malgun Gothic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05316" y="899016"/>
            <a:ext cx="8599372" cy="19618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488" defTabSz="808916" fontAlgn="base">
              <a:spcBef>
                <a:spcPct val="0"/>
              </a:spcBef>
              <a:spcAft>
                <a:spcPct val="0"/>
              </a:spcAft>
              <a:tabLst>
                <a:tab pos="206846" algn="l"/>
              </a:tabLst>
            </a:pP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다양한 활용 상황을 가정하고 각 상황에 대한 사용자 </a:t>
            </a:r>
            <a:r>
              <a:rPr kumimoji="1" lang="ko-KR" altLang="en-US" sz="1088" dirty="0" err="1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니즈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규명 목적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90488" defTabSz="808916" fontAlgn="base">
              <a:spcBef>
                <a:spcPct val="0"/>
              </a:spcBef>
              <a:spcAft>
                <a:spcPct val="0"/>
              </a:spcAft>
              <a:tabLst>
                <a:tab pos="206846" algn="l"/>
              </a:tabLst>
            </a:pP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다음과 같은 요소로 시나리오 구성</a:t>
            </a:r>
            <a:endParaRPr kumimoji="1" lang="en-US" altLang="ko-KR" sz="1088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06846" defTabSz="808916" fontAlgn="base">
              <a:spcBef>
                <a:spcPct val="0"/>
              </a:spcBef>
              <a:spcAft>
                <a:spcPct val="0"/>
              </a:spcAft>
              <a:tabLst>
                <a:tab pos="206846" algn="l"/>
              </a:tabLst>
            </a:pPr>
            <a:endParaRPr kumimoji="1" lang="en-US" altLang="ko-KR" sz="1088" b="1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06846" defTabSz="808916" fontAlgn="base">
              <a:spcBef>
                <a:spcPct val="0"/>
              </a:spcBef>
              <a:spcAft>
                <a:spcPct val="0"/>
              </a:spcAft>
              <a:tabLst>
                <a:tab pos="206846" algn="l"/>
              </a:tabLst>
            </a:pPr>
            <a:r>
              <a:rPr kumimoji="1" lang="en-US" altLang="ko-KR" sz="1088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1" lang="ko-KR" altLang="en-US" sz="1088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</a:t>
            </a:r>
            <a:r>
              <a:rPr kumimoji="1" lang="en-US" altLang="ko-KR" sz="1088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1088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활용 과업의 목적</a:t>
            </a:r>
            <a:endParaRPr kumimoji="1" lang="en-US" altLang="ko-KR" sz="1088" b="1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06375" defTabSz="808916" fontAlgn="base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</a:pP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시나리오의 형성을 위해 시스템의 최종 활용 목적을 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가지로 분류하였음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사고 모니터링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 교통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대기환경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투자사업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여론 동향</a:t>
            </a:r>
            <a:endParaRPr kumimoji="1" lang="en-US" altLang="ko-KR" sz="1088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06846" lvl="0" defTabSz="808916" fontAlgn="base">
              <a:spcBef>
                <a:spcPct val="0"/>
              </a:spcBef>
              <a:spcAft>
                <a:spcPct val="0"/>
              </a:spcAft>
              <a:tabLst>
                <a:tab pos="206846" algn="l"/>
              </a:tabLst>
            </a:pPr>
            <a:r>
              <a:rPr kumimoji="1" lang="en-US" altLang="ko-KR" sz="1088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1" lang="ko-KR" altLang="en-US" sz="1088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목적의 맥락</a:t>
            </a:r>
            <a:endParaRPr kumimoji="1" lang="en-US" altLang="ko-KR" sz="1088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06846" defTabSz="808916" fontAlgn="base">
              <a:spcBef>
                <a:spcPct val="0"/>
              </a:spcBef>
              <a:spcAft>
                <a:spcPct val="0"/>
              </a:spcAft>
              <a:tabLst>
                <a:tab pos="206846" algn="l"/>
              </a:tabLst>
            </a:pP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페르소나가 시스템 활용 목적을 달성하기 위한 과업을 나열한 후 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가지 맥락에 따라 시나리오를 작성하였음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개인집무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외빈에게 소개</a:t>
            </a:r>
            <a:endParaRPr kumimoji="1" lang="en-US" altLang="ko-KR" sz="1088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06846" defTabSz="808916" fontAlgn="base">
              <a:spcBef>
                <a:spcPct val="0"/>
              </a:spcBef>
              <a:spcAft>
                <a:spcPct val="0"/>
              </a:spcAft>
              <a:tabLst>
                <a:tab pos="206846" algn="l"/>
              </a:tabLst>
            </a:pPr>
            <a:r>
              <a:rPr kumimoji="1" lang="en-US" altLang="ko-KR" sz="1088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kumimoji="1" lang="ko-KR" altLang="en-US" sz="1088" b="1" dirty="0" err="1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콘트롤</a:t>
            </a:r>
            <a:r>
              <a:rPr kumimoji="1" lang="ko-KR" altLang="en-US" sz="1088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조작 방식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err="1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모션링</a:t>
            </a:r>
            <a:r>
              <a:rPr kumimoji="1" lang="en-US" altLang="ko-KR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88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터치패드와 터치스크린</a:t>
            </a:r>
            <a:endParaRPr kumimoji="1" lang="en-US" altLang="ko-KR" sz="1088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05316" y="3086342"/>
            <a:ext cx="4466272" cy="334162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ko-KR" altLang="en-US" sz="1000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과업의 목적 내용 구성 시 고려사항</a:t>
            </a:r>
            <a:endParaRPr kumimoji="1" lang="en-US" altLang="ko-KR" sz="1000" b="1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endParaRPr kumimoji="1" lang="en-US" altLang="ko-KR" sz="1000" b="1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사고 모니터링</a:t>
            </a:r>
            <a:endParaRPr kumimoji="1" lang="en-US" altLang="ko-KR" sz="1000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중요한 사건인 경우 첫 화면에서 </a:t>
            </a:r>
            <a:r>
              <a:rPr kumimoji="1" lang="ko-KR" altLang="en-US" sz="10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알람을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줌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사건 현장에 대한 영상 및 사진을 실시간으로 공유됨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시스템을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통해 호출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전화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가능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사건이 일어나기 전 예방 대책 및 대피훈련에 대한 정보는 발생된 사건과 별도로 분류되어 보여짐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사건이 일어난 후에는 사고 처리 정도가 보여짐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</a:pPr>
            <a:endParaRPr kumimoji="1" lang="en-US" altLang="ko-KR" sz="1000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 교통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 환경</a:t>
            </a:r>
            <a:endParaRPr kumimoji="1" lang="en-US" altLang="ko-KR" sz="1000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지도의 확대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축소를 자유롭게 할 수 있음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지역에 대한 영상 및 사진이 실시간으로 공유됨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 부서의 보고목록 및 담당자를 보고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시스템을 통해 호출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전화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가능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</a:pPr>
            <a:endParaRPr kumimoji="1" lang="en-US" altLang="ko-KR" sz="1000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투자사업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 현황</a:t>
            </a:r>
            <a:endParaRPr kumimoji="1" lang="en-US" altLang="ko-KR" sz="1000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지표의 수가 많으므로 지표의 성격 별로 분류하여 탐색을 용이하게 함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그래프 확대 및 선택 가능함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 부서의 보고목록 및 담당자를 보고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시스템을 통해 호출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전화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가능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789284" y="3105823"/>
            <a:ext cx="4015404" cy="14209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ko-KR" altLang="en-US" sz="1000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맥락 내용 구성 시 고려사항 </a:t>
            </a:r>
            <a:endParaRPr kumimoji="1" lang="en-US" altLang="ko-KR" sz="1000" b="1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endParaRPr kumimoji="1" lang="ko-KR" altLang="en-US" sz="10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</a:t>
            </a:r>
            <a:endParaRPr kumimoji="1" lang="ko-KR" altLang="en-US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 및 내부직원이 참석하여 회의를 진행하는 상황 가정</a:t>
            </a: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외빈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접대</a:t>
            </a: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 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또는 내부 직원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외부 인사에게 서울시 시정을 소개하거나 시스템을 소개하는 상황 가정</a:t>
            </a: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개인집무 </a:t>
            </a:r>
            <a:endParaRPr kumimoji="1" lang="ko-KR" altLang="en-US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 혼자 개인 집무를 수행하는 상황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가정</a:t>
            </a:r>
            <a:endParaRPr kumimoji="1" lang="ko-KR" altLang="en-US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789284" y="4635375"/>
            <a:ext cx="4015403" cy="179259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ko-KR" altLang="en-US" sz="1000" b="1" dirty="0" err="1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콘트롤</a:t>
            </a:r>
            <a:r>
              <a:rPr kumimoji="1" lang="ko-KR" altLang="en-US" sz="1000" b="1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내용 구성 시 고려사항</a:t>
            </a:r>
            <a:endParaRPr kumimoji="1" lang="en-US" altLang="ko-KR" sz="1000" b="1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endParaRPr kumimoji="1" lang="ko-KR" altLang="en-US" sz="10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 </a:t>
            </a:r>
            <a:endParaRPr kumimoji="1" lang="ko-KR" altLang="en-US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대상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+action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형태의 명령어 인식 가정</a:t>
            </a: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제스쳐</a:t>
            </a:r>
            <a:endParaRPr kumimoji="1" lang="ko-KR" altLang="en-US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웨어러블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컨트롤 디바이스 </a:t>
            </a:r>
            <a:r>
              <a:rPr kumimoji="1" lang="ko-KR" altLang="en-US" sz="10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모션링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활용</a:t>
            </a: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포인팅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스크롤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줌인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줌아웃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타이핑 기능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활용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defTabSz="808916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터치패드 및 터치스크린</a:t>
            </a:r>
            <a:endParaRPr kumimoji="1" lang="en-US" altLang="ko-KR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터치패드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포인팅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스크롤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줌인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줌아웃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 활용</a:t>
            </a:r>
            <a:endParaRPr kumimoji="1" lang="en-US" altLang="ko-KR" sz="1000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9250" indent="-171450" defTabSz="808916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177800" algn="l"/>
              </a:tabLst>
            </a:pP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터치스크린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포인팅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스크롤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줌인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0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줌아웃</a:t>
            </a:r>
            <a:r>
              <a:rPr kumimoji="1" lang="en-US" altLang="ko-KR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타이핑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 활용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메인화면과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같은 </a:t>
            </a:r>
            <a:r>
              <a:rPr kumimoji="1"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화면이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보여짐</a:t>
            </a:r>
            <a:endParaRPr kumimoji="1" lang="ko-KR" altLang="en-US" sz="10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2906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 sz="1200" dirty="0" smtClean="0">
            <a:solidFill>
              <a:schemeClr val="tx1"/>
            </a:solidFill>
            <a:latin typeface="KoPub돋움체 Medium" panose="02020603020101020101" pitchFamily="18" charset="-127"/>
            <a:ea typeface="KoPub돋움체 Medium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288</Words>
  <Application>Microsoft Office PowerPoint</Application>
  <PresentationFormat>화면 슬라이드 쇼(4:3)</PresentationFormat>
  <Paragraphs>46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1_Office 테마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Rhie</dc:creator>
  <cp:lastModifiedBy>Bahn SangWoo</cp:lastModifiedBy>
  <cp:revision>18</cp:revision>
  <dcterms:created xsi:type="dcterms:W3CDTF">2016-10-22T14:34:44Z</dcterms:created>
  <dcterms:modified xsi:type="dcterms:W3CDTF">2016-10-22T16:00:02Z</dcterms:modified>
</cp:coreProperties>
</file>