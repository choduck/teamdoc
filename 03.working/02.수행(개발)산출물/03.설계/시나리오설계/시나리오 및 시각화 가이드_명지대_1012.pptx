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9" r:id="rId2"/>
    <p:sldId id="260" r:id="rId3"/>
    <p:sldId id="261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154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99CCC-6DE1-4266-8653-159B48C4AF06}" type="datetimeFigureOut">
              <a:rPr lang="ko-KR" altLang="en-US" smtClean="0"/>
              <a:t>2016-10-12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E890D-7971-421B-ABE4-4D1DAF216C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3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282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3398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E57E6-DFF4-4C1E-9E9B-AC36C6B79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103398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53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280" y="0"/>
            <a:ext cx="2036223" cy="120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266067" y="1208034"/>
            <a:ext cx="4162040" cy="5094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39"/>
          </a:p>
        </p:txBody>
      </p:sp>
      <p:sp>
        <p:nvSpPr>
          <p:cNvPr id="4" name="직사각형 3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39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961819"/>
            <a:ext cx="9144000" cy="4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4623584" y="1208034"/>
            <a:ext cx="4193263" cy="5094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39"/>
          </a:p>
        </p:txBody>
      </p:sp>
      <p:pic>
        <p:nvPicPr>
          <p:cNvPr id="8" name="그림 1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" t="21429" r="1733" b="70950"/>
          <a:stretch>
            <a:fillRect/>
          </a:stretch>
        </p:blipFill>
        <p:spPr bwMode="auto">
          <a:xfrm>
            <a:off x="101811" y="1208033"/>
            <a:ext cx="8941735" cy="52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 userDrawn="1"/>
        </p:nvSpPr>
        <p:spPr>
          <a:xfrm>
            <a:off x="266067" y="1307383"/>
            <a:ext cx="8550781" cy="34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0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1" y="6368451"/>
            <a:ext cx="990962" cy="2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B452B00-BD82-464D-B86F-B99273B6D14E}" type="slidenum">
              <a:rPr kumimoji="0" lang="ko-KR" altLang="en-US" sz="1197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197" dirty="0">
              <a:solidFill>
                <a:schemeClr val="tx1"/>
              </a:solidFill>
            </a:endParaRPr>
          </a:p>
        </p:txBody>
      </p:sp>
      <p:sp>
        <p:nvSpPr>
          <p:cNvPr id="12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EB899-8B11-4E34-AC1D-4AB1B3F7DAF2}" type="datetimeFigureOut">
              <a:rPr lang="ko-KR" altLang="en-US"/>
              <a:pPr>
                <a:defRPr/>
              </a:pPr>
              <a:t>2016-10-12</a:t>
            </a:fld>
            <a:endParaRPr lang="ko-KR" altLang="en-US"/>
          </a:p>
        </p:txBody>
      </p:sp>
      <p:sp>
        <p:nvSpPr>
          <p:cNvPr id="13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101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280" y="0"/>
            <a:ext cx="2036223" cy="120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266067" y="1208034"/>
            <a:ext cx="2462473" cy="509418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39"/>
          </a:p>
        </p:txBody>
      </p:sp>
      <p:grpSp>
        <p:nvGrpSpPr>
          <p:cNvPr id="4" name="그룹 8"/>
          <p:cNvGrpSpPr>
            <a:grpSpLocks/>
          </p:cNvGrpSpPr>
          <p:nvPr userDrawn="1"/>
        </p:nvGrpSpPr>
        <p:grpSpPr bwMode="auto">
          <a:xfrm>
            <a:off x="266067" y="1363538"/>
            <a:ext cx="2636230" cy="694007"/>
            <a:chOff x="3215421" y="1955721"/>
            <a:chExt cx="3083747" cy="496715"/>
          </a:xfrm>
        </p:grpSpPr>
        <p:sp>
          <p:nvSpPr>
            <p:cNvPr id="5" name="직사각형 4"/>
            <p:cNvSpPr/>
            <p:nvPr/>
          </p:nvSpPr>
          <p:spPr>
            <a:xfrm>
              <a:off x="3215421" y="1955721"/>
              <a:ext cx="3080571" cy="35965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89191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368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" name="직각 삼각형 5"/>
            <p:cNvSpPr/>
            <p:nvPr/>
          </p:nvSpPr>
          <p:spPr>
            <a:xfrm flipV="1">
              <a:off x="6097502" y="2308162"/>
              <a:ext cx="201666" cy="144274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89191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539"/>
            </a:p>
          </p:txBody>
        </p:sp>
      </p:grpSp>
      <p:sp>
        <p:nvSpPr>
          <p:cNvPr id="7" name="직사각형 6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39"/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961819"/>
            <a:ext cx="9144000" cy="4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0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1" y="6368451"/>
            <a:ext cx="990962" cy="2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DF2D938-D359-49D5-8953-DF6D24630308}" type="slidenum">
              <a:rPr kumimoji="0" lang="ko-KR" altLang="en-US" sz="1197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197" dirty="0">
              <a:solidFill>
                <a:schemeClr val="tx1"/>
              </a:solidFill>
            </a:endParaRPr>
          </a:p>
        </p:txBody>
      </p:sp>
      <p:sp>
        <p:nvSpPr>
          <p:cNvPr id="12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4F61E-7FB3-4212-90E7-47F85AAE812D}" type="datetimeFigureOut">
              <a:rPr lang="ko-KR" altLang="en-US"/>
              <a:pPr>
                <a:defRPr/>
              </a:pPr>
              <a:t>2016-10-12</a:t>
            </a:fld>
            <a:endParaRPr lang="ko-KR" altLang="en-US"/>
          </a:p>
        </p:txBody>
      </p:sp>
      <p:sp>
        <p:nvSpPr>
          <p:cNvPr id="13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988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280" y="0"/>
            <a:ext cx="2036223" cy="120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39"/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961819"/>
            <a:ext cx="9144000" cy="4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266067" y="1307383"/>
            <a:ext cx="8550781" cy="34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7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1" y="6368451"/>
            <a:ext cx="990962" cy="2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43E25577-E1B0-40B0-AFFC-BE351772372F}" type="slidenum">
              <a:rPr kumimoji="0" lang="ko-KR" altLang="en-US" sz="1197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197" dirty="0">
              <a:solidFill>
                <a:schemeClr val="tx1"/>
              </a:solidFill>
            </a:endParaRPr>
          </a:p>
        </p:txBody>
      </p:sp>
      <p:sp>
        <p:nvSpPr>
          <p:cNvPr id="9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6F354-3965-405A-AA0B-37DFDBBD1282}" type="datetimeFigureOut">
              <a:rPr lang="ko-KR" altLang="en-US"/>
              <a:pPr>
                <a:defRPr/>
              </a:pPr>
              <a:t>2016-10-12</a:t>
            </a:fld>
            <a:endParaRPr lang="ko-KR" altLang="en-US"/>
          </a:p>
        </p:txBody>
      </p:sp>
      <p:sp>
        <p:nvSpPr>
          <p:cNvPr id="10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257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39"/>
          </a:p>
        </p:txBody>
      </p:sp>
      <p:sp>
        <p:nvSpPr>
          <p:cNvPr id="3" name="직사각형 2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>
            <a:off x="266067" y="1307383"/>
            <a:ext cx="8550781" cy="34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5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34" y="6498608"/>
            <a:ext cx="738895" cy="21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D1A472F-E1AA-490E-88F7-82C37E63A517}" type="slidenum">
              <a:rPr kumimoji="0" lang="ko-KR" altLang="en-US" sz="1197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197" dirty="0">
              <a:solidFill>
                <a:schemeClr val="tx1"/>
              </a:solidFill>
            </a:endParaRPr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32157-8C18-4859-9A25-315986C0BC0D}" type="datetimeFigureOut">
              <a:rPr lang="ko-KR" altLang="en-US"/>
              <a:pPr>
                <a:defRPr/>
              </a:pPr>
              <a:t>2016-10-12</a:t>
            </a:fld>
            <a:endParaRPr lang="ko-KR" altLang="en-US"/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3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280" y="0"/>
            <a:ext cx="2036223" cy="120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266067" y="1208034"/>
            <a:ext cx="8550781" cy="50941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39"/>
          </a:p>
        </p:txBody>
      </p:sp>
      <p:sp>
        <p:nvSpPr>
          <p:cNvPr id="4" name="직사각형 3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39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961819"/>
            <a:ext cx="9144000" cy="4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7" name="그림 1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" t="21429" r="50066" b="70950"/>
          <a:stretch>
            <a:fillRect/>
          </a:stretch>
        </p:blipFill>
        <p:spPr bwMode="auto">
          <a:xfrm>
            <a:off x="77377" y="1208033"/>
            <a:ext cx="8989247" cy="52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 userDrawn="1"/>
        </p:nvSpPr>
        <p:spPr>
          <a:xfrm>
            <a:off x="266067" y="1307383"/>
            <a:ext cx="8550781" cy="34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9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1" y="6368451"/>
            <a:ext cx="990962" cy="2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20D05BC6-F075-4CCB-B29F-85C8C3449DE2}" type="slidenum">
              <a:rPr kumimoji="0" lang="ko-KR" altLang="en-US" sz="1197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197" dirty="0">
              <a:solidFill>
                <a:schemeClr val="tx1"/>
              </a:solidFill>
            </a:endParaRPr>
          </a:p>
        </p:txBody>
      </p:sp>
      <p:sp>
        <p:nvSpPr>
          <p:cNvPr id="11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34B69-7CC7-4E23-B0EE-699322B7FD28}" type="datetimeFigureOut">
              <a:rPr lang="ko-KR" altLang="en-US"/>
              <a:pPr>
                <a:defRPr/>
              </a:pPr>
              <a:t>2016-10-12</a:t>
            </a:fld>
            <a:endParaRPr lang="ko-KR" altLang="en-US"/>
          </a:p>
        </p:txBody>
      </p:sp>
      <p:sp>
        <p:nvSpPr>
          <p:cNvPr id="12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14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" descr="IDigitalU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857" y="0"/>
            <a:ext cx="1441646" cy="849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>
          <a:xfrm>
            <a:off x="363806" y="1363538"/>
            <a:ext cx="62444" cy="87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91917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39"/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9144000" cy="1569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751601"/>
            <a:ext cx="9144000" cy="46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6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1" y="6368451"/>
            <a:ext cx="990962" cy="2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슬라이드 번호 개체 틀 1"/>
          <p:cNvSpPr txBox="1">
            <a:spLocks/>
          </p:cNvSpPr>
          <p:nvPr userDrawn="1"/>
        </p:nvSpPr>
        <p:spPr>
          <a:xfrm>
            <a:off x="7361626" y="6256143"/>
            <a:ext cx="1455221" cy="516905"/>
          </a:xfrm>
          <a:prstGeom prst="rect">
            <a:avLst/>
          </a:prstGeom>
        </p:spPr>
        <p:txBody>
          <a:bodyPr lIns="89193" tIns="44596" rIns="89193" bIns="44596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38E9945A-CC52-4F50-A03E-1A37F1C34639}" type="slidenum">
              <a:rPr kumimoji="0" lang="ko-KR" altLang="en-US" sz="1197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197" dirty="0">
              <a:solidFill>
                <a:schemeClr val="tx1"/>
              </a:solidFill>
            </a:endParaRPr>
          </a:p>
        </p:txBody>
      </p:sp>
      <p:sp>
        <p:nvSpPr>
          <p:cNvPr id="8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1A3D44-C8D9-4856-B0AB-FCA99AC55D47}" type="datetimeFigureOut">
              <a:rPr lang="ko-KR" altLang="en-US"/>
              <a:pPr>
                <a:defRPr/>
              </a:pPr>
              <a:t>2016-10-12</a:t>
            </a:fld>
            <a:endParaRPr lang="ko-KR" altLang="en-US"/>
          </a:p>
        </p:txBody>
      </p:sp>
      <p:sp>
        <p:nvSpPr>
          <p:cNvPr id="9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19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3323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116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144000" cy="34282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661" indent="-74661" algn="ctr" defTabSz="891917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026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648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472" y="275012"/>
            <a:ext cx="8229057" cy="114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472" y="1599673"/>
            <a:ext cx="8229057" cy="452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472" y="6356933"/>
            <a:ext cx="2133962" cy="364281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 defTabSz="891917" fontAlgn="auto">
              <a:spcBef>
                <a:spcPts val="0"/>
              </a:spcBef>
              <a:spcAft>
                <a:spcPts val="0"/>
              </a:spcAft>
              <a:defRPr kumimoji="0" sz="1197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23FA960-DDB2-4B55-B992-7005A9199C7E}" type="datetimeFigureOut">
              <a:rPr lang="ko-KR" altLang="en-US"/>
              <a:pPr>
                <a:defRPr/>
              </a:pPr>
              <a:t>2016-10-12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3567" y="6356933"/>
            <a:ext cx="2896867" cy="364281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 defTabSz="891917" fontAlgn="auto">
              <a:spcBef>
                <a:spcPts val="0"/>
              </a:spcBef>
              <a:spcAft>
                <a:spcPts val="0"/>
              </a:spcAft>
              <a:defRPr kumimoji="0" sz="1197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2567" y="6356933"/>
            <a:ext cx="2133962" cy="364281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 defTabSz="891917" fontAlgn="auto">
              <a:spcBef>
                <a:spcPts val="0"/>
              </a:spcBef>
              <a:spcAft>
                <a:spcPts val="0"/>
              </a:spcAft>
              <a:defRPr kumimoji="0" sz="1197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24E6F06-9684-4F2C-B1C8-9977D893A2D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36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ctr" defTabSz="891859" rtl="0" eaLnBrk="0" fontAlgn="base" latinLnBrk="1" hangingPunct="0">
        <a:spcBef>
          <a:spcPct val="0"/>
        </a:spcBef>
        <a:spcAft>
          <a:spcPct val="0"/>
        </a:spcAft>
        <a:defRPr sz="4276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j-cs"/>
        </a:defRPr>
      </a:lvl1pPr>
      <a:lvl2pPr algn="ctr" defTabSz="891859" rtl="0" eaLnBrk="0" fontAlgn="base" latinLnBrk="1" hangingPunct="0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2pPr>
      <a:lvl3pPr algn="ctr" defTabSz="891859" rtl="0" eaLnBrk="0" fontAlgn="base" latinLnBrk="1" hangingPunct="0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3pPr>
      <a:lvl4pPr algn="ctr" defTabSz="891859" rtl="0" eaLnBrk="0" fontAlgn="base" latinLnBrk="1" hangingPunct="0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4pPr>
      <a:lvl5pPr algn="ctr" defTabSz="891859" rtl="0" eaLnBrk="0" fontAlgn="base" latinLnBrk="1" hangingPunct="0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5pPr>
      <a:lvl6pPr marL="390952" algn="ctr" defTabSz="891859" rtl="0" fontAlgn="base" latinLnBrk="1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6pPr>
      <a:lvl7pPr marL="781903" algn="ctr" defTabSz="891859" rtl="0" fontAlgn="base" latinLnBrk="1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7pPr>
      <a:lvl8pPr marL="1172855" algn="ctr" defTabSz="891859" rtl="0" fontAlgn="base" latinLnBrk="1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8pPr>
      <a:lvl9pPr marL="1563807" algn="ctr" defTabSz="891859" rtl="0" fontAlgn="base" latinLnBrk="1">
        <a:spcBef>
          <a:spcPct val="0"/>
        </a:spcBef>
        <a:spcAft>
          <a:spcPct val="0"/>
        </a:spcAft>
        <a:defRPr sz="4276">
          <a:solidFill>
            <a:schemeClr val="tx1"/>
          </a:solidFill>
          <a:latin typeface="Malgun Gothic" pitchFamily="50" charset="-127"/>
          <a:ea typeface="Malgun Gothic" pitchFamily="50" charset="-127"/>
        </a:defRPr>
      </a:lvl9pPr>
    </p:titleStyle>
    <p:bodyStyle>
      <a:lvl1pPr marL="333938" indent="-333938" algn="l" defTabSz="89185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164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1pPr>
      <a:lvl2pPr marL="723533" indent="-278282" algn="l" defTabSz="89185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736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2pPr>
      <a:lvl3pPr marL="1114484" indent="-222625" algn="l" defTabSz="89185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309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3pPr>
      <a:lvl4pPr marL="1559735" indent="-222625" algn="l" defTabSz="89185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967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4pPr>
      <a:lvl5pPr marL="2006343" indent="-222625" algn="l" defTabSz="89185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967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5pPr>
      <a:lvl6pPr marL="2452772" indent="-222979" algn="l" defTabSz="891917" rtl="0" eaLnBrk="1" latinLnBrk="1" hangingPunct="1">
        <a:spcBef>
          <a:spcPct val="20000"/>
        </a:spcBef>
        <a:buFont typeface="Arial" panose="020B0604020202020204" pitchFamily="34" charset="0"/>
        <a:buChar char="•"/>
        <a:defRPr sz="1967" kern="1200">
          <a:solidFill>
            <a:schemeClr val="tx1"/>
          </a:solidFill>
          <a:latin typeface="+mn-lt"/>
          <a:ea typeface="+mn-ea"/>
          <a:cs typeface="+mn-cs"/>
        </a:defRPr>
      </a:lvl6pPr>
      <a:lvl7pPr marL="2898731" indent="-222979" algn="l" defTabSz="891917" rtl="0" eaLnBrk="1" latinLnBrk="1" hangingPunct="1">
        <a:spcBef>
          <a:spcPct val="20000"/>
        </a:spcBef>
        <a:buFont typeface="Arial" panose="020B0604020202020204" pitchFamily="34" charset="0"/>
        <a:buChar char="•"/>
        <a:defRPr sz="1967" kern="1200">
          <a:solidFill>
            <a:schemeClr val="tx1"/>
          </a:solidFill>
          <a:latin typeface="+mn-lt"/>
          <a:ea typeface="+mn-ea"/>
          <a:cs typeface="+mn-cs"/>
        </a:defRPr>
      </a:lvl7pPr>
      <a:lvl8pPr marL="3344689" indent="-222979" algn="l" defTabSz="891917" rtl="0" eaLnBrk="1" latinLnBrk="1" hangingPunct="1">
        <a:spcBef>
          <a:spcPct val="20000"/>
        </a:spcBef>
        <a:buFont typeface="Arial" panose="020B0604020202020204" pitchFamily="34" charset="0"/>
        <a:buChar char="•"/>
        <a:defRPr sz="1967" kern="1200">
          <a:solidFill>
            <a:schemeClr val="tx1"/>
          </a:solidFill>
          <a:latin typeface="+mn-lt"/>
          <a:ea typeface="+mn-ea"/>
          <a:cs typeface="+mn-cs"/>
        </a:defRPr>
      </a:lvl8pPr>
      <a:lvl9pPr marL="3790648" indent="-222979" algn="l" defTabSz="891917" rtl="0" eaLnBrk="1" latinLnBrk="1" hangingPunct="1">
        <a:spcBef>
          <a:spcPct val="20000"/>
        </a:spcBef>
        <a:buFont typeface="Arial" panose="020B0604020202020204" pitchFamily="34" charset="0"/>
        <a:buChar char="•"/>
        <a:defRPr sz="19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1pPr>
      <a:lvl2pPr marL="445959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2pPr>
      <a:lvl3pPr marL="891917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3pPr>
      <a:lvl4pPr marL="1337876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4pPr>
      <a:lvl5pPr marL="1783834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5pPr>
      <a:lvl6pPr marL="2229793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6pPr>
      <a:lvl7pPr marL="2675752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7pPr>
      <a:lvl8pPr marL="3121710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8pPr>
      <a:lvl9pPr marL="3567669" algn="l" defTabSz="891917" rtl="0" eaLnBrk="1" latinLnBrk="1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navigation에 대한 이미지 검색결과"/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750" y="2046366"/>
            <a:ext cx="1151721" cy="115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/>
          <p:cNvSpPr/>
          <p:nvPr/>
        </p:nvSpPr>
        <p:spPr>
          <a:xfrm>
            <a:off x="248657" y="503479"/>
            <a:ext cx="208882" cy="2167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8177" tIns="39089" rIns="78177" bIns="39089" anchor="ctr"/>
          <a:lstStyle/>
          <a:p>
            <a:pPr algn="ctr" defTabSz="891917" latinLnBrk="1">
              <a:defRPr/>
            </a:pPr>
            <a:r>
              <a:rPr lang="en-US" altLang="ko-KR" sz="1368" b="1" dirty="0">
                <a:solidFill>
                  <a:prstClr val="white"/>
                </a:solidFill>
                <a:ea typeface="나눔고딕" panose="020D0604000000000000" pitchFamily="50" charset="-127"/>
              </a:rPr>
              <a:t>1</a:t>
            </a:r>
            <a:endParaRPr lang="ko-KR" altLang="en-US" sz="1368" b="1" dirty="0">
              <a:solidFill>
                <a:prstClr val="white"/>
              </a:solidFill>
              <a:ea typeface="나눔고딕" panose="020D0604000000000000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1338" y="440809"/>
            <a:ext cx="3750146" cy="315801"/>
          </a:xfrm>
          <a:prstGeom prst="rect">
            <a:avLst/>
          </a:prstGeom>
          <a:noFill/>
        </p:spPr>
        <p:txBody>
          <a:bodyPr wrap="none" lIns="78177" tIns="39089" rIns="78177" bIns="39089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17372" defTabSz="891917" latinLnBrk="1">
              <a:spcBef>
                <a:spcPts val="231"/>
              </a:spcBef>
              <a:defRPr/>
            </a:pPr>
            <a:r>
              <a:rPr lang="ko-KR" altLang="en-US" sz="1539" b="1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컨</a:t>
            </a:r>
            <a:r>
              <a:rPr lang="ko-KR" altLang="en-US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트롤러의 장단점 분석 </a:t>
            </a:r>
            <a:r>
              <a:rPr lang="en-US" altLang="ko-KR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– </a:t>
            </a:r>
            <a:r>
              <a:rPr lang="ko-KR" altLang="en-US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시나리오 분석</a:t>
            </a:r>
            <a:endParaRPr lang="en-US" altLang="ko-KR" sz="1539" b="1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8657" y="842869"/>
            <a:ext cx="8717351" cy="86204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055" defTabSz="891859" fontAlgn="base" latinLnBrk="1">
              <a:spcBef>
                <a:spcPct val="0"/>
              </a:spcBef>
              <a:spcAft>
                <a:spcPct val="0"/>
              </a:spcAft>
              <a:tabLst>
                <a:tab pos="228055" algn="l"/>
              </a:tabLst>
            </a:pPr>
            <a:r>
              <a:rPr kumimoji="1" lang="ko-KR" altLang="en-US" sz="1026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상황별</a:t>
            </a:r>
            <a:r>
              <a:rPr kumimoji="1" lang="en-US" altLang="ko-KR" sz="1026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026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시나리오 </a:t>
            </a:r>
            <a:r>
              <a:rPr kumimoji="1" lang="ko-KR" altLang="en-US" sz="1026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분석을 통해 컨트롤러 인터페이스의 장단점을 분석하고 관련 가이드 제공</a:t>
            </a:r>
            <a:endParaRPr kumimoji="1" lang="en-US" altLang="ko-KR" sz="1026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09503" indent="-81448" defTabSz="891859" fontAlgn="base" latinLnBrk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28055" algn="l"/>
              </a:tabLst>
            </a:pPr>
            <a:r>
              <a:rPr kumimoji="1" lang="ko-KR" altLang="en-US" sz="1026" dirty="0" err="1" smtClean="0">
                <a:solidFill>
                  <a:prstClr val="black"/>
                </a:solidFill>
                <a:latin typeface="맑은 고딕" panose="020B0503020000020004" pitchFamily="50" charset="-127"/>
              </a:rPr>
              <a:t>시정탐색</a:t>
            </a:r>
            <a:r>
              <a:rPr kumimoji="1" lang="en-US" altLang="ko-KR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kumimoji="1" lang="ko-KR" altLang="en-US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회의나 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보고 등 시정 탐색을 위해 디지털 시민 </a:t>
            </a:r>
            <a:r>
              <a:rPr kumimoji="1" lang="ko-KR" altLang="en-US" sz="1026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시장실을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 사용하는 상황 </a:t>
            </a:r>
            <a:r>
              <a:rPr kumimoji="1" lang="ko-KR" altLang="en-US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가정</a:t>
            </a:r>
            <a:endParaRPr kumimoji="1" lang="en-US" altLang="ko-KR" sz="1026" dirty="0" smtClean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309503" indent="-81448" defTabSz="891859" fontAlgn="base" latinLnBrk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28055" algn="l"/>
              </a:tabLst>
            </a:pPr>
            <a:r>
              <a:rPr kumimoji="1" lang="ko-KR" altLang="en-US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홍보</a:t>
            </a:r>
            <a:r>
              <a:rPr kumimoji="1" lang="en-US" altLang="ko-KR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외부 인사가 방문하였을 때 디지털 시민 </a:t>
            </a:r>
            <a:r>
              <a:rPr kumimoji="1" lang="ko-KR" altLang="en-US" sz="1026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시장실을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 보여주는 상황 </a:t>
            </a:r>
            <a:r>
              <a:rPr kumimoji="1" lang="ko-KR" altLang="en-US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가정</a:t>
            </a:r>
            <a:endParaRPr kumimoji="1" lang="en-US" altLang="ko-KR" sz="1026" dirty="0" smtClean="0"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309503" indent="-81448" defTabSz="891859" fontAlgn="base" latinLnBrk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228055" algn="l"/>
              </a:tabLst>
            </a:pPr>
            <a:r>
              <a:rPr kumimoji="1" lang="ko-KR" altLang="en-US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과업은 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과업 준비</a:t>
            </a:r>
            <a:r>
              <a:rPr kumimoji="1" lang="en-US" altLang="ko-KR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화면전환</a:t>
            </a:r>
            <a:r>
              <a:rPr kumimoji="1" lang="en-US" altLang="ko-KR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(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지도 네비게이션</a:t>
            </a:r>
            <a:r>
              <a:rPr kumimoji="1" lang="en-US" altLang="ko-KR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특정 지표 탐색</a:t>
            </a:r>
            <a:r>
              <a:rPr kumimoji="1" lang="en-US" altLang="ko-KR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작동 및 선택</a:t>
            </a:r>
            <a:r>
              <a:rPr kumimoji="1" lang="en-US" altLang="ko-KR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) 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등으로 </a:t>
            </a:r>
            <a:r>
              <a:rPr kumimoji="1" lang="ko-KR" altLang="en-US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구분</a:t>
            </a:r>
            <a:endParaRPr kumimoji="1" lang="en-US" altLang="ko-KR" sz="1026" dirty="0" smtClean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249734"/>
              </p:ext>
            </p:extLst>
          </p:nvPr>
        </p:nvGraphicFramePr>
        <p:xfrm>
          <a:off x="434991" y="4087191"/>
          <a:ext cx="1754044" cy="2223212"/>
        </p:xfrm>
        <a:graphic>
          <a:graphicData uri="http://schemas.openxmlformats.org/drawingml/2006/table">
            <a:tbl>
              <a:tblPr/>
              <a:tblGrid>
                <a:gridCol w="1012523">
                  <a:extLst>
                    <a:ext uri="{9D8B030D-6E8A-4147-A177-3AD203B41FA5}">
                      <a16:colId xmlns:a16="http://schemas.microsoft.com/office/drawing/2014/main" xmlns="" val="1057968588"/>
                    </a:ext>
                  </a:extLst>
                </a:gridCol>
                <a:gridCol w="741521">
                  <a:extLst>
                    <a:ext uri="{9D8B030D-6E8A-4147-A177-3AD203B41FA5}">
                      <a16:colId xmlns:a16="http://schemas.microsoft.com/office/drawing/2014/main" xmlns="" val="3626766745"/>
                    </a:ext>
                  </a:extLst>
                </a:gridCol>
              </a:tblGrid>
              <a:tr h="2068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속성</a:t>
                      </a:r>
                      <a:endParaRPr lang="ko-KR" altLang="en-US" b="1" dirty="0"/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68643083"/>
                  </a:ext>
                </a:extLst>
              </a:tr>
              <a:tr h="40328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조작자</a:t>
                      </a:r>
                      <a:endParaRPr lang="ko-KR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74537280"/>
                  </a:ext>
                </a:extLst>
              </a:tr>
              <a:tr h="4032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58941746"/>
                  </a:ext>
                </a:extLst>
              </a:tr>
              <a:tr h="40328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보조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조작자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없음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76315983"/>
                  </a:ext>
                </a:extLst>
              </a:tr>
              <a:tr h="4032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91281499"/>
                  </a:ext>
                </a:extLst>
              </a:tr>
              <a:tr h="4032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56284145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357347"/>
              </p:ext>
            </p:extLst>
          </p:nvPr>
        </p:nvGraphicFramePr>
        <p:xfrm>
          <a:off x="2532978" y="3907945"/>
          <a:ext cx="3605843" cy="2785841"/>
        </p:xfrm>
        <a:graphic>
          <a:graphicData uri="http://schemas.openxmlformats.org/drawingml/2006/table">
            <a:tbl>
              <a:tblPr/>
              <a:tblGrid>
                <a:gridCol w="432809">
                  <a:extLst>
                    <a:ext uri="{9D8B030D-6E8A-4147-A177-3AD203B41FA5}">
                      <a16:colId xmlns:a16="http://schemas.microsoft.com/office/drawing/2014/main" xmlns="" val="4241461652"/>
                    </a:ext>
                  </a:extLst>
                </a:gridCol>
                <a:gridCol w="706904">
                  <a:extLst>
                    <a:ext uri="{9D8B030D-6E8A-4147-A177-3AD203B41FA5}">
                      <a16:colId xmlns:a16="http://schemas.microsoft.com/office/drawing/2014/main" xmlns="" val="4033378343"/>
                    </a:ext>
                  </a:extLst>
                </a:gridCol>
                <a:gridCol w="1265767">
                  <a:extLst>
                    <a:ext uri="{9D8B030D-6E8A-4147-A177-3AD203B41FA5}">
                      <a16:colId xmlns:a16="http://schemas.microsoft.com/office/drawing/2014/main" xmlns="" val="2673735103"/>
                    </a:ext>
                  </a:extLst>
                </a:gridCol>
                <a:gridCol w="1200363">
                  <a:extLst>
                    <a:ext uri="{9D8B030D-6E8A-4147-A177-3AD203B41FA5}">
                      <a16:colId xmlns:a16="http://schemas.microsoft.com/office/drawing/2014/main" xmlns="" val="49534735"/>
                    </a:ext>
                  </a:extLst>
                </a:gridCol>
              </a:tblGrid>
              <a:tr h="22320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26395171"/>
                  </a:ext>
                </a:extLst>
              </a:tr>
              <a:tr h="43729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과업 준비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(pre-task)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00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콘트롤러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활성화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음성인식 시작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콘트롤러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전원켜기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선택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첫 화면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55545194"/>
                  </a:ext>
                </a:extLst>
              </a:tr>
              <a:tr h="43729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전환</a:t>
                      </a: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지도 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네비게이션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지도를 확대하거나 축소함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첫 화면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실시간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62191051"/>
                  </a:ext>
                </a:extLst>
              </a:tr>
              <a:tr h="343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지표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네비게이션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검색어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지표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검색창에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입력함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화면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실시간 도시 상태 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시정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 주요 시정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4561809"/>
                  </a:ext>
                </a:extLst>
              </a:tr>
              <a:tr h="343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버튼을 클릭하여 지표를 탐색함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82605217"/>
                  </a:ext>
                </a:extLst>
              </a:tr>
              <a:tr h="343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탐색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구체적인 지표를 클릭함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 등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64889591"/>
                  </a:ext>
                </a:extLst>
              </a:tr>
              <a:tr h="343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세부 정보를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스크롤하여 탐색함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1841834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776085" y="1924132"/>
            <a:ext cx="1250830" cy="27604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  <a:latin typeface="+mj-ea"/>
                <a:ea typeface="+mj-ea"/>
              </a:rPr>
              <a:t>사용자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429164" y="1875917"/>
            <a:ext cx="1250830" cy="27604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  <a:latin typeface="+mj-ea"/>
                <a:ea typeface="+mj-ea"/>
              </a:rPr>
              <a:t>과업</a:t>
            </a:r>
            <a:endParaRPr lang="ko-KR" altLang="en-US" sz="1200" b="1" dirty="0" smtClean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1168" y="3257731"/>
            <a:ext cx="22791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/>
              <a:t>주로 조작하는 </a:t>
            </a:r>
            <a:r>
              <a:rPr lang="ko-KR" altLang="en-US" sz="1100" b="1" dirty="0" err="1" smtClean="0"/>
              <a:t>주조작자</a:t>
            </a:r>
            <a:r>
              <a:rPr lang="ko-KR" altLang="en-US" sz="1100" dirty="0" err="1" smtClean="0"/>
              <a:t>와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ko-KR" altLang="en-US" sz="1100" dirty="0" smtClean="0"/>
              <a:t>간헐적으로 </a:t>
            </a:r>
            <a:r>
              <a:rPr lang="ko-KR" altLang="en-US" sz="1100" dirty="0" smtClean="0"/>
              <a:t>동시에 </a:t>
            </a:r>
            <a:r>
              <a:rPr lang="ko-KR" altLang="en-US" sz="1100" dirty="0" smtClean="0"/>
              <a:t>사용하는 </a:t>
            </a:r>
            <a:endParaRPr lang="en-US" altLang="ko-KR" sz="1100" dirty="0" smtClean="0"/>
          </a:p>
          <a:p>
            <a:pPr algn="ctr"/>
            <a:r>
              <a:rPr lang="ko-KR" altLang="en-US" sz="1100" b="1" dirty="0" smtClean="0"/>
              <a:t>보조 </a:t>
            </a:r>
            <a:r>
              <a:rPr lang="ko-KR" altLang="en-US" sz="1100" b="1" dirty="0" smtClean="0"/>
              <a:t>조작자</a:t>
            </a:r>
            <a:r>
              <a:rPr lang="ko-KR" altLang="en-US" sz="1100" dirty="0" smtClean="0"/>
              <a:t>의 수를 </a:t>
            </a:r>
            <a:endParaRPr lang="en-US" altLang="ko-KR" sz="1100" dirty="0" smtClean="0"/>
          </a:p>
          <a:p>
            <a:pPr algn="ctr"/>
            <a:r>
              <a:rPr lang="ko-KR" altLang="en-US" sz="1100" dirty="0" smtClean="0"/>
              <a:t>달리하여 </a:t>
            </a:r>
            <a:r>
              <a:rPr lang="ko-KR" altLang="en-US" sz="1100" dirty="0" smtClean="0"/>
              <a:t>상이한 시나리오 생성</a:t>
            </a:r>
            <a:endParaRPr lang="ko-KR" altLang="en-US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2475072" y="3307781"/>
            <a:ext cx="39174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화면 전환은 조작하고자 하는 대상에 따라 달라지며 과업은 크게 </a:t>
            </a:r>
            <a:r>
              <a:rPr lang="ko-KR" altLang="en-US" sz="1100" b="1" dirty="0" smtClean="0"/>
              <a:t>지도</a:t>
            </a:r>
            <a:r>
              <a:rPr lang="ko-KR" altLang="en-US" sz="1100" dirty="0" smtClean="0"/>
              <a:t> </a:t>
            </a:r>
            <a:r>
              <a:rPr lang="ko-KR" altLang="en-US" sz="1100" b="1" dirty="0" smtClean="0"/>
              <a:t>네비게이션</a:t>
            </a:r>
            <a:r>
              <a:rPr lang="en-US" altLang="ko-KR" sz="1100" dirty="0" smtClean="0"/>
              <a:t>, </a:t>
            </a:r>
            <a:r>
              <a:rPr lang="ko-KR" altLang="en-US" sz="1100" b="1" dirty="0" smtClean="0"/>
              <a:t>지표 네비게이션</a:t>
            </a:r>
            <a:r>
              <a:rPr lang="en-US" altLang="ko-KR" sz="1100" dirty="0" smtClean="0"/>
              <a:t>, </a:t>
            </a:r>
            <a:r>
              <a:rPr lang="ko-KR" altLang="en-US" sz="1100" b="1" dirty="0" smtClean="0"/>
              <a:t>탐색</a:t>
            </a:r>
            <a:r>
              <a:rPr lang="ko-KR" altLang="en-US" sz="1100" dirty="0" smtClean="0"/>
              <a:t> 으로 </a:t>
            </a:r>
            <a:r>
              <a:rPr lang="ko-KR" altLang="en-US" sz="1100" dirty="0" smtClean="0"/>
              <a:t>구분</a:t>
            </a:r>
            <a:endParaRPr lang="ko-KR" altLang="en-US" sz="1100" dirty="0"/>
          </a:p>
        </p:txBody>
      </p:sp>
      <p:pic>
        <p:nvPicPr>
          <p:cNvPr id="3076" name="Picture 4" descr="user에 대한 이미지 검색결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93" y="2224928"/>
            <a:ext cx="1004339" cy="100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오른쪽 화살표 23"/>
          <p:cNvSpPr/>
          <p:nvPr/>
        </p:nvSpPr>
        <p:spPr>
          <a:xfrm rot="5400000">
            <a:off x="7618946" y="3300863"/>
            <a:ext cx="232535" cy="933919"/>
          </a:xfrm>
          <a:prstGeom prst="rightArrow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552058" y="4271276"/>
            <a:ext cx="2449902" cy="13718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인터페이스 별로 발생 가능한 시나리오를 형성하고 </a:t>
            </a:r>
            <a:endParaRPr lang="en-US" altLang="ko-KR" sz="12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장점과 단점을 분석하여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각 </a:t>
            </a:r>
            <a:r>
              <a:rPr lang="ko-KR" altLang="en-US" sz="1200" b="1" dirty="0" err="1" smtClean="0">
                <a:solidFill>
                  <a:schemeClr val="tx1"/>
                </a:solidFill>
                <a:latin typeface="+mn-ea"/>
              </a:rPr>
              <a:t>상황별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 컨트롤러 사용 가이드라인 제시</a:t>
            </a:r>
            <a:endParaRPr lang="ko-KR" altLang="en-US" sz="12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곱셈 기호 34"/>
          <p:cNvSpPr/>
          <p:nvPr/>
        </p:nvSpPr>
        <p:spPr>
          <a:xfrm>
            <a:off x="2397327" y="2149164"/>
            <a:ext cx="279970" cy="808220"/>
          </a:xfrm>
          <a:prstGeom prst="mathMultiply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220111" y="1831316"/>
            <a:ext cx="1389109" cy="27604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  <a:latin typeface="+mj-ea"/>
                <a:ea typeface="+mj-ea"/>
              </a:rPr>
              <a:t>맥락 </a:t>
            </a:r>
            <a:endParaRPr lang="en-US" altLang="ko-KR" sz="1200" b="1" dirty="0" smtClean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325912" y="1828917"/>
            <a:ext cx="1157997" cy="276045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tx1"/>
                </a:solidFill>
                <a:latin typeface="+mj-ea"/>
                <a:ea typeface="+mj-ea"/>
              </a:rPr>
              <a:t>인터페이스</a:t>
            </a:r>
          </a:p>
        </p:txBody>
      </p:sp>
      <p:sp>
        <p:nvSpPr>
          <p:cNvPr id="21" name="곱셈 기호 20"/>
          <p:cNvSpPr/>
          <p:nvPr/>
        </p:nvSpPr>
        <p:spPr>
          <a:xfrm>
            <a:off x="4983996" y="2194533"/>
            <a:ext cx="279970" cy="808220"/>
          </a:xfrm>
          <a:prstGeom prst="mathMultiply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393" y="2364259"/>
            <a:ext cx="1501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 smtClean="0"/>
              <a:t>사용 위치</a:t>
            </a:r>
            <a:endParaRPr lang="en-US" altLang="ko-KR" sz="1200" dirty="0" smtClean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 smtClean="0"/>
              <a:t>자세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등</a:t>
            </a:r>
            <a:endParaRPr lang="ko-KR" altLang="en-US" sz="1200" dirty="0"/>
          </a:p>
        </p:txBody>
      </p:sp>
      <p:sp>
        <p:nvSpPr>
          <p:cNvPr id="23" name="곱셈 기호 22"/>
          <p:cNvSpPr/>
          <p:nvPr/>
        </p:nvSpPr>
        <p:spPr>
          <a:xfrm>
            <a:off x="6691647" y="2194533"/>
            <a:ext cx="279970" cy="808220"/>
          </a:xfrm>
          <a:prstGeom prst="mathMultiply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54816" y="2187342"/>
            <a:ext cx="1707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ko-KR" altLang="en-US" dirty="0"/>
              <a:t>제스처</a:t>
            </a:r>
            <a:endParaRPr lang="en-US" altLang="ko-KR" dirty="0"/>
          </a:p>
          <a:p>
            <a:r>
              <a:rPr lang="ko-KR" altLang="en-US" dirty="0"/>
              <a:t>음성</a:t>
            </a:r>
            <a:endParaRPr lang="en-US" altLang="ko-KR" dirty="0"/>
          </a:p>
          <a:p>
            <a:r>
              <a:rPr lang="ko-KR" altLang="en-US" dirty="0"/>
              <a:t>터치패드</a:t>
            </a:r>
            <a:endParaRPr lang="en-US" altLang="ko-KR" dirty="0"/>
          </a:p>
          <a:p>
            <a:r>
              <a:rPr lang="ko-KR" altLang="en-US" dirty="0" err="1"/>
              <a:t>테블릿</a:t>
            </a:r>
            <a:r>
              <a:rPr lang="en-US" altLang="ko-KR" dirty="0"/>
              <a:t>, </a:t>
            </a:r>
            <a:r>
              <a:rPr lang="ko-KR" altLang="en-US" dirty="0"/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20285396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248657" y="503479"/>
            <a:ext cx="208882" cy="2167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8177" tIns="39089" rIns="78177" bIns="39089" anchor="ctr"/>
          <a:lstStyle/>
          <a:p>
            <a:pPr algn="ctr" defTabSz="891917" latinLnBrk="1">
              <a:defRPr/>
            </a:pPr>
            <a:r>
              <a:rPr lang="en-US" altLang="ko-KR" sz="1368" b="1" dirty="0">
                <a:solidFill>
                  <a:prstClr val="white"/>
                </a:solidFill>
                <a:ea typeface="나눔고딕" panose="020D0604000000000000" pitchFamily="50" charset="-127"/>
              </a:rPr>
              <a:t>1</a:t>
            </a:r>
            <a:endParaRPr lang="ko-KR" altLang="en-US" sz="1368" b="1" dirty="0">
              <a:solidFill>
                <a:prstClr val="white"/>
              </a:solidFill>
              <a:ea typeface="나눔고딕" panose="020D0604000000000000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1338" y="440809"/>
            <a:ext cx="4366322" cy="315801"/>
          </a:xfrm>
          <a:prstGeom prst="rect">
            <a:avLst/>
          </a:prstGeom>
          <a:noFill/>
        </p:spPr>
        <p:txBody>
          <a:bodyPr wrap="square" lIns="78177" tIns="39089" rIns="78177" bIns="39089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17372" defTabSz="891917" latinLnBrk="1">
              <a:spcBef>
                <a:spcPts val="231"/>
              </a:spcBef>
              <a:defRPr/>
            </a:pPr>
            <a:r>
              <a:rPr lang="ko-KR" altLang="en-US" sz="1539" b="1" spc="-9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화면 인터페이스 가이드라인 </a:t>
            </a:r>
            <a:r>
              <a:rPr lang="ko-KR" altLang="en-US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제시 </a:t>
            </a:r>
            <a:r>
              <a:rPr lang="en-US" altLang="ko-KR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– </a:t>
            </a:r>
            <a:r>
              <a:rPr lang="ko-KR" altLang="en-US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문헌 연구</a:t>
            </a:r>
            <a:endParaRPr lang="en-US" altLang="ko-KR" sz="1539" b="1" spc="-9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cs typeface="Malgun Gothic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8657" y="842869"/>
            <a:ext cx="8717351" cy="86204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055" defTabSz="891859" fontAlgn="base" latinLnBrk="1">
              <a:spcBef>
                <a:spcPct val="0"/>
              </a:spcBef>
              <a:spcAft>
                <a:spcPct val="0"/>
              </a:spcAft>
              <a:tabLst>
                <a:tab pos="228055" algn="l"/>
              </a:tabLst>
            </a:pPr>
            <a:r>
              <a:rPr lang="ko-KR" altLang="en-US" sz="1050" b="1" dirty="0" smtClean="0">
                <a:solidFill>
                  <a:prstClr val="black"/>
                </a:solidFill>
                <a:latin typeface="+mn-ea"/>
              </a:rPr>
              <a:t>문헌연구 기반 인터페이스 및 데이터 시각화 가이드라인 제</a:t>
            </a:r>
            <a:r>
              <a:rPr lang="ko-KR" altLang="en-US" sz="1050" b="1" dirty="0">
                <a:solidFill>
                  <a:prstClr val="black"/>
                </a:solidFill>
                <a:latin typeface="+mn-ea"/>
              </a:rPr>
              <a:t>공</a:t>
            </a:r>
            <a:endParaRPr lang="en-US" altLang="ko-KR" sz="1050" b="1" dirty="0" smtClean="0">
              <a:solidFill>
                <a:prstClr val="black"/>
              </a:solidFill>
              <a:latin typeface="+mn-ea"/>
            </a:endParaRPr>
          </a:p>
          <a:p>
            <a:pPr marL="228055" defTabSz="891859" fontAlgn="base" latinLnBrk="1">
              <a:spcBef>
                <a:spcPct val="0"/>
              </a:spcBef>
              <a:spcAft>
                <a:spcPct val="0"/>
              </a:spcAft>
              <a:tabLst>
                <a:tab pos="228055" algn="l"/>
              </a:tabLst>
            </a:pP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(1) </a:t>
            </a:r>
            <a:r>
              <a:rPr lang="ko-KR" altLang="en-US" sz="1050" dirty="0" smtClean="0">
                <a:solidFill>
                  <a:prstClr val="black"/>
                </a:solidFill>
                <a:latin typeface="+mn-ea"/>
              </a:rPr>
              <a:t>전반적인 </a:t>
            </a: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UI </a:t>
            </a:r>
            <a:r>
              <a:rPr lang="ko-KR" altLang="en-US" sz="1050" dirty="0" smtClean="0">
                <a:solidFill>
                  <a:prstClr val="black"/>
                </a:solidFill>
                <a:latin typeface="+mn-ea"/>
              </a:rPr>
              <a:t>설계 시 고려해야 하는 요소에 대한 가이드라인</a:t>
            </a:r>
            <a:endParaRPr lang="en-US" altLang="ko-KR" sz="1050" dirty="0" smtClean="0">
              <a:solidFill>
                <a:prstClr val="black"/>
              </a:solidFill>
              <a:latin typeface="+mn-ea"/>
            </a:endParaRPr>
          </a:p>
          <a:p>
            <a:pPr marL="228055" defTabSz="891859" fontAlgn="base" latinLnBrk="1">
              <a:spcBef>
                <a:spcPct val="0"/>
              </a:spcBef>
              <a:spcAft>
                <a:spcPct val="0"/>
              </a:spcAft>
              <a:tabLst>
                <a:tab pos="228055" algn="l"/>
              </a:tabLst>
            </a:pP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(2) </a:t>
            </a:r>
            <a:r>
              <a:rPr lang="ko-KR" altLang="en-US" sz="1050" dirty="0" smtClean="0">
                <a:solidFill>
                  <a:prstClr val="black"/>
                </a:solidFill>
                <a:latin typeface="+mn-ea"/>
              </a:rPr>
              <a:t>데이터 </a:t>
            </a:r>
            <a:r>
              <a:rPr lang="ko-KR" altLang="en-US" sz="1050" dirty="0">
                <a:solidFill>
                  <a:prstClr val="black"/>
                </a:solidFill>
                <a:latin typeface="+mn-ea"/>
              </a:rPr>
              <a:t>타입을 고려하여 적절한 차트 종류 제시</a:t>
            </a:r>
            <a:endParaRPr lang="en-US" altLang="ko-KR" sz="1050" dirty="0">
              <a:solidFill>
                <a:prstClr val="black"/>
              </a:solidFill>
              <a:latin typeface="+mn-ea"/>
            </a:endParaRPr>
          </a:p>
          <a:p>
            <a:pPr marL="228055" defTabSz="891859" fontAlgn="base" latinLnBrk="1">
              <a:spcBef>
                <a:spcPct val="0"/>
              </a:spcBef>
              <a:spcAft>
                <a:spcPct val="0"/>
              </a:spcAft>
              <a:tabLst>
                <a:tab pos="228055" algn="l"/>
              </a:tabLst>
            </a:pPr>
            <a:r>
              <a:rPr kumimoji="1" lang="en-US" altLang="ko-KR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(3) </a:t>
            </a:r>
            <a:r>
              <a:rPr kumimoji="1" lang="ko-KR" altLang="en-US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차트 </a:t>
            </a:r>
            <a:r>
              <a:rPr kumimoji="1" lang="ko-KR" altLang="en-US" sz="1026" dirty="0">
                <a:solidFill>
                  <a:prstClr val="black"/>
                </a:solidFill>
                <a:latin typeface="맑은 고딕" panose="020B0503020000020004" pitchFamily="50" charset="-127"/>
              </a:rPr>
              <a:t>시각화에 관련된 문헌을 기반으로 실무에 도움이 되는 가이드라인 </a:t>
            </a:r>
            <a:r>
              <a:rPr kumimoji="1" lang="ko-KR" altLang="en-US" sz="1026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작성</a:t>
            </a:r>
            <a:endParaRPr kumimoji="1" lang="ko-KR" altLang="en-US" sz="1026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95287" y="1982574"/>
            <a:ext cx="2874105" cy="199078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945990" fontAlgn="base">
              <a:spcBef>
                <a:spcPct val="0"/>
              </a:spcBef>
              <a:spcAft>
                <a:spcPct val="0"/>
              </a:spcAft>
            </a:pPr>
            <a:endParaRPr lang="en-US" altLang="ko-KR" sz="1200" b="1" dirty="0" smtClean="0">
              <a:solidFill>
                <a:prstClr val="black"/>
              </a:solidFill>
              <a:latin typeface="+mn-ea"/>
            </a:endParaRPr>
          </a:p>
          <a:p>
            <a:pPr defTabSz="94599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200" b="1" dirty="0" smtClean="0">
                <a:solidFill>
                  <a:prstClr val="black"/>
                </a:solidFill>
                <a:latin typeface="+mn-ea"/>
              </a:rPr>
              <a:t>차트 </a:t>
            </a: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종류 선택을 위한 </a:t>
            </a:r>
            <a:r>
              <a:rPr lang="ko-KR" altLang="en-US" sz="1200" b="1" dirty="0" smtClean="0">
                <a:solidFill>
                  <a:prstClr val="black"/>
                </a:solidFill>
                <a:latin typeface="+mn-ea"/>
              </a:rPr>
              <a:t>가이드라인</a:t>
            </a:r>
            <a:endParaRPr lang="en-US" altLang="ko-KR" sz="1200" b="1" dirty="0" smtClean="0">
              <a:solidFill>
                <a:prstClr val="black"/>
              </a:solidFill>
              <a:latin typeface="+mn-ea"/>
            </a:endParaRPr>
          </a:p>
          <a:p>
            <a:pPr defTabSz="945990" fontAlgn="base">
              <a:spcBef>
                <a:spcPct val="0"/>
              </a:spcBef>
              <a:spcAft>
                <a:spcPct val="0"/>
              </a:spcAft>
            </a:pPr>
            <a:endParaRPr lang="en-US" altLang="ko-KR" sz="1200" b="1" dirty="0" smtClean="0">
              <a:solidFill>
                <a:prstClr val="black"/>
              </a:solidFill>
              <a:latin typeface="+mn-ea"/>
            </a:endParaRPr>
          </a:p>
          <a:p>
            <a:pPr marL="187276" indent="-171450" defTabSz="946052"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범주 비교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부분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전체 관계 파악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시간에 따른 변화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연결과 관계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위치 정보 등 데이터 시각화의 목적 별로 사용 가능한 차트 종류 </a:t>
            </a:r>
            <a:r>
              <a:rPr lang="ko-KR" altLang="en-US" sz="1200" dirty="0" smtClean="0">
                <a:solidFill>
                  <a:prstClr val="black"/>
                </a:solidFill>
                <a:latin typeface="+mn-ea"/>
              </a:rPr>
              <a:t>제안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/>
            </a:r>
            <a:br>
              <a:rPr lang="en-US" altLang="ko-KR" sz="1200" dirty="0">
                <a:solidFill>
                  <a:prstClr val="black"/>
                </a:solidFill>
                <a:latin typeface="+mn-ea"/>
              </a:rPr>
            </a:b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(Kirk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2012; </a:t>
            </a:r>
            <a:r>
              <a:rPr lang="en-US" altLang="ko-KR" sz="1000" dirty="0">
                <a:solidFill>
                  <a:prstClr val="black"/>
                </a:solidFill>
              </a:rPr>
              <a:t>Krause, </a:t>
            </a:r>
            <a:r>
              <a:rPr lang="en-US" altLang="ko-KR" sz="1000" dirty="0" smtClean="0">
                <a:solidFill>
                  <a:prstClr val="black"/>
                </a:solidFill>
              </a:rPr>
              <a:t>2010; </a:t>
            </a:r>
            <a:r>
              <a:rPr lang="en-US" altLang="ko-KR" sz="1000" dirty="0" err="1" smtClean="0">
                <a:solidFill>
                  <a:prstClr val="black"/>
                </a:solidFill>
              </a:rPr>
              <a:t>Goranson</a:t>
            </a:r>
            <a:r>
              <a:rPr lang="en-US" altLang="ko-KR" sz="1000" dirty="0" smtClean="0">
                <a:solidFill>
                  <a:prstClr val="black"/>
                </a:solidFill>
              </a:rPr>
              <a:t> et</a:t>
            </a:r>
            <a:r>
              <a:rPr lang="ko-KR" altLang="en-US" sz="1000" dirty="0" smtClean="0">
                <a:solidFill>
                  <a:prstClr val="black"/>
                </a:solidFill>
              </a:rPr>
              <a:t> </a:t>
            </a:r>
            <a:r>
              <a:rPr lang="en-US" altLang="ko-KR" sz="1000" dirty="0" smtClean="0">
                <a:solidFill>
                  <a:prstClr val="black"/>
                </a:solidFill>
              </a:rPr>
              <a:t>al., 2014; </a:t>
            </a:r>
            <a:r>
              <a:rPr lang="fr-FR" altLang="ko-KR" sz="1000" dirty="0" smtClean="0">
                <a:solidFill>
                  <a:prstClr val="black"/>
                </a:solidFill>
              </a:rPr>
              <a:t>Koneru</a:t>
            </a:r>
            <a:r>
              <a:rPr lang="fr-FR" altLang="ko-KR" sz="1000" dirty="0">
                <a:solidFill>
                  <a:prstClr val="black"/>
                </a:solidFill>
              </a:rPr>
              <a:t>, A</a:t>
            </a:r>
            <a:r>
              <a:rPr lang="fr-FR" altLang="ko-KR" sz="1000" dirty="0" smtClean="0">
                <a:solidFill>
                  <a:prstClr val="black"/>
                </a:solidFill>
              </a:rPr>
              <a:t>., 2008)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201762" y="1982574"/>
            <a:ext cx="2811141" cy="19907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200" b="1" dirty="0" smtClean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dirty="0" smtClean="0">
                <a:solidFill>
                  <a:prstClr val="black"/>
                </a:solidFill>
                <a:latin typeface="+mn-ea"/>
              </a:rPr>
              <a:t>전반적인 </a:t>
            </a:r>
            <a:r>
              <a:rPr lang="en-US" altLang="ko-KR" sz="1200" b="1" dirty="0">
                <a:solidFill>
                  <a:prstClr val="black"/>
                </a:solidFill>
                <a:latin typeface="+mn-ea"/>
              </a:rPr>
              <a:t>UI </a:t>
            </a:r>
            <a:r>
              <a:rPr lang="ko-KR" altLang="en-US" sz="1200" b="1" dirty="0" smtClean="0">
                <a:solidFill>
                  <a:prstClr val="black"/>
                </a:solidFill>
                <a:latin typeface="+mn-ea"/>
              </a:rPr>
              <a:t>가이드라인</a:t>
            </a:r>
            <a:endParaRPr lang="en-US" altLang="ko-KR" sz="1200" b="1" dirty="0" smtClean="0">
              <a:solidFill>
                <a:prstClr val="black"/>
              </a:solidFill>
              <a:latin typeface="+mn-ea"/>
            </a:endParaRPr>
          </a:p>
          <a:p>
            <a:pPr marL="15826" defTabSz="946052">
              <a:defRPr/>
            </a:pPr>
            <a:endParaRPr lang="en-US" altLang="ko-KR" sz="1200" b="1" dirty="0">
              <a:solidFill>
                <a:prstClr val="black"/>
              </a:solidFill>
              <a:latin typeface="+mn-ea"/>
            </a:endParaRPr>
          </a:p>
          <a:p>
            <a:pPr marL="187276" indent="-171450" defTabSz="946052"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solidFill>
                  <a:prstClr val="black"/>
                </a:solidFill>
                <a:latin typeface="+mn-ea"/>
              </a:rPr>
              <a:t>명시성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인지 </a:t>
            </a:r>
            <a:r>
              <a:rPr lang="ko-KR" altLang="en-US" sz="1200" dirty="0" smtClean="0">
                <a:solidFill>
                  <a:prstClr val="black"/>
                </a:solidFill>
                <a:latin typeface="+mn-ea"/>
              </a:rPr>
              <a:t>부하</a:t>
            </a:r>
            <a:r>
              <a:rPr lang="en-US" altLang="ko-KR" sz="1200" dirty="0" smtClean="0">
                <a:solidFill>
                  <a:prstClr val="black"/>
                </a:solidFill>
                <a:latin typeface="+mn-ea"/>
              </a:rPr>
              <a:t>,</a:t>
            </a:r>
            <a:r>
              <a:rPr lang="ko-KR" altLang="en-US" sz="1200" dirty="0" smtClean="0">
                <a:solidFill>
                  <a:prstClr val="black"/>
                </a:solidFill>
                <a:latin typeface="+mn-ea"/>
              </a:rPr>
              <a:t> 사용성</a:t>
            </a:r>
            <a:r>
              <a:rPr lang="en-US" altLang="ko-KR" sz="1200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prstClr val="black"/>
                </a:solidFill>
                <a:latin typeface="+mn-ea"/>
              </a:rPr>
              <a:t>등을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고려하여 문헌에 기반한 가이드라인 제시</a:t>
            </a:r>
            <a:endParaRPr lang="en-US" altLang="ko-KR" sz="1200" dirty="0">
              <a:solidFill>
                <a:prstClr val="black"/>
              </a:solidFill>
              <a:latin typeface="+mn-ea"/>
            </a:endParaRPr>
          </a:p>
          <a:p>
            <a:pPr marL="187276" indent="-171450" defTabSz="946052">
              <a:buFont typeface="Arial" panose="020B0604020202020204" pitchFamily="34" charset="0"/>
              <a:buChar char="•"/>
              <a:defRPr/>
            </a:pPr>
            <a:r>
              <a:rPr lang="ko-KR" altLang="en-US" sz="1200" dirty="0" smtClean="0">
                <a:solidFill>
                  <a:prstClr val="black"/>
                </a:solidFill>
                <a:latin typeface="+mn-ea"/>
              </a:rPr>
              <a:t>일반적인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소프트웨어나 </a:t>
            </a:r>
            <a:r>
              <a:rPr lang="ko-KR" altLang="en-US" sz="1200" dirty="0" err="1">
                <a:solidFill>
                  <a:prstClr val="black"/>
                </a:solidFill>
                <a:latin typeface="+mn-ea"/>
              </a:rPr>
              <a:t>웹페이지를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 설계할 때 고려해야하는 원칙에 대한 문헌 </a:t>
            </a:r>
            <a:r>
              <a:rPr lang="ko-KR" altLang="en-US" sz="1200" dirty="0" smtClean="0">
                <a:solidFill>
                  <a:prstClr val="black"/>
                </a:solidFill>
                <a:latin typeface="+mn-ea"/>
              </a:rPr>
              <a:t>연구</a:t>
            </a:r>
            <a:r>
              <a:rPr lang="en-US" altLang="ko-KR" sz="1200" dirty="0" smtClean="0">
                <a:solidFill>
                  <a:prstClr val="black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prstClr val="black"/>
                </a:solidFill>
                <a:latin typeface="+mn-ea"/>
              </a:rPr>
            </a:b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(Smith, 1986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; Thompson, </a:t>
            </a: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1994; Ahlstrom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2001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)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145272" y="1982575"/>
            <a:ext cx="2820735" cy="19907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200" b="1" dirty="0" smtClean="0">
              <a:solidFill>
                <a:prstClr val="black"/>
              </a:solidFill>
              <a:latin typeface="+mn-ea"/>
            </a:endParaRPr>
          </a:p>
          <a:p>
            <a:r>
              <a:rPr lang="ko-KR" altLang="en-US" sz="1200" b="1" dirty="0" smtClean="0">
                <a:solidFill>
                  <a:prstClr val="black"/>
                </a:solidFill>
                <a:latin typeface="+mn-ea"/>
              </a:rPr>
              <a:t>차트 </a:t>
            </a: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시각화 </a:t>
            </a:r>
            <a:r>
              <a:rPr lang="ko-KR" altLang="en-US" sz="1200" b="1" dirty="0" smtClean="0">
                <a:solidFill>
                  <a:prstClr val="black"/>
                </a:solidFill>
                <a:latin typeface="+mn-ea"/>
              </a:rPr>
              <a:t>가이드라인</a:t>
            </a:r>
            <a:endParaRPr lang="en-US" altLang="ko-KR" sz="1200" b="1" dirty="0" smtClean="0">
              <a:solidFill>
                <a:prstClr val="black"/>
              </a:solidFill>
              <a:latin typeface="+mn-ea"/>
            </a:endParaRPr>
          </a:p>
          <a:p>
            <a:endParaRPr lang="en-US" altLang="ko-KR" sz="1200" b="1" dirty="0">
              <a:solidFill>
                <a:prstClr val="black"/>
              </a:solidFill>
              <a:latin typeface="+mn-ea"/>
            </a:endParaRPr>
          </a:p>
          <a:p>
            <a:pPr marL="187276" indent="-171450" defTabSz="946052">
              <a:buFont typeface="Arial" panose="020B0604020202020204" pitchFamily="34" charset="0"/>
              <a:buChar char="•"/>
              <a:defRPr/>
            </a:pPr>
            <a:r>
              <a:rPr lang="ko-KR" altLang="en-US" sz="1200" dirty="0" smtClean="0">
                <a:solidFill>
                  <a:prstClr val="black"/>
                </a:solidFill>
                <a:latin typeface="+mn-ea"/>
              </a:rPr>
              <a:t>틀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라벨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제목 등 모든 차트에 공통적으로 들어가는 요소에 대한 가이드라인 제공</a:t>
            </a:r>
            <a:endParaRPr lang="en-US" altLang="ko-KR" sz="1200" dirty="0">
              <a:solidFill>
                <a:prstClr val="black"/>
              </a:solidFill>
              <a:latin typeface="+mn-ea"/>
            </a:endParaRPr>
          </a:p>
          <a:p>
            <a:pPr marL="187276" indent="-171450" defTabSz="946052"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막대 그래프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선형 그래프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원형 그래프</a:t>
            </a:r>
            <a:r>
              <a:rPr lang="en-US" altLang="ko-KR" sz="12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 dirty="0" err="1">
                <a:solidFill>
                  <a:prstClr val="black"/>
                </a:solidFill>
                <a:latin typeface="+mn-ea"/>
              </a:rPr>
              <a:t>면적형</a:t>
            </a: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 그래프 등 차트 종류 별 가이드라인 </a:t>
            </a:r>
            <a:r>
              <a:rPr lang="ko-KR" altLang="en-US" sz="1200" dirty="0" smtClean="0">
                <a:solidFill>
                  <a:prstClr val="black"/>
                </a:solidFill>
                <a:latin typeface="+mn-ea"/>
              </a:rPr>
              <a:t>제공</a:t>
            </a:r>
            <a:r>
              <a:rPr lang="en-US" altLang="ko-KR" sz="1200" dirty="0" smtClean="0">
                <a:solidFill>
                  <a:prstClr val="black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prstClr val="black"/>
                </a:solidFill>
                <a:latin typeface="+mn-ea"/>
              </a:rPr>
            </a:br>
            <a:r>
              <a:rPr lang="en-US" altLang="ko-KR" sz="1000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en-US" altLang="ko-KR" sz="1000" dirty="0" smtClean="0">
                <a:solidFill>
                  <a:srgbClr val="222222"/>
                </a:solidFill>
                <a:latin typeface="+mn-ea"/>
              </a:rPr>
              <a:t>Lewis, 1996; Unwin, 2008; Wong &amp; Sun, 2006)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95" y="4388508"/>
            <a:ext cx="2820735" cy="1587261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100" y="4388508"/>
            <a:ext cx="2811141" cy="1588390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611" y="4388508"/>
            <a:ext cx="2831396" cy="1587261"/>
          </a:xfrm>
          <a:prstGeom prst="rect">
            <a:avLst/>
          </a:prstGeom>
          <a:ln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28263896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8657" y="503479"/>
            <a:ext cx="208882" cy="2167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8177" tIns="39089" rIns="78177" bIns="39089" anchor="ctr"/>
          <a:lstStyle/>
          <a:p>
            <a:pPr algn="ctr" defTabSz="891917" latinLnBrk="1">
              <a:defRPr/>
            </a:pPr>
            <a:r>
              <a:rPr lang="en-US" altLang="ko-KR" sz="1368" b="1" dirty="0">
                <a:solidFill>
                  <a:prstClr val="white"/>
                </a:solidFill>
                <a:ea typeface="나눔고딕" panose="020D0604000000000000" pitchFamily="50" charset="-127"/>
              </a:rPr>
              <a:t>1</a:t>
            </a:r>
            <a:endParaRPr lang="ko-KR" altLang="en-US" sz="1368" b="1" dirty="0">
              <a:solidFill>
                <a:prstClr val="white"/>
              </a:solidFill>
              <a:ea typeface="나눔고딕" panose="020D060400000000000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1338" y="440809"/>
            <a:ext cx="4366322" cy="315801"/>
          </a:xfrm>
          <a:prstGeom prst="rect">
            <a:avLst/>
          </a:prstGeom>
          <a:noFill/>
        </p:spPr>
        <p:txBody>
          <a:bodyPr wrap="square" lIns="78177" tIns="39089" rIns="78177" bIns="39089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17372" defTabSz="891917" latinLnBrk="1">
              <a:spcBef>
                <a:spcPts val="231"/>
              </a:spcBef>
              <a:defRPr/>
            </a:pPr>
            <a:r>
              <a:rPr lang="ko-KR" altLang="en-US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화면 </a:t>
            </a:r>
            <a:r>
              <a:rPr lang="ko-KR" altLang="en-US" sz="1539" b="1" spc="-9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설계안</a:t>
            </a:r>
            <a:r>
              <a:rPr lang="ko-KR" altLang="en-US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 평가 </a:t>
            </a:r>
            <a:r>
              <a:rPr lang="en-US" altLang="ko-KR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– </a:t>
            </a:r>
            <a:r>
              <a:rPr lang="ko-KR" altLang="en-US" sz="1539" b="1" spc="-9" dirty="0" err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휴리스틱</a:t>
            </a:r>
            <a:r>
              <a:rPr lang="ko-KR" altLang="en-US" sz="1539" b="1" spc="-9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 평가</a:t>
            </a:r>
            <a:endParaRPr lang="en-US" altLang="ko-KR" sz="1539" b="1" spc="-9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48657" y="842868"/>
            <a:ext cx="8717351" cy="12907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055" defTabSz="891859" fontAlgn="base" latinLnBrk="1">
              <a:spcBef>
                <a:spcPct val="0"/>
              </a:spcBef>
              <a:spcAft>
                <a:spcPct val="0"/>
              </a:spcAft>
              <a:tabLst>
                <a:tab pos="228055" algn="l"/>
              </a:tabLst>
            </a:pPr>
            <a:r>
              <a:rPr lang="ko-KR" altLang="en-US" sz="1050" b="1" dirty="0" smtClean="0">
                <a:solidFill>
                  <a:prstClr val="black"/>
                </a:solidFill>
                <a:latin typeface="+mn-ea"/>
              </a:rPr>
              <a:t>화면 및 </a:t>
            </a:r>
            <a:r>
              <a:rPr lang="en-US" altLang="ko-KR" sz="1050" b="1" dirty="0" smtClean="0">
                <a:solidFill>
                  <a:prstClr val="black"/>
                </a:solidFill>
                <a:latin typeface="+mn-ea"/>
              </a:rPr>
              <a:t>UI</a:t>
            </a:r>
            <a:r>
              <a:rPr lang="ko-KR" altLang="en-US" sz="1050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50" b="1" dirty="0" smtClean="0">
                <a:solidFill>
                  <a:prstClr val="black"/>
                </a:solidFill>
                <a:latin typeface="+mn-ea"/>
              </a:rPr>
              <a:t>초안 완성 후 </a:t>
            </a:r>
            <a:r>
              <a:rPr lang="ko-KR" altLang="en-US" sz="1050" b="1" dirty="0" err="1" smtClean="0">
                <a:solidFill>
                  <a:prstClr val="black"/>
                </a:solidFill>
                <a:latin typeface="+mn-ea"/>
              </a:rPr>
              <a:t>휴리스틱</a:t>
            </a:r>
            <a:r>
              <a:rPr lang="ko-KR" altLang="en-US" sz="1050" b="1" dirty="0" smtClean="0">
                <a:solidFill>
                  <a:prstClr val="black"/>
                </a:solidFill>
                <a:latin typeface="+mn-ea"/>
              </a:rPr>
              <a:t> 평가로 화면 </a:t>
            </a:r>
            <a:r>
              <a:rPr lang="ko-KR" altLang="en-US" sz="1050" b="1" dirty="0" err="1" smtClean="0">
                <a:solidFill>
                  <a:prstClr val="black"/>
                </a:solidFill>
                <a:latin typeface="+mn-ea"/>
              </a:rPr>
              <a:t>설계안의</a:t>
            </a:r>
            <a:r>
              <a:rPr lang="ko-KR" altLang="en-US" sz="1050" b="1" dirty="0" smtClean="0">
                <a:solidFill>
                  <a:prstClr val="black"/>
                </a:solidFill>
                <a:latin typeface="+mn-ea"/>
              </a:rPr>
              <a:t> 적절성 검토</a:t>
            </a:r>
            <a:endParaRPr lang="en-US" altLang="ko-KR" sz="1050" b="1" dirty="0" smtClean="0">
              <a:solidFill>
                <a:prstClr val="black"/>
              </a:solidFill>
              <a:latin typeface="+mn-ea"/>
            </a:endParaRPr>
          </a:p>
          <a:p>
            <a:pPr marL="228055" defTabSz="891859" fontAlgn="base" latinLnBrk="1">
              <a:spcBef>
                <a:spcPct val="0"/>
              </a:spcBef>
              <a:spcAft>
                <a:spcPct val="0"/>
              </a:spcAft>
              <a:tabLst>
                <a:tab pos="228055" algn="l"/>
              </a:tabLst>
            </a:pPr>
            <a:r>
              <a:rPr lang="ko-KR" altLang="en-US" sz="1050" dirty="0" err="1" smtClean="0">
                <a:solidFill>
                  <a:prstClr val="black"/>
                </a:solidFill>
                <a:latin typeface="+mn-ea"/>
              </a:rPr>
              <a:t>휴리스틱</a:t>
            </a:r>
            <a:r>
              <a:rPr lang="ko-KR" altLang="en-US" sz="1050" dirty="0" smtClean="0">
                <a:solidFill>
                  <a:prstClr val="black"/>
                </a:solidFill>
                <a:latin typeface="+mn-ea"/>
              </a:rPr>
              <a:t> 평가는 소수의 전문가를 대상으로 인터페이스의 적절성을 평가하는 기법</a:t>
            </a:r>
            <a:endParaRPr lang="en-US" altLang="ko-KR" sz="1050" dirty="0" smtClean="0">
              <a:solidFill>
                <a:prstClr val="black"/>
              </a:solidFill>
              <a:latin typeface="+mn-ea"/>
            </a:endParaRPr>
          </a:p>
          <a:p>
            <a:pPr marL="228055" defTabSz="891859" fontAlgn="base" latinLnBrk="1">
              <a:spcBef>
                <a:spcPct val="0"/>
              </a:spcBef>
              <a:spcAft>
                <a:spcPct val="0"/>
              </a:spcAft>
              <a:tabLst>
                <a:tab pos="228055" algn="l"/>
              </a:tabLst>
            </a:pPr>
            <a:r>
              <a:rPr lang="ko-KR" altLang="en-US" sz="1050" dirty="0" smtClean="0">
                <a:solidFill>
                  <a:prstClr val="black"/>
                </a:solidFill>
                <a:latin typeface="+mn-ea"/>
              </a:rPr>
              <a:t>다음과 같은 문헌에 기반하여</a:t>
            </a: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50" dirty="0" smtClean="0">
                <a:solidFill>
                  <a:prstClr val="black"/>
                </a:solidFill>
                <a:latin typeface="+mn-ea"/>
              </a:rPr>
              <a:t>화면 및 </a:t>
            </a: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UI </a:t>
            </a:r>
            <a:r>
              <a:rPr lang="ko-KR" altLang="en-US" sz="1050" dirty="0" smtClean="0">
                <a:solidFill>
                  <a:prstClr val="black"/>
                </a:solidFill>
                <a:latin typeface="+mn-ea"/>
              </a:rPr>
              <a:t>초안에 대한 전문가 평가를 수행하고 이를 바탕으로 </a:t>
            </a:r>
            <a:r>
              <a:rPr lang="ko-KR" altLang="en-US" sz="1050" dirty="0" err="1" smtClean="0">
                <a:solidFill>
                  <a:prstClr val="black"/>
                </a:solidFill>
                <a:latin typeface="+mn-ea"/>
              </a:rPr>
              <a:t>사용성</a:t>
            </a:r>
            <a:r>
              <a:rPr lang="ko-KR" altLang="en-US" sz="1050" dirty="0" smtClean="0">
                <a:solidFill>
                  <a:prstClr val="black"/>
                </a:solidFill>
                <a:latin typeface="+mn-ea"/>
              </a:rPr>
              <a:t> 문제에 대한 검토 의견 제시</a:t>
            </a:r>
            <a:endParaRPr lang="en-US" altLang="ko-KR" sz="1050" dirty="0" smtClean="0">
              <a:solidFill>
                <a:prstClr val="black"/>
              </a:solidFill>
              <a:latin typeface="+mn-ea"/>
            </a:endParaRPr>
          </a:p>
          <a:p>
            <a:pPr marL="399505" indent="-171450" defTabSz="891859" fontAlgn="base" latinLnBrk="1">
              <a:spcBef>
                <a:spcPct val="0"/>
              </a:spcBef>
              <a:spcAft>
                <a:spcPct val="0"/>
              </a:spcAft>
              <a:buFontTx/>
              <a:buChar char="-"/>
              <a:tabLst>
                <a:tab pos="228055" algn="l"/>
              </a:tabLst>
            </a:pP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Purdue </a:t>
            </a:r>
            <a:r>
              <a:rPr lang="en-US" altLang="ko-KR" sz="1050" dirty="0">
                <a:solidFill>
                  <a:prstClr val="black"/>
                </a:solidFill>
                <a:latin typeface="+mn-ea"/>
              </a:rPr>
              <a:t>Usability Testing Questionnaire (Lin &amp; </a:t>
            </a:r>
            <a:r>
              <a:rPr lang="en-US" altLang="ko-KR" sz="1050" dirty="0" err="1">
                <a:solidFill>
                  <a:prstClr val="black"/>
                </a:solidFill>
                <a:latin typeface="+mn-ea"/>
              </a:rPr>
              <a:t>Salvendy</a:t>
            </a:r>
            <a:r>
              <a:rPr lang="en-US" altLang="ko-KR" sz="1050" dirty="0">
                <a:solidFill>
                  <a:prstClr val="black"/>
                </a:solidFill>
                <a:latin typeface="+mn-ea"/>
              </a:rPr>
              <a:t>, 1997</a:t>
            </a: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) </a:t>
            </a:r>
          </a:p>
          <a:p>
            <a:pPr marL="399505" indent="-171450" defTabSz="891859" fontAlgn="base" latinLnBrk="1">
              <a:spcBef>
                <a:spcPct val="0"/>
              </a:spcBef>
              <a:spcAft>
                <a:spcPct val="0"/>
              </a:spcAft>
              <a:buFontTx/>
              <a:buChar char="-"/>
              <a:tabLst>
                <a:tab pos="228055" algn="l"/>
              </a:tabLst>
            </a:pPr>
            <a:r>
              <a:rPr lang="en-US" altLang="ko-KR" sz="1050" dirty="0" err="1" smtClean="0">
                <a:solidFill>
                  <a:prstClr val="black"/>
                </a:solidFill>
                <a:latin typeface="+mn-ea"/>
              </a:rPr>
              <a:t>Schneiderman's</a:t>
            </a: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50" dirty="0">
                <a:solidFill>
                  <a:prstClr val="black"/>
                </a:solidFill>
                <a:latin typeface="+mn-ea"/>
              </a:rPr>
              <a:t>eight golden rules (</a:t>
            </a:r>
            <a:r>
              <a:rPr lang="en-US" altLang="ko-KR" sz="1050" dirty="0" err="1">
                <a:solidFill>
                  <a:prstClr val="black"/>
                </a:solidFill>
                <a:latin typeface="+mn-ea"/>
              </a:rPr>
              <a:t>Schneiderman</a:t>
            </a:r>
            <a:r>
              <a:rPr lang="en-US" altLang="ko-KR" sz="1050" dirty="0">
                <a:solidFill>
                  <a:prstClr val="black"/>
                </a:solidFill>
                <a:latin typeface="+mn-ea"/>
              </a:rPr>
              <a:t>, 1998)</a:t>
            </a:r>
          </a:p>
          <a:p>
            <a:pPr marL="399505" indent="-171450" defTabSz="891859" fontAlgn="base" latinLnBrk="1">
              <a:spcBef>
                <a:spcPct val="0"/>
              </a:spcBef>
              <a:spcAft>
                <a:spcPct val="0"/>
              </a:spcAft>
              <a:buFontTx/>
              <a:buChar char="-"/>
              <a:tabLst>
                <a:tab pos="228055" algn="l"/>
              </a:tabLst>
            </a:pPr>
            <a:r>
              <a:rPr lang="en-US" altLang="ko-KR" sz="1050" dirty="0">
                <a:solidFill>
                  <a:prstClr val="black"/>
                </a:solidFill>
                <a:latin typeface="+mn-ea"/>
              </a:rPr>
              <a:t>Nielson’s 10 Usability Heuristic (Nielsen, 2008)</a:t>
            </a:r>
          </a:p>
          <a:p>
            <a:pPr marL="399505" indent="-171450" defTabSz="891859" fontAlgn="base" latinLnBrk="1">
              <a:spcBef>
                <a:spcPct val="0"/>
              </a:spcBef>
              <a:spcAft>
                <a:spcPct val="0"/>
              </a:spcAft>
              <a:buFontTx/>
              <a:buChar char="-"/>
              <a:tabLst>
                <a:tab pos="228055" algn="l"/>
              </a:tabLst>
            </a:pP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Senior-friendly recommendations for website heuristic evaluation (Lynch, </a:t>
            </a:r>
            <a:r>
              <a:rPr lang="en-US" altLang="ko-KR" sz="1050" dirty="0" err="1" smtClean="0">
                <a:solidFill>
                  <a:prstClr val="black"/>
                </a:solidFill>
                <a:latin typeface="+mn-ea"/>
              </a:rPr>
              <a:t>Schwerha</a:t>
            </a: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, and </a:t>
            </a:r>
            <a:r>
              <a:rPr lang="en-US" altLang="ko-KR" sz="1050" dirty="0" err="1" smtClean="0">
                <a:solidFill>
                  <a:prstClr val="black"/>
                </a:solidFill>
                <a:latin typeface="+mn-ea"/>
              </a:rPr>
              <a:t>Johanon</a:t>
            </a: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, 2013</a:t>
            </a:r>
            <a:r>
              <a:rPr lang="en-US" altLang="ko-KR" sz="1050" dirty="0" smtClean="0">
                <a:solidFill>
                  <a:prstClr val="black"/>
                </a:solidFill>
                <a:latin typeface="+mn-ea"/>
              </a:rPr>
              <a:t>), </a:t>
            </a:r>
            <a:r>
              <a:rPr lang="ko-KR" altLang="en-US" sz="1050" dirty="0" smtClean="0">
                <a:solidFill>
                  <a:prstClr val="black"/>
                </a:solidFill>
                <a:latin typeface="+mn-ea"/>
              </a:rPr>
              <a:t>등</a:t>
            </a:r>
            <a:endParaRPr lang="en-US" altLang="ko-KR" sz="1050" dirty="0" smtClean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44" name="Picture 3" descr="C:\Users\kimsy\Downloads\Image_2016-10-10 17-45-1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57" y="2828237"/>
            <a:ext cx="2601279" cy="107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직사각형 47"/>
          <p:cNvSpPr/>
          <p:nvPr/>
        </p:nvSpPr>
        <p:spPr>
          <a:xfrm>
            <a:off x="3532183" y="2829114"/>
            <a:ext cx="2782312" cy="280968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평가 요소 도출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오른쪽 화살표 48"/>
          <p:cNvSpPr/>
          <p:nvPr/>
        </p:nvSpPr>
        <p:spPr>
          <a:xfrm>
            <a:off x="6342614" y="3793083"/>
            <a:ext cx="284248" cy="1074192"/>
          </a:xfrm>
          <a:prstGeom prst="rightArrow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737154" y="2815927"/>
            <a:ext cx="2228854" cy="28228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프로토타입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사용 후 체크리스트 평가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1" name="그림 100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07251" y="3668686"/>
            <a:ext cx="2596952" cy="1691111"/>
          </a:xfrm>
          <a:prstGeom prst="rect">
            <a:avLst/>
          </a:prstGeom>
        </p:spPr>
      </p:pic>
      <p:sp>
        <p:nvSpPr>
          <p:cNvPr id="41" name="직사각형 40"/>
          <p:cNvSpPr/>
          <p:nvPr/>
        </p:nvSpPr>
        <p:spPr>
          <a:xfrm rot="19702211">
            <a:off x="4887084" y="3440312"/>
            <a:ext cx="1357628" cy="3333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illustration</a:t>
            </a:r>
            <a:endParaRPr lang="ko-KR" altLang="en-US" sz="1200" dirty="0" smtClean="0">
              <a:solidFill>
                <a:srgbClr val="FF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098" name="Picture 2" descr="likert scale에 대한 이미지 검색결과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073" y="3498552"/>
            <a:ext cx="1295016" cy="196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C:\Users\kimsy\Downloads\디지털시민시장실_sub_사고모니터링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23" y="3717560"/>
            <a:ext cx="2601279" cy="107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3" descr="C:\Users\kimsy\Downloads\Image_2016-10-11 18-07-43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56" y="4604759"/>
            <a:ext cx="2613299" cy="108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오른쪽 화살표 103"/>
          <p:cNvSpPr/>
          <p:nvPr/>
        </p:nvSpPr>
        <p:spPr>
          <a:xfrm>
            <a:off x="3219816" y="3793083"/>
            <a:ext cx="284248" cy="1074192"/>
          </a:xfrm>
          <a:prstGeom prst="rightArrow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42244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rgbClr val="FFC000"/>
          </a:solidFill>
        </a:ln>
      </a:spPr>
      <a:bodyPr rtlCol="0" anchor="ctr"/>
      <a:lstStyle>
        <a:defPPr algn="ctr">
          <a:defRPr sz="1200" dirty="0" smtClean="0">
            <a:solidFill>
              <a:schemeClr val="tx1"/>
            </a:solidFill>
            <a:latin typeface="KoPub돋움체 Medium" panose="02020603020101020101" pitchFamily="18" charset="-127"/>
            <a:ea typeface="KoPub돋움체 Medium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434</Words>
  <Application>Microsoft Office PowerPoint</Application>
  <PresentationFormat>화면 슬라이드 쇼(4:3)</PresentationFormat>
  <Paragraphs>91</Paragraphs>
  <Slides>3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1_Office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RHIE</dc:creator>
  <cp:lastModifiedBy>Windows 사용자</cp:lastModifiedBy>
  <cp:revision>27</cp:revision>
  <dcterms:created xsi:type="dcterms:W3CDTF">2016-10-12T06:30:47Z</dcterms:created>
  <dcterms:modified xsi:type="dcterms:W3CDTF">2016-10-12T09:16:34Z</dcterms:modified>
</cp:coreProperties>
</file>