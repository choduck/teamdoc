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74" r:id="rId2"/>
  </p:sldMasterIdLst>
  <p:notesMasterIdLst>
    <p:notesMasterId r:id="rId5"/>
  </p:notesMasterIdLst>
  <p:handoutMasterIdLst>
    <p:handoutMasterId r:id="rId6"/>
  </p:handoutMasterIdLst>
  <p:sldIdLst>
    <p:sldId id="828" r:id="rId3"/>
    <p:sldId id="829" r:id="rId4"/>
  </p:sldIdLst>
  <p:sldSz cx="9906000" cy="6858000" type="A4"/>
  <p:notesSz cx="6797675" cy="9874250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2795">
          <p15:clr>
            <a:srgbClr val="A4A3A4"/>
          </p15:clr>
        </p15:guide>
        <p15:guide id="4" orient="horz" pos="1570">
          <p15:clr>
            <a:srgbClr val="A4A3A4"/>
          </p15:clr>
        </p15:guide>
        <p15:guide id="5" orient="horz" pos="3612">
          <p15:clr>
            <a:srgbClr val="A4A3A4"/>
          </p15:clr>
        </p15:guide>
        <p15:guide id="6" orient="horz" pos="3793">
          <p15:clr>
            <a:srgbClr val="A4A3A4"/>
          </p15:clr>
        </p15:guide>
        <p15:guide id="7" pos="1578">
          <p15:clr>
            <a:srgbClr val="A4A3A4"/>
          </p15:clr>
        </p15:guide>
        <p15:guide id="8" pos="262">
          <p15:clr>
            <a:srgbClr val="A4A3A4"/>
          </p15:clr>
        </p15:guide>
        <p15:guide id="9" pos="42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C0CA28"/>
    <a:srgbClr val="009A46"/>
    <a:srgbClr val="2A9426"/>
    <a:srgbClr val="265492"/>
    <a:srgbClr val="F39A00"/>
    <a:srgbClr val="A4CE11"/>
    <a:srgbClr val="C1EAFF"/>
    <a:srgbClr val="FDC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9" autoAdjust="0"/>
    <p:restoredTop sz="99811" autoAdjust="0"/>
  </p:normalViewPr>
  <p:slideViewPr>
    <p:cSldViewPr>
      <p:cViewPr>
        <p:scale>
          <a:sx n="100" d="100"/>
          <a:sy n="100" d="100"/>
        </p:scale>
        <p:origin x="1326" y="402"/>
      </p:cViewPr>
      <p:guideLst>
        <p:guide orient="horz" pos="709"/>
        <p:guide orient="horz" pos="119"/>
        <p:guide orient="horz" pos="2795"/>
        <p:guide orient="horz" pos="1570"/>
        <p:guide orient="horz" pos="3612"/>
        <p:guide orient="horz" pos="3793"/>
        <p:guide pos="1578"/>
        <p:guide pos="262"/>
        <p:guide pos="42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2916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t" anchorCtr="0" compatLnSpc="1">
            <a:prstTxWarp prst="textNoShape">
              <a:avLst/>
            </a:prstTxWarp>
          </a:bodyPr>
          <a:lstStyle>
            <a:lvl1pPr algn="l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76C571B-E2BB-45B9-82B6-D9F229199A9A}" type="datetime1">
              <a:rPr lang="en-US" altLang="ko-KR"/>
              <a:pPr>
                <a:defRPr/>
              </a:pPr>
              <a:t>6/28/2016</a:t>
            </a:fld>
            <a:endParaRPr lang="en-US" altLang="ko-K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b" anchorCtr="0" compatLnSpc="1">
            <a:prstTxWarp prst="textNoShape">
              <a:avLst/>
            </a:prstTxWarp>
          </a:bodyPr>
          <a:lstStyle>
            <a:lvl1pPr algn="l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C77CF7C9-D89E-44BF-ADF0-57594A6434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5775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t" anchorCtr="0" compatLnSpc="1">
            <a:prstTxWarp prst="textNoShape">
              <a:avLst/>
            </a:prstTxWarp>
          </a:bodyPr>
          <a:lstStyle>
            <a:lvl1pPr algn="l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236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B72152BA-2866-44BC-84FC-64DC5B9F6947}" type="datetime1">
              <a:rPr lang="en-US" altLang="ko-KR"/>
              <a:pPr>
                <a:defRPr/>
              </a:pPr>
              <a:t>6/28/2016</a:t>
            </a:fld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41363"/>
            <a:ext cx="5349875" cy="3703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36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89993"/>
            <a:ext cx="5438775" cy="4443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236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b" anchorCtr="0" compatLnSpc="1">
            <a:prstTxWarp prst="textNoShape">
              <a:avLst/>
            </a:prstTxWarp>
          </a:bodyPr>
          <a:lstStyle>
            <a:lvl1pPr algn="l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236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9984"/>
            <a:ext cx="2946400" cy="49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055" tIns="45527" rIns="91055" bIns="45527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60FC9648-E09A-4F66-A3C4-BEAF28403A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99445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FFA41-788D-4F0B-8756-0E117C898E44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559FC-B6EB-4250-A95E-DF6C51B189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5CDE2-9C81-4990-B2EC-D0F7A1A6917E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6E113-BF6D-4538-ACAD-3EAF56C1EF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16F19-D208-4B77-9401-D73BA8EC3314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56633-A602-4F27-8F0B-45D8067EE7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8F2DC-C3C3-4BA1-A88F-08A46FAEA26B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9DC42-0DBD-4D39-BFC4-01A69DE4E4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53AEA-DB0E-4EDA-A3C8-A637F33BCF6A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8C16F-A7B1-4082-B312-C7658138B9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DA014-951F-4412-836D-A137E4886E57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8C2EA-8418-4191-8EEA-4CCD71312F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A6BDC-8DC8-4CCC-BBF1-240BAF5BD50C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2CEB3-EDFC-4338-B942-80C26CCB9E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5DF6C-3964-4E0A-80DC-CA64CFA1AC25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A196-5483-45E4-84E9-4D4D72E605A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054CF-C6B1-41E8-AF20-D2ED99B01889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6AD5F-3421-4B5A-83E4-8F6F405B7F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055F2-5884-4A56-8A37-D12582084C70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C24D0-4C3D-460C-BC79-62405338A2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08ED1-3194-4838-AC00-4C5C50F6FED0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4802F-0B06-41F4-A2A3-E4174E221B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7F8A5-81F9-4B55-A5A3-AA00227C20FC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3FE6A-EA5C-4668-8644-A96DABA3D0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7FFA41-788D-4F0B-8756-0E117C898E44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E559FC-B6EB-4250-A95E-DF6C51B1891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55CDE2-9C81-4990-B2EC-D0F7A1A6917E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36E113-BF6D-4538-ACAD-3EAF56C1EF1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F16F19-D208-4B77-9401-D73BA8EC3314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56633-A602-4F27-8F0B-45D8067EE7AD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98F2DC-C3C3-4BA1-A88F-08A46FAEA26B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99DC42-0DBD-4D39-BFC4-01A69DE4E4BB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E53AEA-DB0E-4EDA-A3C8-A637F33BCF6A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68C16F-A7B1-4082-B312-C7658138B95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DA014-951F-4412-836D-A137E4886E57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88C2EA-8418-4191-8EEA-4CCD71312FF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EA6BDC-8DC8-4CCC-BBF1-240BAF5BD50C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52CEB3-EDFC-4338-B942-80C26CCB9EED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45DF6C-3964-4E0A-80DC-CA64CFA1AC25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A4A196-5483-45E4-84E9-4D4D72E605AE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7054CF-C6B1-41E8-AF20-D2ED99B01889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36AD5F-3421-4B5A-83E4-8F6F405B7FFD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C055F2-5884-4A56-8A37-D12582084C70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C24D0-4C3D-460C-BC79-62405338A2A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1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308ED1-3194-4838-AC00-4C5C50F6FED0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24802F-0B06-41F4-A2A3-E4174E221B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256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D1050C9D-5C2A-490C-A5B0-4255713DCCA4}" type="datetime1">
              <a:rPr lang="ko-KR" altLang="en-US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6256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256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2EF8F2D-039B-48BC-9D11-4722D4814FD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103" name="Picture 7" descr="그림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4763"/>
            <a:ext cx="990441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1050C9D-5C2A-490C-A5B0-4255713DCCA4}" type="datetime1">
              <a:rPr lang="ko-KR" altLang="en-US" smtClean="0"/>
              <a:pPr>
                <a:defRPr/>
              </a:pPr>
              <a:t>2016-06-28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2EF8F2D-039B-48BC-9D11-4722D4814FD5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wmf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145"/>
          <p:cNvSpPr>
            <a:spLocks noChangeArrowheads="1"/>
          </p:cNvSpPr>
          <p:nvPr/>
        </p:nvSpPr>
        <p:spPr bwMode="auto">
          <a:xfrm>
            <a:off x="380968" y="3500438"/>
            <a:ext cx="9256907" cy="28569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28575" algn="ctr">
            <a:solidFill>
              <a:schemeClr val="accent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ko-KR" sz="1050" kern="0" dirty="0">
              <a:solidFill>
                <a:sysClr val="windowText" lastClr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AutoShape 2145"/>
          <p:cNvSpPr>
            <a:spLocks noChangeArrowheads="1"/>
          </p:cNvSpPr>
          <p:nvPr/>
        </p:nvSpPr>
        <p:spPr bwMode="auto">
          <a:xfrm>
            <a:off x="366679" y="618893"/>
            <a:ext cx="9256907" cy="2808312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28575" algn="ctr">
            <a:solidFill>
              <a:srgbClr val="94B8DC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ko-KR" sz="1050" kern="0" dirty="0">
              <a:solidFill>
                <a:sysClr val="windowText" lastClr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6" name="AutoShape 1834"/>
          <p:cNvCxnSpPr>
            <a:cxnSpLocks noChangeShapeType="1"/>
          </p:cNvCxnSpPr>
          <p:nvPr/>
        </p:nvCxnSpPr>
        <p:spPr bwMode="auto">
          <a:xfrm>
            <a:off x="560512" y="1482660"/>
            <a:ext cx="8565903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 type="oval" w="sm" len="sm"/>
            <a:tailEnd type="oval" w="sm" len="sm"/>
          </a:ln>
        </p:spPr>
      </p:cxnSp>
      <p:cxnSp>
        <p:nvCxnSpPr>
          <p:cNvPr id="7" name="AutoShape 1834"/>
          <p:cNvCxnSpPr>
            <a:cxnSpLocks noChangeShapeType="1"/>
          </p:cNvCxnSpPr>
          <p:nvPr/>
        </p:nvCxnSpPr>
        <p:spPr bwMode="auto">
          <a:xfrm>
            <a:off x="704528" y="1556792"/>
            <a:ext cx="8463314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 type="oval" w="sm" len="sm"/>
            <a:tailEnd type="oval" w="sm" len="sm"/>
          </a:ln>
        </p:spPr>
      </p:cxnSp>
      <p:cxnSp>
        <p:nvCxnSpPr>
          <p:cNvPr id="8" name="AutoShape 1834"/>
          <p:cNvCxnSpPr>
            <a:cxnSpLocks noChangeShapeType="1"/>
          </p:cNvCxnSpPr>
          <p:nvPr/>
        </p:nvCxnSpPr>
        <p:spPr bwMode="auto">
          <a:xfrm flipV="1">
            <a:off x="9258622" y="764704"/>
            <a:ext cx="0" cy="2880000"/>
          </a:xfrm>
          <a:prstGeom prst="straightConnector1">
            <a:avLst/>
          </a:prstGeom>
          <a:noFill/>
          <a:ln w="19050">
            <a:solidFill>
              <a:schemeClr val="tx2">
                <a:lumMod val="50000"/>
              </a:schemeClr>
            </a:solidFill>
            <a:round/>
            <a:headEnd type="oval" w="med" len="med"/>
            <a:tailEnd type="oval" w="med" len="med"/>
          </a:ln>
        </p:spPr>
      </p:cxnSp>
      <p:cxnSp>
        <p:nvCxnSpPr>
          <p:cNvPr id="9" name="AutoShape 1834"/>
          <p:cNvCxnSpPr>
            <a:cxnSpLocks noChangeShapeType="1"/>
          </p:cNvCxnSpPr>
          <p:nvPr/>
        </p:nvCxnSpPr>
        <p:spPr bwMode="auto">
          <a:xfrm flipV="1">
            <a:off x="738158" y="4387362"/>
            <a:ext cx="8528934" cy="2125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 type="oval" w="sm" len="sm"/>
            <a:tailEnd type="oval" w="sm" len="sm"/>
          </a:ln>
        </p:spPr>
      </p:cxnSp>
      <p:cxnSp>
        <p:nvCxnSpPr>
          <p:cNvPr id="10" name="AutoShape 1834"/>
          <p:cNvCxnSpPr>
            <a:cxnSpLocks noChangeShapeType="1"/>
          </p:cNvCxnSpPr>
          <p:nvPr/>
        </p:nvCxnSpPr>
        <p:spPr bwMode="auto">
          <a:xfrm>
            <a:off x="1030109" y="4457303"/>
            <a:ext cx="8395245" cy="397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 type="oval" w="sm" len="sm"/>
            <a:tailEnd type="oval" w="sm" len="sm"/>
          </a:ln>
        </p:spPr>
      </p:cxn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4386" y="1158652"/>
            <a:ext cx="495300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4657" y="908720"/>
            <a:ext cx="2857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AutoShape 1834"/>
          <p:cNvCxnSpPr>
            <a:cxnSpLocks noChangeShapeType="1"/>
          </p:cNvCxnSpPr>
          <p:nvPr/>
        </p:nvCxnSpPr>
        <p:spPr bwMode="auto">
          <a:xfrm flipV="1">
            <a:off x="9345488" y="836712"/>
            <a:ext cx="0" cy="2880000"/>
          </a:xfrm>
          <a:prstGeom prst="straightConnector1">
            <a:avLst/>
          </a:prstGeom>
          <a:noFill/>
          <a:ln w="19050">
            <a:solidFill>
              <a:schemeClr val="tx2">
                <a:lumMod val="50000"/>
              </a:schemeClr>
            </a:solidFill>
            <a:prstDash val="sysDash"/>
            <a:round/>
            <a:headEnd type="oval" w="med" len="med"/>
            <a:tailEnd type="oval" w="med" len="med"/>
          </a:ln>
        </p:spPr>
      </p:cxn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7353" y="908720"/>
            <a:ext cx="2857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AutoShape 1834"/>
          <p:cNvCxnSpPr>
            <a:cxnSpLocks noChangeShapeType="1"/>
          </p:cNvCxnSpPr>
          <p:nvPr/>
        </p:nvCxnSpPr>
        <p:spPr bwMode="auto">
          <a:xfrm>
            <a:off x="776536" y="764704"/>
            <a:ext cx="8640000" cy="0"/>
          </a:xfrm>
          <a:prstGeom prst="straightConnector1">
            <a:avLst/>
          </a:prstGeom>
          <a:noFill/>
          <a:ln w="19050">
            <a:solidFill>
              <a:schemeClr val="tx2">
                <a:lumMod val="50000"/>
              </a:schemeClr>
            </a:solidFill>
            <a:round/>
            <a:headEnd type="oval" w="sm" len="sm"/>
            <a:tailEnd type="oval" w="sm" len="sm"/>
          </a:ln>
        </p:spPr>
      </p:cxnSp>
      <p:cxnSp>
        <p:nvCxnSpPr>
          <p:cNvPr id="16" name="AutoShape 1834"/>
          <p:cNvCxnSpPr>
            <a:cxnSpLocks noChangeShapeType="1"/>
          </p:cNvCxnSpPr>
          <p:nvPr/>
        </p:nvCxnSpPr>
        <p:spPr bwMode="auto">
          <a:xfrm>
            <a:off x="776536" y="836712"/>
            <a:ext cx="8640000" cy="0"/>
          </a:xfrm>
          <a:prstGeom prst="straightConnector1">
            <a:avLst/>
          </a:prstGeom>
          <a:noFill/>
          <a:ln w="19050">
            <a:solidFill>
              <a:schemeClr val="tx2">
                <a:lumMod val="50000"/>
              </a:schemeClr>
            </a:solidFill>
            <a:prstDash val="sysDash"/>
            <a:round/>
            <a:headEnd type="oval" w="sm" len="sm"/>
            <a:tailEnd type="oval" w="sm" len="sm"/>
          </a:ln>
        </p:spPr>
      </p:cxnSp>
      <p:sp>
        <p:nvSpPr>
          <p:cNvPr id="17" name="AutoShape 2146"/>
          <p:cNvSpPr>
            <a:spLocks noChangeAspect="1" noChangeArrowheads="1"/>
          </p:cNvSpPr>
          <p:nvPr/>
        </p:nvSpPr>
        <p:spPr bwMode="auto">
          <a:xfrm>
            <a:off x="469454" y="683171"/>
            <a:ext cx="1177771" cy="255275"/>
          </a:xfrm>
          <a:prstGeom prst="roundRect">
            <a:avLst>
              <a:gd name="adj" fmla="val 16667"/>
            </a:avLst>
          </a:prstGeom>
          <a:solidFill>
            <a:srgbClr val="5990C7"/>
          </a:solidFill>
          <a:ln w="9525" algn="ctr">
            <a:solidFill>
              <a:srgbClr val="4D89C5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900" ker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외부</a:t>
            </a:r>
            <a:r>
              <a:rPr lang="en-US" altLang="ko-KR" sz="900" ker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900" ker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공인</a:t>
            </a:r>
            <a:r>
              <a:rPr lang="en-US" altLang="ko-KR" sz="900" kern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900" kern="0">
              <a:solidFill>
                <a:sysClr val="windowText" lastClr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8" name="AutoShape 1834"/>
          <p:cNvCxnSpPr>
            <a:cxnSpLocks noChangeShapeType="1"/>
          </p:cNvCxnSpPr>
          <p:nvPr/>
        </p:nvCxnSpPr>
        <p:spPr bwMode="auto">
          <a:xfrm flipV="1">
            <a:off x="2182310" y="764704"/>
            <a:ext cx="0" cy="396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oval" w="sm" len="sm"/>
          </a:ln>
        </p:spPr>
      </p:cxnSp>
      <p:cxnSp>
        <p:nvCxnSpPr>
          <p:cNvPr id="19" name="AutoShape 1834"/>
          <p:cNvCxnSpPr>
            <a:cxnSpLocks noChangeShapeType="1"/>
          </p:cNvCxnSpPr>
          <p:nvPr/>
        </p:nvCxnSpPr>
        <p:spPr bwMode="auto">
          <a:xfrm flipV="1">
            <a:off x="2243652" y="850429"/>
            <a:ext cx="0" cy="324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prstDash val="sysDash"/>
            <a:round/>
            <a:headEnd/>
            <a:tailEnd type="oval" w="sm" len="sm"/>
          </a:ln>
        </p:spPr>
      </p:cxn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8784" y="1168177"/>
            <a:ext cx="495300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AutoShape 1834"/>
          <p:cNvCxnSpPr>
            <a:cxnSpLocks noChangeShapeType="1"/>
          </p:cNvCxnSpPr>
          <p:nvPr/>
        </p:nvCxnSpPr>
        <p:spPr bwMode="auto">
          <a:xfrm flipV="1">
            <a:off x="3287720" y="774229"/>
            <a:ext cx="0" cy="396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oval" w="sm" len="sm"/>
          </a:ln>
        </p:spPr>
      </p:cxnSp>
      <p:cxnSp>
        <p:nvCxnSpPr>
          <p:cNvPr id="22" name="AutoShape 1834"/>
          <p:cNvCxnSpPr>
            <a:cxnSpLocks noChangeShapeType="1"/>
          </p:cNvCxnSpPr>
          <p:nvPr/>
        </p:nvCxnSpPr>
        <p:spPr bwMode="auto">
          <a:xfrm flipV="1">
            <a:off x="3392495" y="859954"/>
            <a:ext cx="0" cy="324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prstDash val="sysDash"/>
            <a:round/>
            <a:headEnd/>
            <a:tailEnd type="oval" w="sm" len="sm"/>
          </a:ln>
        </p:spPr>
      </p:cxnSp>
      <p:cxnSp>
        <p:nvCxnSpPr>
          <p:cNvPr id="23" name="AutoShape 1834"/>
          <p:cNvCxnSpPr>
            <a:cxnSpLocks noChangeShapeType="1"/>
          </p:cNvCxnSpPr>
          <p:nvPr/>
        </p:nvCxnSpPr>
        <p:spPr bwMode="auto">
          <a:xfrm>
            <a:off x="2248985" y="1230660"/>
            <a:ext cx="0" cy="25200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24" name="AutoShape 1834"/>
          <p:cNvCxnSpPr>
            <a:cxnSpLocks noChangeShapeType="1"/>
          </p:cNvCxnSpPr>
          <p:nvPr/>
        </p:nvCxnSpPr>
        <p:spPr bwMode="auto">
          <a:xfrm>
            <a:off x="2186502" y="1268760"/>
            <a:ext cx="0" cy="28800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cxnSp>
        <p:nvCxnSpPr>
          <p:cNvPr id="25" name="AutoShape 1834"/>
          <p:cNvCxnSpPr>
            <a:cxnSpLocks noChangeShapeType="1"/>
          </p:cNvCxnSpPr>
          <p:nvPr/>
        </p:nvCxnSpPr>
        <p:spPr bwMode="auto">
          <a:xfrm>
            <a:off x="3290466" y="1230660"/>
            <a:ext cx="0" cy="25200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26" name="AutoShape 1834"/>
          <p:cNvCxnSpPr>
            <a:cxnSpLocks noChangeShapeType="1"/>
          </p:cNvCxnSpPr>
          <p:nvPr/>
        </p:nvCxnSpPr>
        <p:spPr bwMode="auto">
          <a:xfrm>
            <a:off x="3387874" y="1268760"/>
            <a:ext cx="0" cy="28800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27" name="TextBox 26"/>
          <p:cNvSpPr txBox="1"/>
          <p:nvPr/>
        </p:nvSpPr>
        <p:spPr>
          <a:xfrm>
            <a:off x="3464503" y="1105694"/>
            <a:ext cx="5605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HY헤드라인M" pitchFamily="18" charset="-127"/>
                <a:ea typeface="HY헤드라인M" pitchFamily="18" charset="-127"/>
              </a:rPr>
              <a:t>Slave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37825" y="3973345"/>
            <a:ext cx="5605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HY헤드라인M" pitchFamily="18" charset="-127"/>
                <a:ea typeface="HY헤드라인M" pitchFamily="18" charset="-127"/>
              </a:rPr>
              <a:t>Master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2299" y="4038972"/>
            <a:ext cx="495300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95855" y="3789040"/>
            <a:ext cx="2857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53606" y="3789040"/>
            <a:ext cx="2857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2" name="AutoShape 1834"/>
          <p:cNvCxnSpPr>
            <a:cxnSpLocks noChangeShapeType="1"/>
          </p:cNvCxnSpPr>
          <p:nvPr/>
        </p:nvCxnSpPr>
        <p:spPr bwMode="auto">
          <a:xfrm>
            <a:off x="632520" y="3645024"/>
            <a:ext cx="8604000" cy="0"/>
          </a:xfrm>
          <a:prstGeom prst="straightConnector1">
            <a:avLst/>
          </a:prstGeom>
          <a:noFill/>
          <a:ln w="19050">
            <a:solidFill>
              <a:schemeClr val="tx2">
                <a:lumMod val="50000"/>
              </a:schemeClr>
            </a:solidFill>
            <a:round/>
            <a:headEnd type="oval" w="sm" len="sm"/>
            <a:tailEnd type="oval" w="sm" len="sm"/>
          </a:ln>
        </p:spPr>
      </p:cxnSp>
      <p:cxnSp>
        <p:nvCxnSpPr>
          <p:cNvPr id="33" name="AutoShape 1834"/>
          <p:cNvCxnSpPr>
            <a:cxnSpLocks noChangeShapeType="1"/>
          </p:cNvCxnSpPr>
          <p:nvPr/>
        </p:nvCxnSpPr>
        <p:spPr bwMode="auto">
          <a:xfrm>
            <a:off x="734244" y="3726557"/>
            <a:ext cx="8712000" cy="0"/>
          </a:xfrm>
          <a:prstGeom prst="straightConnector1">
            <a:avLst/>
          </a:prstGeom>
          <a:noFill/>
          <a:ln w="19050">
            <a:solidFill>
              <a:schemeClr val="tx2">
                <a:lumMod val="50000"/>
              </a:schemeClr>
            </a:solidFill>
            <a:prstDash val="sysDash"/>
            <a:round/>
            <a:headEnd type="oval" w="sm" len="sm"/>
            <a:tailEnd type="oval" w="sm" len="sm"/>
          </a:ln>
        </p:spPr>
      </p:cxnSp>
      <p:cxnSp>
        <p:nvCxnSpPr>
          <p:cNvPr id="34" name="AutoShape 1834"/>
          <p:cNvCxnSpPr>
            <a:cxnSpLocks noChangeShapeType="1"/>
          </p:cNvCxnSpPr>
          <p:nvPr/>
        </p:nvCxnSpPr>
        <p:spPr bwMode="auto">
          <a:xfrm flipV="1">
            <a:off x="2260223" y="3645024"/>
            <a:ext cx="0" cy="396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oval" w="sm" len="sm"/>
          </a:ln>
        </p:spPr>
      </p:cxnSp>
      <p:cxnSp>
        <p:nvCxnSpPr>
          <p:cNvPr id="35" name="AutoShape 1834"/>
          <p:cNvCxnSpPr>
            <a:cxnSpLocks noChangeShapeType="1"/>
          </p:cNvCxnSpPr>
          <p:nvPr/>
        </p:nvCxnSpPr>
        <p:spPr bwMode="auto">
          <a:xfrm flipV="1">
            <a:off x="2364998" y="3730749"/>
            <a:ext cx="0" cy="324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prstDash val="sysDash"/>
            <a:round/>
            <a:headEnd/>
            <a:tailEnd type="oval" w="sm" len="sm"/>
          </a:ln>
        </p:spPr>
      </p:cxn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6049" y="4048497"/>
            <a:ext cx="495300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7" name="AutoShape 1834"/>
          <p:cNvCxnSpPr>
            <a:cxnSpLocks noChangeShapeType="1"/>
          </p:cNvCxnSpPr>
          <p:nvPr/>
        </p:nvCxnSpPr>
        <p:spPr bwMode="auto">
          <a:xfrm flipV="1">
            <a:off x="3333973" y="3654549"/>
            <a:ext cx="0" cy="396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oval" w="sm" len="sm"/>
          </a:ln>
        </p:spPr>
      </p:cxnSp>
      <p:cxnSp>
        <p:nvCxnSpPr>
          <p:cNvPr id="38" name="AutoShape 1834"/>
          <p:cNvCxnSpPr>
            <a:cxnSpLocks noChangeShapeType="1"/>
          </p:cNvCxnSpPr>
          <p:nvPr/>
        </p:nvCxnSpPr>
        <p:spPr bwMode="auto">
          <a:xfrm flipV="1">
            <a:off x="3438748" y="3740274"/>
            <a:ext cx="0" cy="324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39" name="TextBox 38"/>
          <p:cNvSpPr txBox="1"/>
          <p:nvPr/>
        </p:nvSpPr>
        <p:spPr>
          <a:xfrm>
            <a:off x="3530439" y="4000504"/>
            <a:ext cx="5605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HY헤드라인M" pitchFamily="18" charset="-127"/>
                <a:ea typeface="HY헤드라인M" pitchFamily="18" charset="-127"/>
              </a:rPr>
              <a:t>Slave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0" name="AutoShape 2146"/>
          <p:cNvSpPr>
            <a:spLocks noChangeAspect="1" noChangeArrowheads="1"/>
          </p:cNvSpPr>
          <p:nvPr/>
        </p:nvSpPr>
        <p:spPr bwMode="auto">
          <a:xfrm>
            <a:off x="445071" y="3573016"/>
            <a:ext cx="1125802" cy="241209"/>
          </a:xfrm>
          <a:prstGeom prst="roundRect">
            <a:avLst>
              <a:gd name="adj" fmla="val 16667"/>
            </a:avLst>
          </a:prstGeom>
          <a:solidFill>
            <a:srgbClr val="5990C7"/>
          </a:solidFill>
          <a:ln w="9525" algn="ctr">
            <a:solidFill>
              <a:srgbClr val="4D89C5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900" ker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내부</a:t>
            </a:r>
            <a:r>
              <a:rPr lang="en-US" altLang="ko-KR" sz="900" ker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900" ker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사설</a:t>
            </a:r>
            <a:r>
              <a:rPr lang="en-US" altLang="ko-KR" sz="900" ker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900" kern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41" name="그룹 66"/>
          <p:cNvGrpSpPr/>
          <p:nvPr/>
        </p:nvGrpSpPr>
        <p:grpSpPr>
          <a:xfrm>
            <a:off x="9129476" y="3429000"/>
            <a:ext cx="360041" cy="504056"/>
            <a:chOff x="2432720" y="3429000"/>
            <a:chExt cx="216024" cy="330049"/>
          </a:xfrm>
        </p:grpSpPr>
        <p:pic>
          <p:nvPicPr>
            <p:cNvPr id="42" name="Picture 62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32720" y="3429000"/>
              <a:ext cx="144016" cy="2580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3" name="Picture 62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04728" y="3501008"/>
              <a:ext cx="144016" cy="2580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4" name="그룹 69"/>
          <p:cNvGrpSpPr/>
          <p:nvPr/>
        </p:nvGrpSpPr>
        <p:grpSpPr>
          <a:xfrm>
            <a:off x="2533732" y="1014636"/>
            <a:ext cx="504000" cy="232072"/>
            <a:chOff x="5448672" y="1"/>
            <a:chExt cx="504000" cy="232072"/>
          </a:xfrm>
        </p:grpSpPr>
        <p:cxnSp>
          <p:nvCxnSpPr>
            <p:cNvPr id="45" name="직선 화살표 연결선 46"/>
            <p:cNvCxnSpPr/>
            <p:nvPr/>
          </p:nvCxnSpPr>
          <p:spPr>
            <a:xfrm>
              <a:off x="5448672" y="160065"/>
              <a:ext cx="504000" cy="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7"/>
            <p:cNvCxnSpPr/>
            <p:nvPr/>
          </p:nvCxnSpPr>
          <p:spPr>
            <a:xfrm>
              <a:off x="5448672" y="232073"/>
              <a:ext cx="504000" cy="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8"/>
            <p:cNvSpPr txBox="1"/>
            <p:nvPr/>
          </p:nvSpPr>
          <p:spPr>
            <a:xfrm>
              <a:off x="5457056" y="1"/>
              <a:ext cx="43204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/>
                <a:t>VIP</a:t>
              </a:r>
              <a:endParaRPr lang="ko-KR" altLang="en-US" sz="700"/>
            </a:p>
          </p:txBody>
        </p:sp>
      </p:grpSp>
      <p:grpSp>
        <p:nvGrpSpPr>
          <p:cNvPr id="48" name="그룹 73"/>
          <p:cNvGrpSpPr/>
          <p:nvPr/>
        </p:nvGrpSpPr>
        <p:grpSpPr>
          <a:xfrm>
            <a:off x="2663696" y="3914006"/>
            <a:ext cx="504000" cy="232072"/>
            <a:chOff x="5448672" y="1"/>
            <a:chExt cx="504000" cy="232072"/>
          </a:xfrm>
        </p:grpSpPr>
        <p:cxnSp>
          <p:nvCxnSpPr>
            <p:cNvPr id="49" name="직선 화살표 연결선 50"/>
            <p:cNvCxnSpPr/>
            <p:nvPr/>
          </p:nvCxnSpPr>
          <p:spPr>
            <a:xfrm>
              <a:off x="5448672" y="160065"/>
              <a:ext cx="504000" cy="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51"/>
            <p:cNvCxnSpPr/>
            <p:nvPr/>
          </p:nvCxnSpPr>
          <p:spPr>
            <a:xfrm>
              <a:off x="5448672" y="232073"/>
              <a:ext cx="504000" cy="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2"/>
            <p:cNvSpPr txBox="1"/>
            <p:nvPr/>
          </p:nvSpPr>
          <p:spPr>
            <a:xfrm>
              <a:off x="5457056" y="1"/>
              <a:ext cx="43204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/>
                <a:t>VIP</a:t>
              </a:r>
              <a:endParaRPr lang="ko-KR" altLang="en-US" sz="700"/>
            </a:p>
          </p:txBody>
        </p:sp>
      </p:grpSp>
      <p:cxnSp>
        <p:nvCxnSpPr>
          <p:cNvPr id="52" name="AutoShape 1834"/>
          <p:cNvCxnSpPr>
            <a:cxnSpLocks noChangeShapeType="1"/>
          </p:cNvCxnSpPr>
          <p:nvPr/>
        </p:nvCxnSpPr>
        <p:spPr bwMode="auto">
          <a:xfrm>
            <a:off x="2226315" y="4130030"/>
            <a:ext cx="0" cy="25200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53" name="AutoShape 1834"/>
          <p:cNvCxnSpPr>
            <a:cxnSpLocks noChangeShapeType="1"/>
          </p:cNvCxnSpPr>
          <p:nvPr/>
        </p:nvCxnSpPr>
        <p:spPr bwMode="auto">
          <a:xfrm>
            <a:off x="1497151" y="4168130"/>
            <a:ext cx="0" cy="28800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cxnSp>
        <p:nvCxnSpPr>
          <p:cNvPr id="54" name="AutoShape 1834"/>
          <p:cNvCxnSpPr>
            <a:cxnSpLocks noChangeShapeType="1"/>
          </p:cNvCxnSpPr>
          <p:nvPr/>
        </p:nvCxnSpPr>
        <p:spPr bwMode="auto">
          <a:xfrm>
            <a:off x="3319115" y="4130030"/>
            <a:ext cx="0" cy="25200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55" name="AutoShape 1834"/>
          <p:cNvCxnSpPr>
            <a:cxnSpLocks noChangeShapeType="1"/>
          </p:cNvCxnSpPr>
          <p:nvPr/>
        </p:nvCxnSpPr>
        <p:spPr bwMode="auto">
          <a:xfrm>
            <a:off x="2548291" y="4170539"/>
            <a:ext cx="0" cy="28800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56" name="TextBox 55"/>
          <p:cNvSpPr txBox="1"/>
          <p:nvPr/>
        </p:nvSpPr>
        <p:spPr>
          <a:xfrm>
            <a:off x="8239148" y="3786190"/>
            <a:ext cx="106456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HY헤드라인M" pitchFamily="18" charset="-127"/>
                <a:ea typeface="HY헤드라인M" pitchFamily="18" charset="-127"/>
              </a:rPr>
              <a:t>백본 네트워크</a:t>
            </a:r>
          </a:p>
        </p:txBody>
      </p:sp>
      <p:grpSp>
        <p:nvGrpSpPr>
          <p:cNvPr id="61" name="그룹 229"/>
          <p:cNvGrpSpPr/>
          <p:nvPr/>
        </p:nvGrpSpPr>
        <p:grpSpPr>
          <a:xfrm>
            <a:off x="5561134" y="1490545"/>
            <a:ext cx="751849" cy="1507187"/>
            <a:chOff x="8115322" y="1484784"/>
            <a:chExt cx="942030" cy="1507187"/>
          </a:xfrm>
        </p:grpSpPr>
        <p:grpSp>
          <p:nvGrpSpPr>
            <p:cNvPr id="68" name="Group 1397"/>
            <p:cNvGrpSpPr>
              <a:grpSpLocks/>
            </p:cNvGrpSpPr>
            <p:nvPr/>
          </p:nvGrpSpPr>
          <p:grpSpPr bwMode="auto">
            <a:xfrm>
              <a:off x="8121352" y="1719858"/>
              <a:ext cx="936000" cy="1080000"/>
              <a:chOff x="1463" y="976"/>
              <a:chExt cx="1169" cy="619"/>
            </a:xfrm>
          </p:grpSpPr>
          <p:sp>
            <p:nvSpPr>
              <p:cNvPr id="70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71" name="Rectangle 1399"/>
              <p:cNvSpPr>
                <a:spLocks noChangeArrowheads="1"/>
              </p:cNvSpPr>
              <p:nvPr/>
            </p:nvSpPr>
            <p:spPr bwMode="auto">
              <a:xfrm>
                <a:off x="1480" y="1197"/>
                <a:ext cx="426" cy="3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72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Linux Ent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rPr>
                  <a:t>ORACLE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JSP / JDK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rPr>
                  <a:t>WebToB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rPr>
                  <a:t>JEUS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rPr>
                  <a:t>IBSheet</a:t>
                </a:r>
              </a:p>
            </p:txBody>
          </p:sp>
          <p:sp>
            <p:nvSpPr>
              <p:cNvPr id="73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700" kern="0">
                    <a:latin typeface="굴림" pitchFamily="50" charset="-127"/>
                    <a:ea typeface="굴림" pitchFamily="50" charset="-127"/>
                  </a:rPr>
                  <a:t>포털 테스트 서버</a:t>
                </a:r>
              </a:p>
            </p:txBody>
          </p:sp>
        </p:grpSp>
        <p:cxnSp>
          <p:nvCxnSpPr>
            <p:cNvPr id="63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389300" y="1610784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64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679424" y="1646792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sp>
          <p:nvSpPr>
            <p:cNvPr id="65" name="TextBox 67"/>
            <p:cNvSpPr txBox="1"/>
            <p:nvPr/>
          </p:nvSpPr>
          <p:spPr>
            <a:xfrm>
              <a:off x="8731324" y="1594892"/>
              <a:ext cx="28803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6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직사각형 68"/>
            <p:cNvSpPr/>
            <p:nvPr/>
          </p:nvSpPr>
          <p:spPr>
            <a:xfrm>
              <a:off x="8193360" y="2536329"/>
              <a:ext cx="216024" cy="216024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 Bold" pitchFamily="50" charset="-127"/>
                  <a:ea typeface="나눔고딕 Bold" pitchFamily="50" charset="-127"/>
                </a:rPr>
                <a:t>47</a:t>
              </a:r>
              <a:endParaRPr lang="ko-KR" altLang="en-US" sz="6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67" name="직사각형 69"/>
            <p:cNvSpPr/>
            <p:nvPr/>
          </p:nvSpPr>
          <p:spPr>
            <a:xfrm>
              <a:off x="8115322" y="2847971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opengrid</a:t>
              </a:r>
              <a:endParaRPr lang="ko-KR" altLang="en-US" sz="70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707174" y="3214686"/>
            <a:ext cx="717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/>
              <a:t>SAN </a:t>
            </a:r>
            <a:r>
              <a:rPr lang="ko-KR" altLang="en-US" sz="600" dirty="0"/>
              <a:t>스토리</a:t>
            </a:r>
            <a:r>
              <a:rPr lang="en-US" altLang="ko-KR" sz="600" dirty="0"/>
              <a:t>(NAS)</a:t>
            </a:r>
            <a:endParaRPr lang="ko-KR" altLang="en-US" sz="600" dirty="0"/>
          </a:p>
        </p:txBody>
      </p:sp>
      <p:cxnSp>
        <p:nvCxnSpPr>
          <p:cNvPr id="76" name="AutoShape 1834"/>
          <p:cNvCxnSpPr>
            <a:cxnSpLocks noChangeShapeType="1"/>
          </p:cNvCxnSpPr>
          <p:nvPr/>
        </p:nvCxnSpPr>
        <p:spPr bwMode="auto">
          <a:xfrm>
            <a:off x="992267" y="1736784"/>
            <a:ext cx="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1979" y="3071810"/>
            <a:ext cx="50482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8" name="AutoShape 1834"/>
          <p:cNvCxnSpPr>
            <a:cxnSpLocks noChangeShapeType="1"/>
          </p:cNvCxnSpPr>
          <p:nvPr/>
        </p:nvCxnSpPr>
        <p:spPr bwMode="auto">
          <a:xfrm>
            <a:off x="1213624" y="1736792"/>
            <a:ext cx="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80" name="TextBox 79"/>
          <p:cNvSpPr txBox="1"/>
          <p:nvPr/>
        </p:nvSpPr>
        <p:spPr>
          <a:xfrm>
            <a:off x="1194574" y="1604417"/>
            <a:ext cx="2298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>
                <a:solidFill>
                  <a:schemeClr val="accent1">
                    <a:lumMod val="75000"/>
                  </a:schemeClr>
                </a:solidFill>
              </a:rPr>
              <a:t>UTP</a:t>
            </a:r>
            <a:endParaRPr lang="ko-KR" altLang="en-US" sz="60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81" name="그룹 273"/>
          <p:cNvGrpSpPr/>
          <p:nvPr/>
        </p:nvGrpSpPr>
        <p:grpSpPr>
          <a:xfrm>
            <a:off x="565552" y="1730524"/>
            <a:ext cx="747036" cy="1080000"/>
            <a:chOff x="776536" y="1730524"/>
            <a:chExt cx="936000" cy="1080000"/>
          </a:xfrm>
        </p:grpSpPr>
        <p:grpSp>
          <p:nvGrpSpPr>
            <p:cNvPr id="83" name="Group 1397"/>
            <p:cNvGrpSpPr>
              <a:grpSpLocks/>
            </p:cNvGrpSpPr>
            <p:nvPr/>
          </p:nvGrpSpPr>
          <p:grpSpPr bwMode="auto">
            <a:xfrm>
              <a:off x="776536" y="1730524"/>
              <a:ext cx="936000" cy="1080000"/>
              <a:chOff x="1463" y="976"/>
              <a:chExt cx="1169" cy="619"/>
            </a:xfrm>
          </p:grpSpPr>
          <p:sp>
            <p:nvSpPr>
              <p:cNvPr id="86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700" kern="0">
                  <a:solidFill>
                    <a:sysClr val="windowText" lastClr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87" name="Rectangle 1399"/>
              <p:cNvSpPr>
                <a:spLocks noChangeArrowheads="1"/>
              </p:cNvSpPr>
              <p:nvPr/>
            </p:nvSpPr>
            <p:spPr bwMode="auto">
              <a:xfrm>
                <a:off x="1480" y="1197"/>
                <a:ext cx="426" cy="3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700" kern="0">
                  <a:solidFill>
                    <a:sysClr val="windowText" lastClr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88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defTabSz="762000"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Linux </a:t>
                </a:r>
                <a:r>
                  <a:rPr lang="en-US" altLang="ko-KR" sz="6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Ent</a:t>
                </a:r>
                <a:endPara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JSP / JDK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WebToB</a:t>
                </a:r>
                <a:endPara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JEUS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IBSheet</a:t>
                </a:r>
                <a:endPara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Gunicorn</a:t>
                </a:r>
                <a:endPara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89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700" kern="0" dirty="0" err="1">
                    <a:latin typeface="굴림" pitchFamily="50" charset="-127"/>
                    <a:ea typeface="굴림" pitchFamily="50" charset="-127"/>
                  </a:rPr>
                  <a:t>서울데이터마트</a:t>
                </a:r>
                <a:r>
                  <a:rPr lang="ko-KR" altLang="en-US" sz="700" kern="0" dirty="0">
                    <a:latin typeface="굴림" pitchFamily="50" charset="-127"/>
                    <a:ea typeface="굴림" pitchFamily="50" charset="-127"/>
                  </a:rPr>
                  <a:t> </a:t>
                </a:r>
                <a:br>
                  <a:rPr lang="en-US" altLang="ko-KR" sz="700" kern="0" dirty="0">
                    <a:latin typeface="굴림" pitchFamily="50" charset="-127"/>
                    <a:ea typeface="굴림" pitchFamily="50" charset="-127"/>
                  </a:rPr>
                </a:br>
                <a:r>
                  <a:rPr lang="ko-KR" altLang="en-US" sz="700" kern="0" dirty="0">
                    <a:latin typeface="굴림" pitchFamily="50" charset="-127"/>
                    <a:ea typeface="굴림" pitchFamily="50" charset="-127"/>
                  </a:rPr>
                  <a:t>서버 </a:t>
                </a:r>
                <a:r>
                  <a:rPr lang="en-US" altLang="ko-KR" sz="700" kern="0" dirty="0">
                    <a:latin typeface="굴림" pitchFamily="50" charset="-127"/>
                    <a:ea typeface="굴림" pitchFamily="50" charset="-127"/>
                  </a:rPr>
                  <a:t>#1, #2</a:t>
                </a:r>
                <a:endParaRPr lang="ko-KR" altLang="en-US" sz="700" kern="0" dirty="0"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07329" y="2175273"/>
              <a:ext cx="323910" cy="325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5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09596" y="2433631"/>
              <a:ext cx="323910" cy="325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0" name="그룹 226"/>
          <p:cNvGrpSpPr/>
          <p:nvPr/>
        </p:nvGrpSpPr>
        <p:grpSpPr>
          <a:xfrm>
            <a:off x="4907460" y="4385836"/>
            <a:ext cx="944668" cy="1471441"/>
            <a:chOff x="7381892" y="4743641"/>
            <a:chExt cx="944668" cy="1471441"/>
          </a:xfrm>
        </p:grpSpPr>
        <p:cxnSp>
          <p:nvCxnSpPr>
            <p:cNvPr id="91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7750970" y="4909841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grpSp>
          <p:nvGrpSpPr>
            <p:cNvPr id="92" name="그룹 82"/>
            <p:cNvGrpSpPr/>
            <p:nvPr/>
          </p:nvGrpSpPr>
          <p:grpSpPr>
            <a:xfrm>
              <a:off x="7390560" y="4968049"/>
              <a:ext cx="936000" cy="1080000"/>
              <a:chOff x="8481392" y="4653136"/>
              <a:chExt cx="936000" cy="1080000"/>
            </a:xfrm>
          </p:grpSpPr>
          <p:sp>
            <p:nvSpPr>
              <p:cNvPr id="96" name="AutoShape 1398"/>
              <p:cNvSpPr>
                <a:spLocks noChangeArrowheads="1"/>
              </p:cNvSpPr>
              <p:nvPr/>
            </p:nvSpPr>
            <p:spPr bwMode="auto">
              <a:xfrm>
                <a:off x="8481392" y="4653136"/>
                <a:ext cx="936000" cy="1080000"/>
              </a:xfrm>
              <a:prstGeom prst="bevel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97" name="Rectangle 1399"/>
              <p:cNvSpPr>
                <a:spLocks noChangeArrowheads="1"/>
              </p:cNvSpPr>
              <p:nvPr/>
            </p:nvSpPr>
            <p:spPr bwMode="auto">
              <a:xfrm>
                <a:off x="8495004" y="5038726"/>
                <a:ext cx="897340" cy="1904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98" name="Rectangle 1401"/>
              <p:cNvSpPr>
                <a:spLocks noChangeArrowheads="1"/>
              </p:cNvSpPr>
              <p:nvPr/>
            </p:nvSpPr>
            <p:spPr bwMode="auto">
              <a:xfrm>
                <a:off x="8495004" y="4681052"/>
                <a:ext cx="905574" cy="29835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800" kern="0" dirty="0">
                    <a:latin typeface="굴림" pitchFamily="50" charset="-127"/>
                    <a:ea typeface="굴림" pitchFamily="50" charset="-127"/>
                  </a:rPr>
                  <a:t>ETL </a:t>
                </a:r>
                <a:r>
                  <a:rPr lang="ko-KR" altLang="en-US" sz="800" kern="0" dirty="0">
                    <a:latin typeface="굴림" pitchFamily="50" charset="-127"/>
                    <a:ea typeface="굴림" pitchFamily="50" charset="-127"/>
                  </a:rPr>
                  <a:t>연동서버</a:t>
                </a:r>
              </a:p>
            </p:txBody>
          </p:sp>
          <p:sp>
            <p:nvSpPr>
              <p:cNvPr id="99" name="Rectangle 1400"/>
              <p:cNvSpPr>
                <a:spLocks noChangeArrowheads="1"/>
              </p:cNvSpPr>
              <p:nvPr/>
            </p:nvSpPr>
            <p:spPr bwMode="auto">
              <a:xfrm>
                <a:off x="8500441" y="5268441"/>
                <a:ext cx="882377" cy="432048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lvl="0" defTabSz="762000" latinLnBrk="0"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Windows 2008</a:t>
                </a:r>
              </a:p>
              <a:p>
                <a:pPr lvl="0" defTabSz="762000" latinLnBrk="0">
                  <a:defRPr/>
                </a:pPr>
                <a:r>
                  <a:rPr lang="en-US" altLang="ko-KR" sz="7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DataStage</a:t>
                </a: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(IBM)</a:t>
                </a:r>
              </a:p>
              <a:p>
                <a:pPr lvl="0" defTabSz="762000" latinLnBrk="0"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Data Transform</a:t>
                </a:r>
              </a:p>
            </p:txBody>
          </p:sp>
        </p:grpSp>
        <p:sp>
          <p:nvSpPr>
            <p:cNvPr id="93" name="TextBox 92"/>
            <p:cNvSpPr txBox="1"/>
            <p:nvPr/>
          </p:nvSpPr>
          <p:spPr>
            <a:xfrm>
              <a:off x="7821920" y="4867466"/>
              <a:ext cx="28803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94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7605899" y="4869641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sp>
          <p:nvSpPr>
            <p:cNvPr id="95" name="직사각형 94"/>
            <p:cNvSpPr/>
            <p:nvPr/>
          </p:nvSpPr>
          <p:spPr>
            <a:xfrm>
              <a:off x="7381892" y="6071082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DQMSETL2</a:t>
              </a:r>
              <a:endParaRPr lang="ko-KR" altLang="en-US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grpSp>
        <p:nvGrpSpPr>
          <p:cNvPr id="101" name="그룹 227"/>
          <p:cNvGrpSpPr/>
          <p:nvPr/>
        </p:nvGrpSpPr>
        <p:grpSpPr>
          <a:xfrm>
            <a:off x="2848342" y="4384088"/>
            <a:ext cx="952530" cy="1471441"/>
            <a:chOff x="8453462" y="4743641"/>
            <a:chExt cx="952530" cy="1471441"/>
          </a:xfrm>
        </p:grpSpPr>
        <p:grpSp>
          <p:nvGrpSpPr>
            <p:cNvPr id="102" name="그룹 23"/>
            <p:cNvGrpSpPr/>
            <p:nvPr/>
          </p:nvGrpSpPr>
          <p:grpSpPr>
            <a:xfrm>
              <a:off x="8469992" y="4968049"/>
              <a:ext cx="936000" cy="1080000"/>
              <a:chOff x="5601072" y="1076626"/>
              <a:chExt cx="1656736" cy="1578936"/>
            </a:xfrm>
          </p:grpSpPr>
          <p:grpSp>
            <p:nvGrpSpPr>
              <p:cNvPr id="107" name="Group 1397"/>
              <p:cNvGrpSpPr>
                <a:grpSpLocks/>
              </p:cNvGrpSpPr>
              <p:nvPr/>
            </p:nvGrpSpPr>
            <p:grpSpPr bwMode="auto">
              <a:xfrm>
                <a:off x="5601072" y="1076626"/>
                <a:ext cx="1656736" cy="1578936"/>
                <a:chOff x="1463" y="976"/>
                <a:chExt cx="1169" cy="619"/>
              </a:xfrm>
            </p:grpSpPr>
            <p:sp>
              <p:nvSpPr>
                <p:cNvPr id="109" name="AutoShape 1398"/>
                <p:cNvSpPr>
                  <a:spLocks noChangeArrowheads="1"/>
                </p:cNvSpPr>
                <p:nvPr/>
              </p:nvSpPr>
              <p:spPr bwMode="auto">
                <a:xfrm>
                  <a:off x="1463" y="976"/>
                  <a:ext cx="1169" cy="619"/>
                </a:xfrm>
                <a:prstGeom prst="bevel">
                  <a:avLst>
                    <a:gd name="adj" fmla="val 0"/>
                  </a:avLst>
                </a:prstGeom>
                <a:solidFill>
                  <a:srgbClr val="90B3F2"/>
                </a:solidFill>
                <a:ln w="9525">
                  <a:noFill/>
                  <a:miter lim="800000"/>
                  <a:headEnd/>
                  <a:tailEnd/>
                </a:ln>
                <a:effectLst>
                  <a:prstShdw prst="shdw18" dist="17961" dir="13500000">
                    <a:srgbClr val="90B3F2">
                      <a:gamma/>
                      <a:shade val="60000"/>
                      <a:invGamma/>
                    </a:srgbClr>
                  </a:prstShdw>
                </a:effectLst>
              </p:spPr>
              <p:txBody>
                <a:bodyPr wrap="none" lIns="90000" tIns="46800" rIns="90000" bIns="4680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ko-KR" altLang="en-US" sz="800" kern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110" name="Rectangle 1399"/>
                <p:cNvSpPr>
                  <a:spLocks noChangeArrowheads="1"/>
                </p:cNvSpPr>
                <p:nvPr/>
              </p:nvSpPr>
              <p:spPr bwMode="auto">
                <a:xfrm>
                  <a:off x="1480" y="1197"/>
                  <a:ext cx="426" cy="38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defTabSz="762000" fontAlgn="auto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ko-KR" altLang="ko-KR" sz="800" kern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111" name="Rectangle 1400"/>
                <p:cNvSpPr>
                  <a:spLocks noChangeArrowheads="1"/>
                </p:cNvSpPr>
                <p:nvPr/>
              </p:nvSpPr>
              <p:spPr bwMode="auto">
                <a:xfrm>
                  <a:off x="1931" y="1198"/>
                  <a:ext cx="690" cy="381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54000" rIns="54000" anchor="ctr"/>
                <a:lstStyle/>
                <a:p>
                  <a:pPr defTabSz="762000">
                    <a:defRPr/>
                  </a:pPr>
                  <a:r>
                    <a:rPr lang="en-US" altLang="ko-KR" sz="700" kern="0" dirty="0">
                      <a:solidFill>
                        <a:srgbClr val="000000"/>
                      </a:solidFill>
                      <a:latin typeface="굴림" pitchFamily="50" charset="-127"/>
                      <a:ea typeface="굴림" pitchFamily="50" charset="-127"/>
                    </a:rPr>
                    <a:t>Linux Ent</a:t>
                  </a:r>
                  <a:endParaRPr lang="en-US" altLang="ko-KR" sz="7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endParaRP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kern="0" dirty="0">
                      <a:solidFill>
                        <a:srgbClr val="000000"/>
                      </a:solidFill>
                      <a:latin typeface="굴림" pitchFamily="50" charset="-127"/>
                      <a:ea typeface="굴림" pitchFamily="50" charset="-127"/>
                    </a:rPr>
                    <a:t>JSP / JDK</a:t>
                  </a: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i="1" kern="0" dirty="0" err="1">
                      <a:solidFill>
                        <a:srgbClr val="FF0000"/>
                      </a:solidFill>
                      <a:latin typeface="굴림" pitchFamily="50" charset="-127"/>
                      <a:ea typeface="굴림" pitchFamily="50" charset="-127"/>
                    </a:rPr>
                    <a:t>WebToB</a:t>
                  </a:r>
                  <a:endParaRPr lang="en-US" altLang="ko-KR" sz="7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endParaRP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i="1" kern="0" dirty="0">
                      <a:solidFill>
                        <a:srgbClr val="FF0000"/>
                      </a:solidFill>
                      <a:latin typeface="굴림" pitchFamily="50" charset="-127"/>
                      <a:ea typeface="굴림" pitchFamily="50" charset="-127"/>
                    </a:rPr>
                    <a:t>JEUS</a:t>
                  </a: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i="1" kern="0" dirty="0" err="1">
                      <a:solidFill>
                        <a:srgbClr val="FF0000"/>
                      </a:solidFill>
                      <a:latin typeface="굴림" pitchFamily="50" charset="-127"/>
                      <a:ea typeface="굴림" pitchFamily="50" charset="-127"/>
                    </a:rPr>
                    <a:t>IBSheet</a:t>
                  </a:r>
                  <a:endParaRPr lang="en-US" altLang="ko-KR" sz="7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112" name="Rectangle 1401"/>
                <p:cNvSpPr>
                  <a:spLocks noChangeArrowheads="1"/>
                </p:cNvSpPr>
                <p:nvPr/>
              </p:nvSpPr>
              <p:spPr bwMode="auto">
                <a:xfrm>
                  <a:off x="1480" y="992"/>
                  <a:ext cx="1131" cy="171"/>
                </a:xfrm>
                <a:prstGeom prst="rect">
                  <a:avLst/>
                </a:prstGeom>
                <a:solidFill>
                  <a:srgbClr val="CAD7F2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defTabSz="762000" fontAlgn="auto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ko-KR" altLang="en-US" sz="800" kern="0">
                      <a:latin typeface="굴림" pitchFamily="50" charset="-127"/>
                      <a:ea typeface="굴림" pitchFamily="50" charset="-127"/>
                    </a:rPr>
                    <a:t>내부 테스트 서버</a:t>
                  </a:r>
                </a:p>
              </p:txBody>
            </p:sp>
          </p:grpSp>
          <p:pic>
            <p:nvPicPr>
              <p:cNvPr id="108" name="Picture 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655576" y="1915280"/>
                <a:ext cx="573327" cy="4751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cxnSp>
          <p:nvCxnSpPr>
            <p:cNvPr id="103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705669" y="4869641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104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846444" y="4909841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sp>
          <p:nvSpPr>
            <p:cNvPr id="105" name="TextBox 93"/>
            <p:cNvSpPr txBox="1"/>
            <p:nvPr/>
          </p:nvSpPr>
          <p:spPr>
            <a:xfrm>
              <a:off x="8892515" y="4857941"/>
              <a:ext cx="28803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8453462" y="6071082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dmdev</a:t>
              </a:r>
              <a:endParaRPr lang="ko-KR" altLang="en-US" sz="80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grpSp>
        <p:nvGrpSpPr>
          <p:cNvPr id="113" name="그룹 228"/>
          <p:cNvGrpSpPr/>
          <p:nvPr/>
        </p:nvGrpSpPr>
        <p:grpSpPr>
          <a:xfrm>
            <a:off x="3910354" y="1501424"/>
            <a:ext cx="749281" cy="1516712"/>
            <a:chOff x="7110427" y="1484784"/>
            <a:chExt cx="938813" cy="1516712"/>
          </a:xfrm>
        </p:grpSpPr>
        <p:grpSp>
          <p:nvGrpSpPr>
            <p:cNvPr id="119" name="Group 1397"/>
            <p:cNvGrpSpPr>
              <a:grpSpLocks/>
            </p:cNvGrpSpPr>
            <p:nvPr/>
          </p:nvGrpSpPr>
          <p:grpSpPr bwMode="auto">
            <a:xfrm>
              <a:off x="7113240" y="1720999"/>
              <a:ext cx="936000" cy="1080000"/>
              <a:chOff x="1463" y="976"/>
              <a:chExt cx="1169" cy="619"/>
            </a:xfrm>
          </p:grpSpPr>
          <p:sp>
            <p:nvSpPr>
              <p:cNvPr id="121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2" name="Rectangle 1399"/>
              <p:cNvSpPr>
                <a:spLocks noChangeArrowheads="1"/>
              </p:cNvSpPr>
              <p:nvPr/>
            </p:nvSpPr>
            <p:spPr bwMode="auto">
              <a:xfrm>
                <a:off x="1480" y="1197"/>
                <a:ext cx="426" cy="3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3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defTabSz="762000"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Linux </a:t>
                </a:r>
                <a:r>
                  <a:rPr lang="en-US" altLang="ko-KR" sz="6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Ent</a:t>
                </a:r>
                <a:endPara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JSP / JDK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Tomcat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Ontobase</a:t>
                </a:r>
                <a:endPara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Apache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-</a:t>
                </a:r>
                <a:r>
                  <a:rPr lang="en-US" altLang="ko-KR" sz="6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cassandra</a:t>
                </a:r>
                <a:endPara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4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700" kern="0">
                    <a:latin typeface="굴림" pitchFamily="50" charset="-127"/>
                    <a:ea typeface="굴림" pitchFamily="50" charset="-127"/>
                  </a:rPr>
                  <a:t>중계 서버</a:t>
                </a:r>
                <a:r>
                  <a:rPr lang="en-US" altLang="ko-KR" sz="700" kern="0">
                    <a:latin typeface="굴림" pitchFamily="50" charset="-127"/>
                    <a:ea typeface="굴림" pitchFamily="50" charset="-127"/>
                  </a:rPr>
                  <a:t>, LOD</a:t>
                </a: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cxnSp>
          <p:nvCxnSpPr>
            <p:cNvPr id="115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7381188" y="1610784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116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7599304" y="1646792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sp>
          <p:nvSpPr>
            <p:cNvPr id="117" name="TextBox 116"/>
            <p:cNvSpPr txBox="1"/>
            <p:nvPr/>
          </p:nvSpPr>
          <p:spPr>
            <a:xfrm>
              <a:off x="7645871" y="1600225"/>
              <a:ext cx="28803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6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8" name="직사각형 120"/>
            <p:cNvSpPr/>
            <p:nvPr/>
          </p:nvSpPr>
          <p:spPr>
            <a:xfrm>
              <a:off x="7110427" y="2857496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datamartrelay</a:t>
              </a:r>
              <a:endParaRPr lang="ko-KR" altLang="en-US" sz="70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sp>
        <p:nvSpPr>
          <p:cNvPr id="136" name="AutoShape 1398"/>
          <p:cNvSpPr>
            <a:spLocks noChangeArrowheads="1"/>
          </p:cNvSpPr>
          <p:nvPr/>
        </p:nvSpPr>
        <p:spPr bwMode="auto">
          <a:xfrm>
            <a:off x="4732109" y="1736285"/>
            <a:ext cx="747036" cy="1080000"/>
          </a:xfrm>
          <a:prstGeom prst="bevel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8" dist="17961" dir="13500000">
              <a:srgbClr val="90B3F2">
                <a:gamma/>
                <a:shade val="60000"/>
                <a:invGamma/>
              </a:srgbClr>
            </a:prstShdw>
          </a:effectLst>
        </p:spPr>
        <p:txBody>
          <a:bodyPr wrap="none" lIns="90000" tIns="46800" rIns="90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7" name="Rectangle 1399"/>
          <p:cNvSpPr>
            <a:spLocks noChangeArrowheads="1"/>
          </p:cNvSpPr>
          <p:nvPr/>
        </p:nvSpPr>
        <p:spPr bwMode="auto">
          <a:xfrm>
            <a:off x="4745721" y="2121875"/>
            <a:ext cx="272231" cy="6664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62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ko-KR" sz="700" kern="0">
              <a:solidFill>
                <a:sysClr val="windowText" lastClr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8" name="Rectangle 1400"/>
          <p:cNvSpPr>
            <a:spLocks noChangeArrowheads="1"/>
          </p:cNvSpPr>
          <p:nvPr/>
        </p:nvSpPr>
        <p:spPr bwMode="auto">
          <a:xfrm>
            <a:off x="5106829" y="2123619"/>
            <a:ext cx="372316" cy="66475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54000" rIns="54000" anchor="ctr"/>
          <a:lstStyle/>
          <a:p>
            <a:pPr defTabSz="762000">
              <a:defRPr/>
            </a:pPr>
            <a:r>
              <a:rPr lang="en-US" altLang="ko-KR" sz="6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IBM AIX</a:t>
            </a:r>
          </a:p>
          <a:p>
            <a:pPr defTabSz="762000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6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ORACLE </a:t>
            </a:r>
          </a:p>
          <a:p>
            <a:pPr defTabSz="762000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6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SDE</a:t>
            </a:r>
          </a:p>
        </p:txBody>
      </p:sp>
      <p:sp>
        <p:nvSpPr>
          <p:cNvPr id="139" name="Rectangle 1401"/>
          <p:cNvSpPr>
            <a:spLocks noChangeArrowheads="1"/>
          </p:cNvSpPr>
          <p:nvPr/>
        </p:nvSpPr>
        <p:spPr bwMode="auto">
          <a:xfrm>
            <a:off x="4745721" y="1764201"/>
            <a:ext cx="722753" cy="2983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62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600" kern="0" dirty="0">
                <a:latin typeface="굴림" pitchFamily="50" charset="-127"/>
                <a:ea typeface="굴림" pitchFamily="50" charset="-127"/>
              </a:rPr>
              <a:t>서울데이터마트</a:t>
            </a:r>
            <a:r>
              <a:rPr lang="en-US" altLang="ko-KR" sz="600" kern="0" dirty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rPr>
              <a:t>DB </a:t>
            </a:r>
          </a:p>
          <a:p>
            <a:pPr algn="ctr" defTabSz="762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600" kern="0" dirty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rPr>
              <a:t>서버 </a:t>
            </a:r>
            <a:r>
              <a:rPr lang="en-US" altLang="ko-KR" sz="600" kern="0" dirty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rPr>
              <a:t>#1 (A), #2(S)</a:t>
            </a:r>
            <a:endParaRPr lang="ko-KR" altLang="en-US" sz="600" kern="0" dirty="0">
              <a:solidFill>
                <a:sysClr val="windowText" lastClr="000000"/>
              </a:solidFill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27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61095" y="2149283"/>
            <a:ext cx="314945" cy="31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65447" y="2460190"/>
            <a:ext cx="313431" cy="288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" name="Picture 1116" descr="k2a_t2000_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03094" y="3074586"/>
            <a:ext cx="601758" cy="19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0" name="AutoShape 1834"/>
          <p:cNvCxnSpPr>
            <a:cxnSpLocks noChangeShapeType="1"/>
          </p:cNvCxnSpPr>
          <p:nvPr/>
        </p:nvCxnSpPr>
        <p:spPr bwMode="auto">
          <a:xfrm>
            <a:off x="5164261" y="1742545"/>
            <a:ext cx="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131" name="AutoShape 1834"/>
          <p:cNvCxnSpPr>
            <a:cxnSpLocks noChangeShapeType="1"/>
          </p:cNvCxnSpPr>
          <p:nvPr/>
        </p:nvCxnSpPr>
        <p:spPr bwMode="auto">
          <a:xfrm>
            <a:off x="5380285" y="1742553"/>
            <a:ext cx="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cxnSp>
        <p:nvCxnSpPr>
          <p:cNvPr id="132" name="꺾인 연결선 202"/>
          <p:cNvCxnSpPr>
            <a:stCxn id="129" idx="0"/>
            <a:endCxn id="136" idx="2"/>
          </p:cNvCxnSpPr>
          <p:nvPr/>
        </p:nvCxnSpPr>
        <p:spPr>
          <a:xfrm rot="16200000" flipV="1">
            <a:off x="5025650" y="2896263"/>
            <a:ext cx="258301" cy="983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732109" y="3222224"/>
            <a:ext cx="97751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 err="1"/>
              <a:t>데이터마트</a:t>
            </a:r>
            <a:r>
              <a:rPr lang="en-US" altLang="ko-KR" sz="600" dirty="0"/>
              <a:t> </a:t>
            </a:r>
            <a:r>
              <a:rPr lang="ko-KR" altLang="en-US" sz="600" dirty="0"/>
              <a:t>스토리지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227173" y="1605986"/>
            <a:ext cx="2298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accent1">
                    <a:lumMod val="75000"/>
                  </a:schemeClr>
                </a:solidFill>
              </a:rPr>
              <a:t>UTP</a:t>
            </a:r>
            <a:endParaRPr lang="ko-KR" altLang="en-US" sz="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4731643" y="2863257"/>
            <a:ext cx="747036" cy="14400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Mart DB</a:t>
            </a:r>
            <a:endParaRPr lang="ko-KR" altLang="en-US" sz="70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cxnSp>
        <p:nvCxnSpPr>
          <p:cNvPr id="142" name="AutoShape 1834"/>
          <p:cNvCxnSpPr>
            <a:cxnSpLocks noChangeShapeType="1"/>
          </p:cNvCxnSpPr>
          <p:nvPr/>
        </p:nvCxnSpPr>
        <p:spPr bwMode="auto">
          <a:xfrm>
            <a:off x="3846105" y="1742545"/>
            <a:ext cx="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143" name="AutoShape 1834"/>
          <p:cNvCxnSpPr>
            <a:cxnSpLocks noChangeShapeType="1"/>
          </p:cNvCxnSpPr>
          <p:nvPr/>
        </p:nvCxnSpPr>
        <p:spPr bwMode="auto">
          <a:xfrm>
            <a:off x="4028221" y="1742553"/>
            <a:ext cx="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144" name="TextBox 143"/>
          <p:cNvSpPr txBox="1"/>
          <p:nvPr/>
        </p:nvSpPr>
        <p:spPr>
          <a:xfrm>
            <a:off x="3570989" y="1608372"/>
            <a:ext cx="2298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accent1">
                    <a:lumMod val="75000"/>
                  </a:schemeClr>
                </a:solidFill>
              </a:rPr>
              <a:t>UTP</a:t>
            </a:r>
            <a:endParaRPr lang="ko-KR" altLang="en-US" sz="6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47" name="Group 1397"/>
          <p:cNvGrpSpPr>
            <a:grpSpLocks/>
          </p:cNvGrpSpPr>
          <p:nvPr/>
        </p:nvGrpSpPr>
        <p:grpSpPr bwMode="auto">
          <a:xfrm>
            <a:off x="3080792" y="1736285"/>
            <a:ext cx="747036" cy="1080000"/>
            <a:chOff x="1463" y="976"/>
            <a:chExt cx="1169" cy="619"/>
          </a:xfrm>
        </p:grpSpPr>
        <p:sp>
          <p:nvSpPr>
            <p:cNvPr id="149" name="AutoShape 1398"/>
            <p:cNvSpPr>
              <a:spLocks noChangeArrowheads="1"/>
            </p:cNvSpPr>
            <p:nvPr/>
          </p:nvSpPr>
          <p:spPr bwMode="auto">
            <a:xfrm>
              <a:off x="1463" y="976"/>
              <a:ext cx="1169" cy="619"/>
            </a:xfrm>
            <a:prstGeom prst="bevel">
              <a:avLst>
                <a:gd name="adj" fmla="val 0"/>
              </a:avLst>
            </a:prstGeom>
            <a:solidFill>
              <a:srgbClr val="90B3F2"/>
            </a:solidFill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rgbClr val="90B3F2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700" kern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0" name="Rectangle 1399"/>
            <p:cNvSpPr>
              <a:spLocks noChangeArrowheads="1"/>
            </p:cNvSpPr>
            <p:nvPr/>
          </p:nvSpPr>
          <p:spPr bwMode="auto">
            <a:xfrm>
              <a:off x="1480" y="1197"/>
              <a:ext cx="426" cy="3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6200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ko-KR" sz="700" kern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1" name="Rectangle 1400"/>
            <p:cNvSpPr>
              <a:spLocks noChangeArrowheads="1"/>
            </p:cNvSpPr>
            <p:nvPr/>
          </p:nvSpPr>
          <p:spPr bwMode="auto">
            <a:xfrm>
              <a:off x="1931" y="1198"/>
              <a:ext cx="690" cy="381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54000" rIns="54000" anchor="ctr"/>
            <a:lstStyle/>
            <a:p>
              <a:pPr defTabSz="762000">
                <a:defRPr/>
              </a:pPr>
              <a:r>
                <a:rPr lang="en-US" altLang="ko-KR" sz="6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Linux Ent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JSP / JDK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 err="1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WebToB</a:t>
              </a:r>
              <a:endParaRPr lang="en-US" altLang="ko-KR" sz="6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JEUS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IBSheet</a:t>
              </a:r>
            </a:p>
          </p:txBody>
        </p:sp>
        <p:sp>
          <p:nvSpPr>
            <p:cNvPr id="152" name="Rectangle 1401"/>
            <p:cNvSpPr>
              <a:spLocks noChangeArrowheads="1"/>
            </p:cNvSpPr>
            <p:nvPr/>
          </p:nvSpPr>
          <p:spPr bwMode="auto">
            <a:xfrm>
              <a:off x="1480" y="992"/>
              <a:ext cx="1131" cy="171"/>
            </a:xfrm>
            <a:prstGeom prst="rect">
              <a:avLst/>
            </a:prstGeom>
            <a:solidFill>
              <a:srgbClr val="CAD7F2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6200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700" kern="0" dirty="0">
                  <a:latin typeface="굴림" pitchFamily="50" charset="-127"/>
                  <a:ea typeface="굴림" pitchFamily="50" charset="-127"/>
                </a:rPr>
                <a:t>자치구 </a:t>
              </a:r>
              <a:r>
                <a:rPr lang="ko-KR" altLang="en-US" sz="700" kern="0" dirty="0" err="1">
                  <a:latin typeface="굴림" pitchFamily="50" charset="-127"/>
                  <a:ea typeface="굴림" pitchFamily="50" charset="-127"/>
                </a:rPr>
                <a:t>데이터마트</a:t>
              </a:r>
              <a:endParaRPr lang="en-US" altLang="ko-KR" sz="700" kern="0" dirty="0">
                <a:latin typeface="굴림" pitchFamily="50" charset="-127"/>
                <a:ea typeface="굴림" pitchFamily="50" charset="-127"/>
              </a:endParaRPr>
            </a:p>
            <a:p>
              <a:pPr algn="ctr" defTabSz="76200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700" kern="0" dirty="0">
                  <a:latin typeface="굴림" pitchFamily="50" charset="-127"/>
                  <a:ea typeface="굴림" pitchFamily="50" charset="-127"/>
                </a:rPr>
                <a:t>서버 </a:t>
              </a:r>
              <a:r>
                <a:rPr lang="en-US" altLang="ko-KR" sz="700" kern="0" dirty="0">
                  <a:latin typeface="굴림" pitchFamily="50" charset="-127"/>
                  <a:ea typeface="굴림" pitchFamily="50" charset="-127"/>
                </a:rPr>
                <a:t>#1</a:t>
              </a:r>
              <a:endParaRPr lang="ko-KR" altLang="en-US" sz="700" kern="0" dirty="0">
                <a:latin typeface="굴림" pitchFamily="50" charset="-127"/>
                <a:ea typeface="굴림" pitchFamily="50" charset="-127"/>
              </a:endParaRPr>
            </a:p>
          </p:txBody>
        </p:sp>
      </p:grpSp>
      <p:grpSp>
        <p:nvGrpSpPr>
          <p:cNvPr id="153" name="그룹 189"/>
          <p:cNvGrpSpPr/>
          <p:nvPr/>
        </p:nvGrpSpPr>
        <p:grpSpPr>
          <a:xfrm>
            <a:off x="1684836" y="4384928"/>
            <a:ext cx="1044466" cy="1931734"/>
            <a:chOff x="2952736" y="1483007"/>
            <a:chExt cx="1044466" cy="1931734"/>
          </a:xfrm>
        </p:grpSpPr>
        <p:grpSp>
          <p:nvGrpSpPr>
            <p:cNvPr id="154" name="Group 1397"/>
            <p:cNvGrpSpPr>
              <a:grpSpLocks/>
            </p:cNvGrpSpPr>
            <p:nvPr/>
          </p:nvGrpSpPr>
          <p:grpSpPr bwMode="auto">
            <a:xfrm>
              <a:off x="2953202" y="1728747"/>
              <a:ext cx="936000" cy="1080000"/>
              <a:chOff x="1463" y="976"/>
              <a:chExt cx="1169" cy="619"/>
            </a:xfrm>
          </p:grpSpPr>
          <p:sp>
            <p:nvSpPr>
              <p:cNvPr id="164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800" kern="0">
                  <a:solidFill>
                    <a:sysClr val="windowText" lastClr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65" name="Rectangle 1399"/>
              <p:cNvSpPr>
                <a:spLocks noChangeArrowheads="1"/>
              </p:cNvSpPr>
              <p:nvPr/>
            </p:nvSpPr>
            <p:spPr bwMode="auto">
              <a:xfrm>
                <a:off x="1480" y="1197"/>
                <a:ext cx="426" cy="3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800" kern="0">
                  <a:solidFill>
                    <a:sysClr val="windowText" lastClr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66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defTabSz="762000"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IBM AIX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ORACLE 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CDC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SDE</a:t>
                </a:r>
              </a:p>
            </p:txBody>
          </p:sp>
          <p:sp>
            <p:nvSpPr>
              <p:cNvPr id="167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800" kern="0">
                    <a:latin typeface="굴림" pitchFamily="50" charset="-127"/>
                    <a:ea typeface="굴림" pitchFamily="50" charset="-127"/>
                  </a:rPr>
                  <a:t>오픈아키텍쳐</a:t>
                </a:r>
                <a:r>
                  <a:rPr lang="en-US" altLang="ko-KR" sz="800" kern="0">
                    <a:solidFill>
                      <a:sysClr val="windowText" lastClr="000000"/>
                    </a:solidFill>
                    <a:latin typeface="굴림" pitchFamily="50" charset="-127"/>
                    <a:ea typeface="굴림" pitchFamily="50" charset="-127"/>
                  </a:rPr>
                  <a:t>DB </a:t>
                </a:r>
              </a:p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800" kern="0">
                    <a:solidFill>
                      <a:sysClr val="windowText" lastClr="000000"/>
                    </a:solidFill>
                    <a:latin typeface="굴림" pitchFamily="50" charset="-127"/>
                    <a:ea typeface="굴림" pitchFamily="50" charset="-127"/>
                  </a:rPr>
                  <a:t>서버 </a:t>
                </a:r>
                <a:r>
                  <a:rPr lang="en-US" altLang="ko-KR" sz="800" kern="0">
                    <a:solidFill>
                      <a:sysClr val="windowText" lastClr="000000"/>
                    </a:solidFill>
                    <a:latin typeface="굴림" pitchFamily="50" charset="-127"/>
                    <a:ea typeface="굴림" pitchFamily="50" charset="-127"/>
                  </a:rPr>
                  <a:t>#1 (A), #2(S)</a:t>
                </a:r>
                <a:endParaRPr lang="ko-KR" altLang="en-US" sz="800" kern="0">
                  <a:solidFill>
                    <a:sysClr val="windowText" lastClr="00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pic>
          <p:nvPicPr>
            <p:cNvPr id="155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82188" y="2141745"/>
              <a:ext cx="314945" cy="316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86540" y="2452652"/>
              <a:ext cx="313431" cy="288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" name="Picture 1116" descr="k2a_t2000_1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124187" y="3067048"/>
              <a:ext cx="601758" cy="190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58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3259354" y="1609007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159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3511378" y="1645015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cxnSp>
          <p:nvCxnSpPr>
            <p:cNvPr id="160" name="꺾인 연결선 202"/>
            <p:cNvCxnSpPr>
              <a:stCxn id="157" idx="0"/>
              <a:endCxn id="164" idx="2"/>
            </p:cNvCxnSpPr>
            <p:nvPr/>
          </p:nvCxnSpPr>
          <p:spPr>
            <a:xfrm rot="16200000" flipV="1">
              <a:off x="3293984" y="2935966"/>
              <a:ext cx="258301" cy="386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2953202" y="3214686"/>
              <a:ext cx="10440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/>
                <a:t>아키텍쳐 스토리지</a:t>
              </a:r>
            </a:p>
          </p:txBody>
        </p:sp>
        <p:sp>
          <p:nvSpPr>
            <p:cNvPr id="162" name="TextBox 112"/>
            <p:cNvSpPr txBox="1"/>
            <p:nvPr/>
          </p:nvSpPr>
          <p:spPr>
            <a:xfrm>
              <a:off x="3563278" y="1598448"/>
              <a:ext cx="28803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2952736" y="2855719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dmarch1,2</a:t>
              </a:r>
              <a:endParaRPr lang="ko-KR" altLang="en-US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sp>
        <p:nvSpPr>
          <p:cNvPr id="168" name="TextBox 167"/>
          <p:cNvSpPr txBox="1"/>
          <p:nvPr/>
        </p:nvSpPr>
        <p:spPr>
          <a:xfrm>
            <a:off x="683003" y="6113891"/>
            <a:ext cx="9249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EMC </a:t>
            </a:r>
            <a:r>
              <a:rPr lang="ko-KR" altLang="en-US" sz="700" dirty="0"/>
              <a:t>스토리지</a:t>
            </a:r>
          </a:p>
        </p:txBody>
      </p:sp>
      <p:cxnSp>
        <p:nvCxnSpPr>
          <p:cNvPr id="169" name="AutoShape 1834"/>
          <p:cNvCxnSpPr>
            <a:cxnSpLocks noChangeShapeType="1"/>
          </p:cNvCxnSpPr>
          <p:nvPr/>
        </p:nvCxnSpPr>
        <p:spPr bwMode="auto">
          <a:xfrm rot="5400000" flipH="1" flipV="1">
            <a:off x="925220" y="4509989"/>
            <a:ext cx="252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pic>
        <p:nvPicPr>
          <p:cNvPr id="1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1879" y="5971015"/>
            <a:ext cx="504825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1" name="AutoShape 1834"/>
          <p:cNvCxnSpPr>
            <a:cxnSpLocks noChangeShapeType="1"/>
          </p:cNvCxnSpPr>
          <p:nvPr/>
        </p:nvCxnSpPr>
        <p:spPr bwMode="auto">
          <a:xfrm rot="5400000" flipH="1" flipV="1">
            <a:off x="1182577" y="4545997"/>
            <a:ext cx="180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cxnSp>
        <p:nvCxnSpPr>
          <p:cNvPr id="172" name="꺾인 연결선 202"/>
          <p:cNvCxnSpPr>
            <a:stCxn id="170" idx="0"/>
          </p:cNvCxnSpPr>
          <p:nvPr/>
        </p:nvCxnSpPr>
        <p:spPr>
          <a:xfrm rot="16200000" flipV="1">
            <a:off x="977756" y="5824478"/>
            <a:ext cx="261286" cy="3178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253527" y="4503622"/>
            <a:ext cx="28803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>
                <a:solidFill>
                  <a:schemeClr val="accent1">
                    <a:lumMod val="75000"/>
                  </a:schemeClr>
                </a:solidFill>
              </a:rPr>
              <a:t>UTP</a:t>
            </a:r>
            <a:endParaRPr lang="ko-KR" altLang="en-US" sz="7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619465" y="5755577"/>
            <a:ext cx="936000" cy="14400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Dmpot1,2</a:t>
            </a:r>
            <a:endParaRPr lang="ko-KR" altLang="en-US" sz="800" dirty="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grpSp>
        <p:nvGrpSpPr>
          <p:cNvPr id="175" name="그룹 177"/>
          <p:cNvGrpSpPr/>
          <p:nvPr/>
        </p:nvGrpSpPr>
        <p:grpSpPr>
          <a:xfrm>
            <a:off x="1424608" y="1483660"/>
            <a:ext cx="747036" cy="1516712"/>
            <a:chOff x="2588240" y="1483660"/>
            <a:chExt cx="936000" cy="1516712"/>
          </a:xfrm>
        </p:grpSpPr>
        <p:grpSp>
          <p:nvGrpSpPr>
            <p:cNvPr id="176" name="Group 1397"/>
            <p:cNvGrpSpPr>
              <a:grpSpLocks/>
            </p:cNvGrpSpPr>
            <p:nvPr/>
          </p:nvGrpSpPr>
          <p:grpSpPr bwMode="auto">
            <a:xfrm>
              <a:off x="2588240" y="1732414"/>
              <a:ext cx="936000" cy="1080000"/>
              <a:chOff x="1463" y="976"/>
              <a:chExt cx="1169" cy="619"/>
            </a:xfrm>
          </p:grpSpPr>
          <p:sp>
            <p:nvSpPr>
              <p:cNvPr id="183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84" name="Rectangle 1399"/>
              <p:cNvSpPr>
                <a:spLocks noChangeArrowheads="1"/>
              </p:cNvSpPr>
              <p:nvPr/>
            </p:nvSpPr>
            <p:spPr bwMode="auto">
              <a:xfrm>
                <a:off x="1480" y="1202"/>
                <a:ext cx="426" cy="3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85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defTabSz="762000">
                  <a:defRPr/>
                </a:pPr>
                <a:r>
                  <a:rPr lang="en-US" altLang="ko-KR" sz="600" kern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Linux Ent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JSP / JDK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WebToB</a:t>
                </a:r>
                <a:endParaRPr lang="en-US" altLang="ko-KR" sz="6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JEUS</a:t>
                </a:r>
              </a:p>
            </p:txBody>
          </p:sp>
          <p:sp>
            <p:nvSpPr>
              <p:cNvPr id="186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kern="0" err="1">
                    <a:latin typeface="굴림" pitchFamily="50" charset="-127"/>
                    <a:ea typeface="굴림" pitchFamily="50" charset="-127"/>
                  </a:rPr>
                  <a:t>OpenAPI</a:t>
                </a:r>
                <a:r>
                  <a:rPr lang="en-US" altLang="ko-KR" sz="700" kern="0">
                    <a:latin typeface="굴림" pitchFamily="50" charset="-127"/>
                    <a:ea typeface="굴림" pitchFamily="50" charset="-127"/>
                  </a:rPr>
                  <a:t>  WAS </a:t>
                </a:r>
              </a:p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700" kern="0">
                    <a:latin typeface="굴림" pitchFamily="50" charset="-127"/>
                    <a:ea typeface="굴림" pitchFamily="50" charset="-127"/>
                  </a:rPr>
                  <a:t>서버 </a:t>
                </a:r>
                <a:r>
                  <a:rPr lang="en-US" altLang="ko-KR" sz="700" kern="0">
                    <a:latin typeface="굴림" pitchFamily="50" charset="-127"/>
                    <a:ea typeface="굴림" pitchFamily="50" charset="-127"/>
                  </a:rPr>
                  <a:t>#1,#2</a:t>
                </a: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pic>
          <p:nvPicPr>
            <p:cNvPr id="177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611746" y="2165805"/>
              <a:ext cx="323910" cy="325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8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2797770" y="1609660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179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3049794" y="1645668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sp>
          <p:nvSpPr>
            <p:cNvPr id="180" name="TextBox 179"/>
            <p:cNvSpPr txBox="1"/>
            <p:nvPr/>
          </p:nvSpPr>
          <p:spPr>
            <a:xfrm>
              <a:off x="3101695" y="1612818"/>
              <a:ext cx="28803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6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2588240" y="2856372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Datamartwas, 2</a:t>
              </a:r>
              <a:endParaRPr lang="ko-KR" altLang="en-US" sz="7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  <p:pic>
          <p:nvPicPr>
            <p:cNvPr id="182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615210" y="2461052"/>
              <a:ext cx="323910" cy="325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87" name="그룹 190"/>
          <p:cNvGrpSpPr/>
          <p:nvPr/>
        </p:nvGrpSpPr>
        <p:grpSpPr>
          <a:xfrm>
            <a:off x="624505" y="4629729"/>
            <a:ext cx="936000" cy="1080000"/>
            <a:chOff x="1730984" y="4629729"/>
            <a:chExt cx="936000" cy="1080000"/>
          </a:xfrm>
        </p:grpSpPr>
        <p:grpSp>
          <p:nvGrpSpPr>
            <p:cNvPr id="188" name="그룹 273"/>
            <p:cNvGrpSpPr/>
            <p:nvPr/>
          </p:nvGrpSpPr>
          <p:grpSpPr>
            <a:xfrm>
              <a:off x="1730984" y="4629729"/>
              <a:ext cx="936000" cy="1080000"/>
              <a:chOff x="776536" y="1730524"/>
              <a:chExt cx="936000" cy="1080000"/>
            </a:xfrm>
          </p:grpSpPr>
          <p:grpSp>
            <p:nvGrpSpPr>
              <p:cNvPr id="190" name="Group 1397"/>
              <p:cNvGrpSpPr>
                <a:grpSpLocks/>
              </p:cNvGrpSpPr>
              <p:nvPr/>
            </p:nvGrpSpPr>
            <p:grpSpPr bwMode="auto">
              <a:xfrm>
                <a:off x="776536" y="1730524"/>
                <a:ext cx="936000" cy="1080000"/>
                <a:chOff x="1463" y="976"/>
                <a:chExt cx="1169" cy="619"/>
              </a:xfrm>
            </p:grpSpPr>
            <p:sp>
              <p:nvSpPr>
                <p:cNvPr id="192" name="AutoShape 1398"/>
                <p:cNvSpPr>
                  <a:spLocks noChangeArrowheads="1"/>
                </p:cNvSpPr>
                <p:nvPr/>
              </p:nvSpPr>
              <p:spPr bwMode="auto">
                <a:xfrm>
                  <a:off x="1463" y="976"/>
                  <a:ext cx="1169" cy="619"/>
                </a:xfrm>
                <a:prstGeom prst="bevel">
                  <a:avLst>
                    <a:gd name="adj" fmla="val 0"/>
                  </a:avLst>
                </a:prstGeom>
                <a:solidFill>
                  <a:srgbClr val="90B3F2"/>
                </a:solidFill>
                <a:ln w="9525">
                  <a:noFill/>
                  <a:miter lim="800000"/>
                  <a:headEnd/>
                  <a:tailEnd/>
                </a:ln>
                <a:effectLst>
                  <a:prstShdw prst="shdw18" dist="17961" dir="13500000">
                    <a:srgbClr val="90B3F2">
                      <a:gamma/>
                      <a:shade val="60000"/>
                      <a:invGamma/>
                    </a:srgbClr>
                  </a:prstShdw>
                </a:effectLst>
              </p:spPr>
              <p:txBody>
                <a:bodyPr wrap="none" lIns="90000" tIns="46800" rIns="90000" bIns="46800"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ko-KR" altLang="en-US" sz="800" kern="0">
                    <a:solidFill>
                      <a:sysClr val="windowText" lastClr="000000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193" name="Rectangle 1399"/>
                <p:cNvSpPr>
                  <a:spLocks noChangeArrowheads="1"/>
                </p:cNvSpPr>
                <p:nvPr/>
              </p:nvSpPr>
              <p:spPr bwMode="auto">
                <a:xfrm>
                  <a:off x="1480" y="1197"/>
                  <a:ext cx="426" cy="38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defTabSz="762000" fontAlgn="auto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endParaRPr lang="ko-KR" altLang="ko-KR" sz="800" kern="0">
                    <a:solidFill>
                      <a:sysClr val="windowText" lastClr="000000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194" name="Rectangle 1400"/>
                <p:cNvSpPr>
                  <a:spLocks noChangeArrowheads="1"/>
                </p:cNvSpPr>
                <p:nvPr/>
              </p:nvSpPr>
              <p:spPr bwMode="auto">
                <a:xfrm>
                  <a:off x="1931" y="1198"/>
                  <a:ext cx="690" cy="381"/>
                </a:xfrm>
                <a:prstGeom prst="rect">
                  <a:avLst/>
                </a:prstGeom>
                <a:solidFill>
                  <a:srgbClr val="FFFFFF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54000" rIns="54000" anchor="ctr"/>
                <a:lstStyle/>
                <a:p>
                  <a:pPr defTabSz="762000">
                    <a:defRPr/>
                  </a:pPr>
                  <a:r>
                    <a:rPr lang="en-US" altLang="ko-KR" sz="700" kern="0" dirty="0">
                      <a:solidFill>
                        <a:srgbClr val="000000"/>
                      </a:solidFill>
                      <a:latin typeface="굴림" pitchFamily="50" charset="-127"/>
                      <a:ea typeface="굴림" pitchFamily="50" charset="-127"/>
                    </a:rPr>
                    <a:t>Linux Ent</a:t>
                  </a: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kern="0" dirty="0">
                      <a:solidFill>
                        <a:srgbClr val="000000"/>
                      </a:solidFill>
                      <a:latin typeface="굴림" pitchFamily="50" charset="-127"/>
                      <a:ea typeface="굴림" pitchFamily="50" charset="-127"/>
                    </a:rPr>
                    <a:t>JSP / JDK</a:t>
                  </a: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kern="0" dirty="0" err="1">
                      <a:solidFill>
                        <a:srgbClr val="000000"/>
                      </a:solidFill>
                      <a:latin typeface="굴림" pitchFamily="50" charset="-127"/>
                      <a:ea typeface="굴림" pitchFamily="50" charset="-127"/>
                    </a:rPr>
                    <a:t>WebToB</a:t>
                  </a:r>
                  <a:endPara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endParaRP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kern="0" dirty="0">
                      <a:solidFill>
                        <a:srgbClr val="000000"/>
                      </a:solidFill>
                      <a:latin typeface="굴림" pitchFamily="50" charset="-127"/>
                      <a:ea typeface="굴림" pitchFamily="50" charset="-127"/>
                    </a:rPr>
                    <a:t>JEUS</a:t>
                  </a:r>
                </a:p>
                <a:p>
                  <a:pPr defTabSz="762000" fontAlgn="auto"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en-US" altLang="ko-KR" sz="700" kern="0" dirty="0" err="1">
                      <a:solidFill>
                        <a:srgbClr val="000000"/>
                      </a:solidFill>
                      <a:latin typeface="굴림" pitchFamily="50" charset="-127"/>
                      <a:ea typeface="굴림" pitchFamily="50" charset="-127"/>
                    </a:rPr>
                    <a:t>IBSheet</a:t>
                  </a:r>
                  <a:endPara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195" name="Rectangle 1401"/>
                <p:cNvSpPr>
                  <a:spLocks noChangeArrowheads="1"/>
                </p:cNvSpPr>
                <p:nvPr/>
              </p:nvSpPr>
              <p:spPr bwMode="auto">
                <a:xfrm>
                  <a:off x="1480" y="992"/>
                  <a:ext cx="1131" cy="171"/>
                </a:xfrm>
                <a:prstGeom prst="rect">
                  <a:avLst/>
                </a:prstGeom>
                <a:solidFill>
                  <a:srgbClr val="CAD7F2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defTabSz="762000" fontAlgn="auto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ko-KR" altLang="en-US" sz="800" kern="0">
                      <a:latin typeface="굴림" pitchFamily="50" charset="-127"/>
                      <a:ea typeface="굴림" pitchFamily="50" charset="-127"/>
                    </a:rPr>
                    <a:t>내부업무관리</a:t>
                  </a:r>
                  <a:endParaRPr lang="en-US" altLang="ko-KR" sz="800" kern="0">
                    <a:latin typeface="굴림" pitchFamily="50" charset="-127"/>
                    <a:ea typeface="굴림" pitchFamily="50" charset="-127"/>
                  </a:endParaRPr>
                </a:p>
                <a:p>
                  <a:pPr algn="ctr" defTabSz="762000" fontAlgn="auto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  <a:defRPr/>
                  </a:pPr>
                  <a:r>
                    <a:rPr lang="ko-KR" altLang="en-US" sz="800" kern="0">
                      <a:latin typeface="굴림" pitchFamily="50" charset="-127"/>
                      <a:ea typeface="굴림" pitchFamily="50" charset="-127"/>
                    </a:rPr>
                    <a:t>서버 </a:t>
                  </a:r>
                  <a:r>
                    <a:rPr lang="en-US" altLang="ko-KR" sz="800" kern="0">
                      <a:latin typeface="굴림" pitchFamily="50" charset="-127"/>
                      <a:ea typeface="굴림" pitchFamily="50" charset="-127"/>
                    </a:rPr>
                    <a:t>#1, #2</a:t>
                  </a:r>
                  <a:endParaRPr lang="ko-KR" altLang="en-US" sz="800" kern="0">
                    <a:latin typeface="굴림" pitchFamily="50" charset="-127"/>
                    <a:ea typeface="굴림" pitchFamily="50" charset="-127"/>
                  </a:endParaRPr>
                </a:p>
              </p:txBody>
            </p:sp>
          </p:grpSp>
          <p:pic>
            <p:nvPicPr>
              <p:cNvPr id="191" name="Picture 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807329" y="2175273"/>
                <a:ext cx="323910" cy="3250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89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751906" y="5328404"/>
              <a:ext cx="323910" cy="325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96" name="그룹 202"/>
          <p:cNvGrpSpPr/>
          <p:nvPr/>
        </p:nvGrpSpPr>
        <p:grpSpPr>
          <a:xfrm>
            <a:off x="2240367" y="1483660"/>
            <a:ext cx="747036" cy="1516712"/>
            <a:chOff x="2588240" y="1483660"/>
            <a:chExt cx="936000" cy="1516712"/>
          </a:xfrm>
        </p:grpSpPr>
        <p:grpSp>
          <p:nvGrpSpPr>
            <p:cNvPr id="197" name="Group 1397"/>
            <p:cNvGrpSpPr>
              <a:grpSpLocks/>
            </p:cNvGrpSpPr>
            <p:nvPr/>
          </p:nvGrpSpPr>
          <p:grpSpPr bwMode="auto">
            <a:xfrm>
              <a:off x="2588240" y="1732414"/>
              <a:ext cx="936000" cy="1080000"/>
              <a:chOff x="1463" y="976"/>
              <a:chExt cx="1169" cy="619"/>
            </a:xfrm>
          </p:grpSpPr>
          <p:sp>
            <p:nvSpPr>
              <p:cNvPr id="203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04" name="Rectangle 1399"/>
              <p:cNvSpPr>
                <a:spLocks noChangeArrowheads="1"/>
              </p:cNvSpPr>
              <p:nvPr/>
            </p:nvSpPr>
            <p:spPr bwMode="auto">
              <a:xfrm>
                <a:off x="1480" y="1202"/>
                <a:ext cx="426" cy="3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700" kern="0" dirty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05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defTabSz="762000">
                  <a:defRPr/>
                </a:pPr>
                <a:r>
                  <a:rPr lang="en-US" altLang="ko-KR" sz="600" kern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Linux Ent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JSP / JDK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WebToB</a:t>
                </a:r>
                <a:endParaRPr lang="en-US" altLang="ko-KR" sz="600" kern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600" kern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JEUS</a:t>
                </a:r>
              </a:p>
            </p:txBody>
          </p:sp>
          <p:sp>
            <p:nvSpPr>
              <p:cNvPr id="206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700" kern="0">
                    <a:latin typeface="굴림" pitchFamily="50" charset="-127"/>
                    <a:ea typeface="굴림" pitchFamily="50" charset="-127"/>
                  </a:rPr>
                  <a:t>자치구 </a:t>
                </a:r>
                <a:r>
                  <a:rPr lang="en-US" altLang="ko-KR" sz="700" kern="0">
                    <a:latin typeface="굴림" pitchFamily="50" charset="-127"/>
                    <a:ea typeface="굴림" pitchFamily="50" charset="-127"/>
                  </a:rPr>
                  <a:t>OpenAPI  </a:t>
                </a:r>
              </a:p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kern="0">
                    <a:latin typeface="굴림" pitchFamily="50" charset="-127"/>
                    <a:ea typeface="굴림" pitchFamily="50" charset="-127"/>
                  </a:rPr>
                  <a:t>WAS </a:t>
                </a:r>
                <a:r>
                  <a:rPr lang="ko-KR" altLang="en-US" sz="700" kern="0">
                    <a:latin typeface="굴림" pitchFamily="50" charset="-127"/>
                    <a:ea typeface="굴림" pitchFamily="50" charset="-127"/>
                  </a:rPr>
                  <a:t>서버 </a:t>
                </a:r>
                <a:r>
                  <a:rPr lang="en-US" altLang="ko-KR" sz="700" kern="0">
                    <a:latin typeface="굴림" pitchFamily="50" charset="-127"/>
                    <a:ea typeface="굴림" pitchFamily="50" charset="-127"/>
                  </a:rPr>
                  <a:t>#1</a:t>
                </a: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cxnSp>
          <p:nvCxnSpPr>
            <p:cNvPr id="199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2797770" y="1609660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200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3049794" y="1645668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sp>
          <p:nvSpPr>
            <p:cNvPr id="201" name="TextBox 79"/>
            <p:cNvSpPr txBox="1"/>
            <p:nvPr/>
          </p:nvSpPr>
          <p:spPr>
            <a:xfrm>
              <a:off x="3101695" y="1612818"/>
              <a:ext cx="28803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6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02" name="직사각형 201"/>
            <p:cNvSpPr/>
            <p:nvPr/>
          </p:nvSpPr>
          <p:spPr>
            <a:xfrm>
              <a:off x="2588240" y="2856372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atnomowas</a:t>
              </a:r>
              <a:endParaRPr lang="ko-KR" altLang="en-US" sz="70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sp>
        <p:nvSpPr>
          <p:cNvPr id="210" name="직사각형 214"/>
          <p:cNvSpPr/>
          <p:nvPr/>
        </p:nvSpPr>
        <p:spPr>
          <a:xfrm>
            <a:off x="560512" y="1052736"/>
            <a:ext cx="108012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115.84.165.*</a:t>
            </a:r>
            <a:endParaRPr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488504" y="3929066"/>
            <a:ext cx="108012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98.33.1.*</a:t>
            </a:r>
            <a:endParaRPr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2" name="직사각형 211"/>
          <p:cNvSpPr/>
          <p:nvPr/>
        </p:nvSpPr>
        <p:spPr>
          <a:xfrm>
            <a:off x="605918" y="2143116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39</a:t>
            </a:r>
            <a:endParaRPr lang="ko-KR" altLang="en-US" sz="6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605918" y="2537240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48</a:t>
            </a:r>
            <a:endParaRPr lang="ko-KR" altLang="en-US" sz="6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891670" y="1569902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40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1595580" y="1567692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45</a:t>
            </a:r>
            <a:endParaRPr lang="ko-KR" altLang="en-US" sz="6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1477442" y="2564916"/>
            <a:ext cx="172393" cy="19526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600" b="1" i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126</a:t>
            </a:r>
            <a:endParaRPr lang="ko-KR" altLang="en-US" sz="600" b="1" i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1486068" y="2168994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46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2312375" y="2498596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199</a:t>
            </a:r>
            <a:endParaRPr lang="ko-KR" altLang="en-US" sz="6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3124404" y="2500306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198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0" name="직사각형 219"/>
          <p:cNvSpPr/>
          <p:nvPr/>
        </p:nvSpPr>
        <p:spPr>
          <a:xfrm>
            <a:off x="3974059" y="2528614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125</a:t>
            </a:r>
            <a:endParaRPr lang="ko-KR" altLang="en-US" sz="6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4805067" y="2180050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42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2" name="직사각형 221"/>
          <p:cNvSpPr/>
          <p:nvPr/>
        </p:nvSpPr>
        <p:spPr>
          <a:xfrm>
            <a:off x="4795707" y="2523269"/>
            <a:ext cx="172412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43</a:t>
            </a:r>
            <a:endParaRPr lang="ko-KR" altLang="en-US" sz="6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4953000" y="1575082"/>
            <a:ext cx="172412" cy="196385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41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54089" y="5035140"/>
            <a:ext cx="216024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9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52</a:t>
            </a:r>
            <a:endParaRPr lang="ko-KR" altLang="en-US" sz="9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938131" y="4429132"/>
            <a:ext cx="216024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9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54</a:t>
            </a:r>
            <a:endParaRPr lang="ko-KR" altLang="en-US" sz="9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6" name="직사각형 225"/>
          <p:cNvSpPr/>
          <p:nvPr/>
        </p:nvSpPr>
        <p:spPr>
          <a:xfrm>
            <a:off x="671341" y="5419739"/>
            <a:ext cx="216000" cy="223839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9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53</a:t>
            </a:r>
            <a:endParaRPr lang="ko-KR" altLang="en-US" sz="9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1731272" y="5054822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117</a:t>
            </a:r>
            <a:endParaRPr lang="ko-KR" alt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1749268" y="5416498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118</a:t>
            </a:r>
            <a:endParaRPr lang="ko-KR" altLang="en-US" sz="9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2008723" y="4439026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116</a:t>
            </a:r>
            <a:endParaRPr lang="ko-KR" altLang="en-US" sz="9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2929010" y="5392962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113</a:t>
            </a:r>
            <a:endParaRPr lang="ko-KR" altLang="en-US" sz="9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605918" y="1321670"/>
            <a:ext cx="725662" cy="141528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80,443, 8080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1451636" y="1314435"/>
            <a:ext cx="648000" cy="144000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8088,8089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2297019" y="1321670"/>
            <a:ext cx="648000" cy="144000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8088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3105308" y="1321670"/>
            <a:ext cx="648000" cy="144000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80,443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3939555" y="1323532"/>
            <a:ext cx="648000" cy="144000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4834384" y="1313536"/>
            <a:ext cx="500066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1521</a:t>
            </a:r>
            <a:endParaRPr lang="ko-KR" altLang="en-US" sz="800" b="1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240" name="직선 연결선 239"/>
          <p:cNvCxnSpPr/>
          <p:nvPr/>
        </p:nvCxnSpPr>
        <p:spPr>
          <a:xfrm>
            <a:off x="4843909" y="1289723"/>
            <a:ext cx="50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모서리가 둥근 직사각형 241"/>
          <p:cNvSpPr/>
          <p:nvPr/>
        </p:nvSpPr>
        <p:spPr>
          <a:xfrm>
            <a:off x="4992216" y="4229292"/>
            <a:ext cx="504000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5151</a:t>
            </a:r>
            <a:endParaRPr lang="ko-KR" altLang="en-US" sz="900" b="1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244" name="직선 연결선 243"/>
          <p:cNvCxnSpPr/>
          <p:nvPr/>
        </p:nvCxnSpPr>
        <p:spPr>
          <a:xfrm>
            <a:off x="4987453" y="4191192"/>
            <a:ext cx="50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모서리가 둥근 직사각형 245"/>
          <p:cNvSpPr/>
          <p:nvPr/>
        </p:nvSpPr>
        <p:spPr>
          <a:xfrm>
            <a:off x="1821741" y="4214550"/>
            <a:ext cx="500066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1521</a:t>
            </a:r>
            <a:endParaRPr lang="ko-KR" altLang="en-US" sz="900" b="1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247" name="직선 연결선 246"/>
          <p:cNvCxnSpPr/>
          <p:nvPr/>
        </p:nvCxnSpPr>
        <p:spPr>
          <a:xfrm>
            <a:off x="1809661" y="4181212"/>
            <a:ext cx="50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연결선 267"/>
          <p:cNvCxnSpPr/>
          <p:nvPr/>
        </p:nvCxnSpPr>
        <p:spPr>
          <a:xfrm flipH="1">
            <a:off x="1070981" y="2813217"/>
            <a:ext cx="321" cy="285752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/>
          <p:cNvCxnSpPr>
            <a:stCxn id="149" idx="2"/>
            <a:endCxn id="77" idx="3"/>
          </p:cNvCxnSpPr>
          <p:nvPr/>
        </p:nvCxnSpPr>
        <p:spPr>
          <a:xfrm rot="5400000">
            <a:off x="2217551" y="1925538"/>
            <a:ext cx="346013" cy="2127506"/>
          </a:xfrm>
          <a:prstGeom prst="bentConnector2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/>
          <p:cNvSpPr/>
          <p:nvPr/>
        </p:nvSpPr>
        <p:spPr>
          <a:xfrm>
            <a:off x="3080792" y="2857392"/>
            <a:ext cx="747036" cy="14400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atnomoweb</a:t>
            </a:r>
            <a:endParaRPr lang="ko-KR" altLang="en-US" sz="60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grpSp>
        <p:nvGrpSpPr>
          <p:cNvPr id="294" name="그룹 227"/>
          <p:cNvGrpSpPr/>
          <p:nvPr/>
        </p:nvGrpSpPr>
        <p:grpSpPr>
          <a:xfrm>
            <a:off x="7013495" y="4387657"/>
            <a:ext cx="952530" cy="1471441"/>
            <a:chOff x="8453462" y="4743641"/>
            <a:chExt cx="952530" cy="1471441"/>
          </a:xfrm>
        </p:grpSpPr>
        <p:grpSp>
          <p:nvGrpSpPr>
            <p:cNvPr id="300" name="Group 1397"/>
            <p:cNvGrpSpPr>
              <a:grpSpLocks/>
            </p:cNvGrpSpPr>
            <p:nvPr/>
          </p:nvGrpSpPr>
          <p:grpSpPr bwMode="auto">
            <a:xfrm>
              <a:off x="8469992" y="4968049"/>
              <a:ext cx="936000" cy="1080000"/>
              <a:chOff x="1463" y="976"/>
              <a:chExt cx="1169" cy="619"/>
            </a:xfrm>
          </p:grpSpPr>
          <p:sp>
            <p:nvSpPr>
              <p:cNvPr id="302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03" name="Rectangle 1399"/>
              <p:cNvSpPr>
                <a:spLocks noChangeArrowheads="1"/>
              </p:cNvSpPr>
              <p:nvPr/>
            </p:nvSpPr>
            <p:spPr bwMode="auto">
              <a:xfrm>
                <a:off x="1480" y="1197"/>
                <a:ext cx="426" cy="3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04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lvl="0" defTabSz="762000" latinLnBrk="0"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Windows 2007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JSP / JDK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i="1" kern="0" dirty="0">
                    <a:solidFill>
                      <a:srgbClr val="FF0000"/>
                    </a:solidFill>
                    <a:latin typeface="굴림" pitchFamily="50" charset="-127"/>
                    <a:ea typeface="굴림" pitchFamily="50" charset="-127"/>
                  </a:rPr>
                  <a:t>JEUS</a:t>
                </a:r>
              </a:p>
            </p:txBody>
          </p:sp>
          <p:sp>
            <p:nvSpPr>
              <p:cNvPr id="305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800" kern="0" dirty="0">
                    <a:latin typeface="굴림" pitchFamily="50" charset="-127"/>
                    <a:ea typeface="굴림" pitchFamily="50" charset="-127"/>
                  </a:rPr>
                  <a:t>도시계획관리</a:t>
                </a:r>
                <a:r>
                  <a:rPr lang="en-US" altLang="ko-KR" sz="800" kern="0" dirty="0">
                    <a:latin typeface="굴림" pitchFamily="50" charset="-127"/>
                    <a:ea typeface="굴림" pitchFamily="50" charset="-127"/>
                  </a:rPr>
                  <a:t>API</a:t>
                </a:r>
                <a:endParaRPr lang="ko-KR" altLang="en-US" sz="800" kern="0" dirty="0"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cxnSp>
          <p:nvCxnSpPr>
            <p:cNvPr id="296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705669" y="4869641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297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846444" y="4909841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sp>
          <p:nvSpPr>
            <p:cNvPr id="298" name="TextBox 93"/>
            <p:cNvSpPr txBox="1"/>
            <p:nvPr/>
          </p:nvSpPr>
          <p:spPr>
            <a:xfrm>
              <a:off x="8892515" y="4857941"/>
              <a:ext cx="28803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9" name="직사각형 298"/>
            <p:cNvSpPr/>
            <p:nvPr/>
          </p:nvSpPr>
          <p:spPr>
            <a:xfrm>
              <a:off x="8453462" y="6071082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openapi</a:t>
              </a:r>
              <a:endParaRPr lang="ko-KR" altLang="en-US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cxnSp>
        <p:nvCxnSpPr>
          <p:cNvPr id="308" name="직선 연결선 307"/>
          <p:cNvCxnSpPr/>
          <p:nvPr/>
        </p:nvCxnSpPr>
        <p:spPr>
          <a:xfrm>
            <a:off x="6987967" y="4174872"/>
            <a:ext cx="1187781" cy="1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560512" y="2856372"/>
            <a:ext cx="747036" cy="14400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Datamartweb, 2</a:t>
            </a:r>
            <a:endParaRPr lang="ko-KR" altLang="en-US" sz="900" dirty="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cxnSp>
        <p:nvCxnSpPr>
          <p:cNvPr id="318" name="직선 연결선 317"/>
          <p:cNvCxnSpPr/>
          <p:nvPr/>
        </p:nvCxnSpPr>
        <p:spPr>
          <a:xfrm rot="5400000">
            <a:off x="5879451" y="5038672"/>
            <a:ext cx="214314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9" name="Group 1397"/>
          <p:cNvGrpSpPr>
            <a:grpSpLocks/>
          </p:cNvGrpSpPr>
          <p:nvPr/>
        </p:nvGrpSpPr>
        <p:grpSpPr bwMode="auto">
          <a:xfrm>
            <a:off x="8327116" y="4609580"/>
            <a:ext cx="936000" cy="1080000"/>
            <a:chOff x="1463" y="976"/>
            <a:chExt cx="1169" cy="619"/>
          </a:xfrm>
        </p:grpSpPr>
        <p:sp>
          <p:nvSpPr>
            <p:cNvPr id="273" name="AutoShape 1398"/>
            <p:cNvSpPr>
              <a:spLocks noChangeArrowheads="1"/>
            </p:cNvSpPr>
            <p:nvPr/>
          </p:nvSpPr>
          <p:spPr bwMode="auto">
            <a:xfrm>
              <a:off x="1463" y="976"/>
              <a:ext cx="1169" cy="619"/>
            </a:xfrm>
            <a:prstGeom prst="bevel">
              <a:avLst>
                <a:gd name="adj" fmla="val 0"/>
              </a:avLst>
            </a:prstGeom>
            <a:solidFill>
              <a:srgbClr val="90B3F2"/>
            </a:solidFill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rgbClr val="90B3F2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800" kern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4" name="Rectangle 1399"/>
            <p:cNvSpPr>
              <a:spLocks noChangeArrowheads="1"/>
            </p:cNvSpPr>
            <p:nvPr/>
          </p:nvSpPr>
          <p:spPr bwMode="auto">
            <a:xfrm>
              <a:off x="1480" y="1197"/>
              <a:ext cx="426" cy="3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6200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ko-KR" sz="800" kern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79" name="Rectangle 1400"/>
            <p:cNvSpPr>
              <a:spLocks noChangeArrowheads="1"/>
            </p:cNvSpPr>
            <p:nvPr/>
          </p:nvSpPr>
          <p:spPr bwMode="auto">
            <a:xfrm>
              <a:off x="1931" y="1198"/>
              <a:ext cx="690" cy="381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54000" rIns="54000" anchor="ctr"/>
            <a:lstStyle/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7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Linux Ent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7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JSP / JDK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7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WISE BI</a:t>
              </a:r>
            </a:p>
          </p:txBody>
        </p:sp>
        <p:sp>
          <p:nvSpPr>
            <p:cNvPr id="280" name="Rectangle 1401"/>
            <p:cNvSpPr>
              <a:spLocks noChangeArrowheads="1"/>
            </p:cNvSpPr>
            <p:nvPr/>
          </p:nvSpPr>
          <p:spPr bwMode="auto">
            <a:xfrm>
              <a:off x="1480" y="992"/>
              <a:ext cx="1131" cy="171"/>
            </a:xfrm>
            <a:prstGeom prst="rect">
              <a:avLst/>
            </a:prstGeom>
            <a:solidFill>
              <a:srgbClr val="CAD7F2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6200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800" kern="0" dirty="0">
                  <a:latin typeface="굴림" pitchFamily="50" charset="-127"/>
                  <a:ea typeface="굴림" pitchFamily="50" charset="-127"/>
                </a:rPr>
                <a:t>OLAP</a:t>
              </a:r>
              <a:r>
                <a:rPr lang="ko-KR" altLang="en-US" sz="800" kern="0" dirty="0">
                  <a:latin typeface="굴림" pitchFamily="50" charset="-127"/>
                  <a:ea typeface="굴림" pitchFamily="50" charset="-127"/>
                </a:rPr>
                <a:t>운영</a:t>
              </a:r>
            </a:p>
          </p:txBody>
        </p:sp>
      </p:grpSp>
      <p:cxnSp>
        <p:nvCxnSpPr>
          <p:cNvPr id="264" name="AutoShape 1834"/>
          <p:cNvCxnSpPr>
            <a:cxnSpLocks noChangeShapeType="1"/>
          </p:cNvCxnSpPr>
          <p:nvPr/>
        </p:nvCxnSpPr>
        <p:spPr bwMode="auto">
          <a:xfrm rot="5400000" flipH="1" flipV="1">
            <a:off x="8562793" y="4511172"/>
            <a:ext cx="252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265" name="AutoShape 1834"/>
          <p:cNvCxnSpPr>
            <a:cxnSpLocks noChangeShapeType="1"/>
          </p:cNvCxnSpPr>
          <p:nvPr/>
        </p:nvCxnSpPr>
        <p:spPr bwMode="auto">
          <a:xfrm rot="5400000" flipH="1" flipV="1">
            <a:off x="8703568" y="4551372"/>
            <a:ext cx="180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266" name="TextBox 93"/>
          <p:cNvSpPr txBox="1"/>
          <p:nvPr/>
        </p:nvSpPr>
        <p:spPr>
          <a:xfrm>
            <a:off x="8749639" y="4499472"/>
            <a:ext cx="28803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</a:rPr>
              <a:t>TCP</a:t>
            </a:r>
            <a:endParaRPr lang="ko-KR" altLang="en-US" sz="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1" name="모서리가 둥근 직사각형 280"/>
          <p:cNvSpPr/>
          <p:nvPr/>
        </p:nvSpPr>
        <p:spPr>
          <a:xfrm>
            <a:off x="8436240" y="4214778"/>
            <a:ext cx="731602" cy="142916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1521,80</a:t>
            </a:r>
            <a:endParaRPr lang="ko-KR" altLang="en-US" sz="10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287" name="직선 연결선 286"/>
          <p:cNvCxnSpPr/>
          <p:nvPr/>
        </p:nvCxnSpPr>
        <p:spPr>
          <a:xfrm flipV="1">
            <a:off x="8453462" y="4176346"/>
            <a:ext cx="672953" cy="22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모서리가 둥근 직사각형 287"/>
          <p:cNvSpPr/>
          <p:nvPr/>
        </p:nvSpPr>
        <p:spPr>
          <a:xfrm>
            <a:off x="8167710" y="4000504"/>
            <a:ext cx="1357322" cy="2214578"/>
          </a:xfrm>
          <a:prstGeom prst="roundRect">
            <a:avLst/>
          </a:prstGeom>
          <a:noFill/>
          <a:ln w="635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모서리가 둥근 직사각형 306"/>
          <p:cNvSpPr/>
          <p:nvPr/>
        </p:nvSpPr>
        <p:spPr>
          <a:xfrm>
            <a:off x="6996410" y="4217263"/>
            <a:ext cx="1196950" cy="14575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8088,8089,9900</a:t>
            </a:r>
            <a:endParaRPr lang="ko-KR" altLang="en-US" sz="10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289" name="TextBox 288"/>
          <p:cNvSpPr txBox="1"/>
          <p:nvPr/>
        </p:nvSpPr>
        <p:spPr>
          <a:xfrm>
            <a:off x="8855714" y="6168918"/>
            <a:ext cx="8226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Big data </a:t>
            </a:r>
            <a:r>
              <a:rPr lang="ko-KR" altLang="en-US" sz="800" dirty="0"/>
              <a:t>활용</a:t>
            </a:r>
          </a:p>
        </p:txBody>
      </p:sp>
      <p:sp>
        <p:nvSpPr>
          <p:cNvPr id="276" name="모서리가 둥근 직사각형 275"/>
          <p:cNvSpPr/>
          <p:nvPr/>
        </p:nvSpPr>
        <p:spPr>
          <a:xfrm>
            <a:off x="2970720" y="4214818"/>
            <a:ext cx="504000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</a:t>
            </a:r>
            <a:endParaRPr lang="ko-KR" altLang="en-US" sz="9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277" name="직선 연결선 276"/>
          <p:cNvCxnSpPr/>
          <p:nvPr/>
        </p:nvCxnSpPr>
        <p:spPr>
          <a:xfrm>
            <a:off x="2965957" y="4176718"/>
            <a:ext cx="50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모서리가 둥근 직사각형 277"/>
          <p:cNvSpPr/>
          <p:nvPr/>
        </p:nvSpPr>
        <p:spPr>
          <a:xfrm>
            <a:off x="827580" y="4214818"/>
            <a:ext cx="504000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</a:t>
            </a:r>
            <a:endParaRPr lang="ko-KR" altLang="en-US" sz="9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282" name="직선 연결선 281"/>
          <p:cNvCxnSpPr/>
          <p:nvPr/>
        </p:nvCxnSpPr>
        <p:spPr>
          <a:xfrm>
            <a:off x="822817" y="4176718"/>
            <a:ext cx="50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그룹 23"/>
          <p:cNvGrpSpPr/>
          <p:nvPr/>
        </p:nvGrpSpPr>
        <p:grpSpPr>
          <a:xfrm>
            <a:off x="5929756" y="4617270"/>
            <a:ext cx="936000" cy="1080000"/>
            <a:chOff x="5601072" y="1076626"/>
            <a:chExt cx="1656736" cy="1578936"/>
          </a:xfrm>
        </p:grpSpPr>
        <p:grpSp>
          <p:nvGrpSpPr>
            <p:cNvPr id="306" name="Group 1397"/>
            <p:cNvGrpSpPr>
              <a:grpSpLocks/>
            </p:cNvGrpSpPr>
            <p:nvPr/>
          </p:nvGrpSpPr>
          <p:grpSpPr bwMode="auto">
            <a:xfrm>
              <a:off x="5601072" y="1076626"/>
              <a:ext cx="1656736" cy="1578936"/>
              <a:chOff x="1463" y="976"/>
              <a:chExt cx="1169" cy="619"/>
            </a:xfrm>
          </p:grpSpPr>
          <p:sp>
            <p:nvSpPr>
              <p:cNvPr id="310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1" name="Rectangle 1399"/>
              <p:cNvSpPr>
                <a:spLocks noChangeArrowheads="1"/>
              </p:cNvSpPr>
              <p:nvPr/>
            </p:nvSpPr>
            <p:spPr bwMode="auto">
              <a:xfrm>
                <a:off x="1480" y="1197"/>
                <a:ext cx="426" cy="3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2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defTabSz="762000">
                  <a:defRPr/>
                </a:pPr>
                <a:r>
                  <a:rPr lang="en-US" altLang="ko-KR" sz="700" i="1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UP-UX</a:t>
                </a:r>
              </a:p>
              <a:p>
                <a:pPr defTabSz="762000">
                  <a:defRPr/>
                </a:pPr>
                <a:r>
                  <a:rPr lang="en-US" altLang="ko-KR" sz="700" i="1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Oracle9i</a:t>
                </a:r>
                <a:endParaRPr lang="en-US" altLang="ko-KR" sz="700" i="1" kern="0" dirty="0">
                  <a:solidFill>
                    <a:srgbClr val="FF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JSP / JDK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i="1" kern="0" dirty="0">
                    <a:latin typeface="굴림" pitchFamily="50" charset="-127"/>
                    <a:ea typeface="굴림" pitchFamily="50" charset="-127"/>
                  </a:rPr>
                  <a:t>WebToB</a:t>
                </a:r>
              </a:p>
              <a:p>
                <a:pPr defTabSz="762000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700" i="1" kern="0" dirty="0">
                    <a:latin typeface="굴림" pitchFamily="50" charset="-127"/>
                    <a:ea typeface="굴림" pitchFamily="50" charset="-127"/>
                  </a:rPr>
                  <a:t>JEUS</a:t>
                </a:r>
              </a:p>
            </p:txBody>
          </p:sp>
          <p:sp>
            <p:nvSpPr>
              <p:cNvPr id="313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sz="800" kern="0" dirty="0">
                    <a:latin typeface="굴림" pitchFamily="50" charset="-127"/>
                    <a:ea typeface="굴림" pitchFamily="50" charset="-127"/>
                  </a:rPr>
                  <a:t>데이터관리시스템</a:t>
                </a:r>
                <a:endParaRPr lang="en-US" altLang="ko-KR" sz="800" kern="0" dirty="0">
                  <a:latin typeface="굴림" pitchFamily="50" charset="-127"/>
                  <a:ea typeface="굴림" pitchFamily="50" charset="-127"/>
                </a:endParaRPr>
              </a:p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800" kern="0" dirty="0">
                    <a:latin typeface="굴림" pitchFamily="50" charset="-127"/>
                    <a:ea typeface="굴림" pitchFamily="50" charset="-127"/>
                  </a:rPr>
                  <a:t>(</a:t>
                </a:r>
                <a:r>
                  <a:rPr lang="ko-KR" altLang="en-US" sz="800" kern="0" dirty="0">
                    <a:latin typeface="굴림" pitchFamily="50" charset="-127"/>
                    <a:ea typeface="굴림" pitchFamily="50" charset="-127"/>
                  </a:rPr>
                  <a:t>메타</a:t>
                </a:r>
                <a:r>
                  <a:rPr lang="en-US" altLang="ko-KR" sz="800" kern="0" dirty="0">
                    <a:latin typeface="굴림" pitchFamily="50" charset="-127"/>
                    <a:ea typeface="굴림" pitchFamily="50" charset="-127"/>
                  </a:rPr>
                  <a:t>,</a:t>
                </a:r>
                <a:r>
                  <a:rPr lang="ko-KR" altLang="en-US" sz="800" kern="0" dirty="0">
                    <a:latin typeface="굴림" pitchFamily="50" charset="-127"/>
                    <a:ea typeface="굴림" pitchFamily="50" charset="-127"/>
                  </a:rPr>
                  <a:t>품질 관리</a:t>
                </a:r>
                <a:r>
                  <a:rPr lang="en-US" altLang="ko-KR" sz="800" kern="0" dirty="0">
                    <a:latin typeface="굴림" pitchFamily="50" charset="-127"/>
                    <a:ea typeface="굴림" pitchFamily="50" charset="-127"/>
                  </a:rPr>
                  <a:t>)</a:t>
                </a:r>
                <a:endParaRPr lang="ko-KR" altLang="en-US" sz="800" kern="0" dirty="0">
                  <a:latin typeface="굴림" pitchFamily="50" charset="-127"/>
                  <a:ea typeface="굴림" pitchFamily="50" charset="-127"/>
                </a:endParaRPr>
              </a:p>
            </p:txBody>
          </p:sp>
        </p:grpSp>
        <p:pic>
          <p:nvPicPr>
            <p:cNvPr id="309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655576" y="1915280"/>
              <a:ext cx="573327" cy="475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286" name="AutoShape 1834"/>
          <p:cNvCxnSpPr>
            <a:cxnSpLocks noChangeShapeType="1"/>
          </p:cNvCxnSpPr>
          <p:nvPr/>
        </p:nvCxnSpPr>
        <p:spPr bwMode="auto">
          <a:xfrm rot="5400000" flipH="1" flipV="1">
            <a:off x="6165433" y="4518862"/>
            <a:ext cx="252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290" name="AutoShape 1834"/>
          <p:cNvCxnSpPr>
            <a:cxnSpLocks noChangeShapeType="1"/>
          </p:cNvCxnSpPr>
          <p:nvPr/>
        </p:nvCxnSpPr>
        <p:spPr bwMode="auto">
          <a:xfrm rot="5400000" flipH="1" flipV="1">
            <a:off x="6306208" y="4559062"/>
            <a:ext cx="180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291" name="TextBox 93"/>
          <p:cNvSpPr txBox="1"/>
          <p:nvPr/>
        </p:nvSpPr>
        <p:spPr>
          <a:xfrm>
            <a:off x="6352279" y="4507162"/>
            <a:ext cx="28803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>
                <a:solidFill>
                  <a:schemeClr val="accent1">
                    <a:lumMod val="75000"/>
                  </a:schemeClr>
                </a:solidFill>
              </a:rPr>
              <a:t>UTP</a:t>
            </a:r>
            <a:endParaRPr lang="ko-KR" altLang="en-US" sz="7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4" name="직사각형 313"/>
          <p:cNvSpPr/>
          <p:nvPr/>
        </p:nvSpPr>
        <p:spPr>
          <a:xfrm>
            <a:off x="5993894" y="5401736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61</a:t>
            </a:r>
            <a:endParaRPr lang="ko-KR" alt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15" name="모서리가 둥근 직사각형 314"/>
          <p:cNvSpPr/>
          <p:nvPr/>
        </p:nvSpPr>
        <p:spPr>
          <a:xfrm>
            <a:off x="6035604" y="4223592"/>
            <a:ext cx="504000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</a:t>
            </a:r>
            <a:endParaRPr lang="ko-KR" altLang="en-US" sz="9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316" name="직선 연결선 315"/>
          <p:cNvCxnSpPr/>
          <p:nvPr/>
        </p:nvCxnSpPr>
        <p:spPr>
          <a:xfrm>
            <a:off x="6030841" y="4185492"/>
            <a:ext cx="50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AutoShape 1398"/>
          <p:cNvSpPr>
            <a:spLocks noChangeArrowheads="1"/>
          </p:cNvSpPr>
          <p:nvPr/>
        </p:nvSpPr>
        <p:spPr bwMode="auto">
          <a:xfrm>
            <a:off x="7261638" y="1722420"/>
            <a:ext cx="747036" cy="1080000"/>
          </a:xfrm>
          <a:prstGeom prst="bevel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>
            <a:prstShdw prst="shdw18" dist="17961" dir="13500000">
              <a:srgbClr val="90B3F2">
                <a:gamma/>
                <a:shade val="60000"/>
                <a:invGamma/>
              </a:srgbClr>
            </a:prstShdw>
          </a:effectLst>
        </p:spPr>
        <p:txBody>
          <a:bodyPr wrap="none" lIns="90000" tIns="46800" rIns="90000" bIns="4680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700" kern="0">
              <a:solidFill>
                <a:sysClr val="windowText" lastClr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19" name="Rectangle 1399"/>
          <p:cNvSpPr>
            <a:spLocks noChangeArrowheads="1"/>
          </p:cNvSpPr>
          <p:nvPr/>
        </p:nvSpPr>
        <p:spPr bwMode="auto">
          <a:xfrm>
            <a:off x="7275250" y="2108010"/>
            <a:ext cx="272231" cy="66649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62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ko-KR" sz="700" kern="0">
              <a:solidFill>
                <a:sysClr val="windowText" lastClr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20" name="Rectangle 1400"/>
          <p:cNvSpPr>
            <a:spLocks noChangeArrowheads="1"/>
          </p:cNvSpPr>
          <p:nvPr/>
        </p:nvSpPr>
        <p:spPr bwMode="auto">
          <a:xfrm>
            <a:off x="7566803" y="2109754"/>
            <a:ext cx="440936" cy="66475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54000" rIns="54000" anchor="ctr"/>
          <a:lstStyle/>
          <a:p>
            <a:pPr defTabSz="762000">
              <a:defRPr/>
            </a:pPr>
            <a:r>
              <a:rPr lang="en-US" altLang="ko-KR" sz="600" kern="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Linux Ent</a:t>
            </a:r>
          </a:p>
          <a:p>
            <a:pPr defTabSz="762000">
              <a:defRPr/>
            </a:pPr>
            <a:r>
              <a:rPr lang="en-US" altLang="ko-KR" sz="600" kern="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WISENUT</a:t>
            </a:r>
          </a:p>
        </p:txBody>
      </p:sp>
      <p:sp>
        <p:nvSpPr>
          <p:cNvPr id="321" name="Rectangle 1401"/>
          <p:cNvSpPr>
            <a:spLocks noChangeArrowheads="1"/>
          </p:cNvSpPr>
          <p:nvPr/>
        </p:nvSpPr>
        <p:spPr bwMode="auto">
          <a:xfrm>
            <a:off x="7275250" y="1750336"/>
            <a:ext cx="722753" cy="2983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7620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700" kern="0" dirty="0">
                <a:solidFill>
                  <a:sysClr val="windowText" lastClr="000000"/>
                </a:solidFill>
                <a:latin typeface="굴림" pitchFamily="50" charset="-127"/>
                <a:ea typeface="굴림" pitchFamily="50" charset="-127"/>
              </a:rPr>
              <a:t>검색엔진</a:t>
            </a:r>
          </a:p>
        </p:txBody>
      </p:sp>
      <p:cxnSp>
        <p:nvCxnSpPr>
          <p:cNvPr id="324" name="AutoShape 1834"/>
          <p:cNvCxnSpPr>
            <a:cxnSpLocks noChangeShapeType="1"/>
          </p:cNvCxnSpPr>
          <p:nvPr/>
        </p:nvCxnSpPr>
        <p:spPr bwMode="auto">
          <a:xfrm flipH="1" flipV="1">
            <a:off x="7597541" y="1482371"/>
            <a:ext cx="466" cy="240049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325" name="AutoShape 1834"/>
          <p:cNvCxnSpPr>
            <a:cxnSpLocks noChangeShapeType="1"/>
          </p:cNvCxnSpPr>
          <p:nvPr/>
        </p:nvCxnSpPr>
        <p:spPr bwMode="auto">
          <a:xfrm flipV="1">
            <a:off x="7741557" y="1558573"/>
            <a:ext cx="0" cy="150625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cxnSp>
        <p:nvCxnSpPr>
          <p:cNvPr id="326" name="꺾인 연결선 202"/>
          <p:cNvCxnSpPr>
            <a:endCxn id="293" idx="2"/>
          </p:cNvCxnSpPr>
          <p:nvPr/>
        </p:nvCxnSpPr>
        <p:spPr>
          <a:xfrm rot="16200000" flipV="1">
            <a:off x="7555179" y="2882397"/>
            <a:ext cx="258302" cy="9834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7727698" y="1592121"/>
            <a:ext cx="2298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accent1">
                    <a:lumMod val="75000"/>
                  </a:schemeClr>
                </a:solidFill>
              </a:rPr>
              <a:t>UTP</a:t>
            </a:r>
            <a:endParaRPr lang="ko-KR" altLang="en-US" sz="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8" name="직사각형 327"/>
          <p:cNvSpPr/>
          <p:nvPr/>
        </p:nvSpPr>
        <p:spPr>
          <a:xfrm>
            <a:off x="7261172" y="2849392"/>
            <a:ext cx="747036" cy="14400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datasearch</a:t>
            </a:r>
            <a:endParaRPr lang="ko-KR" altLang="en-US" sz="700" dirty="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330" name="직사각형 329"/>
          <p:cNvSpPr/>
          <p:nvPr/>
        </p:nvSpPr>
        <p:spPr>
          <a:xfrm>
            <a:off x="7290000" y="2552832"/>
            <a:ext cx="235533" cy="178532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218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32" name="모서리가 둥근 직사각형 331"/>
          <p:cNvSpPr/>
          <p:nvPr/>
        </p:nvSpPr>
        <p:spPr>
          <a:xfrm>
            <a:off x="7181743" y="1114663"/>
            <a:ext cx="864426" cy="342873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7000,7800,</a:t>
            </a:r>
          </a:p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11200,11500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333" name="직선 연결선 332"/>
          <p:cNvCxnSpPr/>
          <p:nvPr/>
        </p:nvCxnSpPr>
        <p:spPr>
          <a:xfrm>
            <a:off x="7185799" y="1094882"/>
            <a:ext cx="83796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2" name="그룹 226"/>
          <p:cNvGrpSpPr/>
          <p:nvPr/>
        </p:nvGrpSpPr>
        <p:grpSpPr>
          <a:xfrm>
            <a:off x="3879702" y="4383139"/>
            <a:ext cx="944668" cy="1471441"/>
            <a:chOff x="7381892" y="4743641"/>
            <a:chExt cx="944668" cy="1471441"/>
          </a:xfrm>
        </p:grpSpPr>
        <p:cxnSp>
          <p:nvCxnSpPr>
            <p:cNvPr id="329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7750970" y="4909841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grpSp>
          <p:nvGrpSpPr>
            <p:cNvPr id="334" name="그룹 82"/>
            <p:cNvGrpSpPr/>
            <p:nvPr/>
          </p:nvGrpSpPr>
          <p:grpSpPr>
            <a:xfrm>
              <a:off x="7390560" y="4968049"/>
              <a:ext cx="936000" cy="1080000"/>
              <a:chOff x="8481392" y="4653136"/>
              <a:chExt cx="936000" cy="1080000"/>
            </a:xfrm>
          </p:grpSpPr>
          <p:sp>
            <p:nvSpPr>
              <p:cNvPr id="338" name="AutoShape 1398"/>
              <p:cNvSpPr>
                <a:spLocks noChangeArrowheads="1"/>
              </p:cNvSpPr>
              <p:nvPr/>
            </p:nvSpPr>
            <p:spPr bwMode="auto">
              <a:xfrm>
                <a:off x="8481392" y="4653136"/>
                <a:ext cx="936000" cy="1080000"/>
              </a:xfrm>
              <a:prstGeom prst="bevel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90000" tIns="46800" rIns="90000" bIns="4680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en-US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9" name="Rectangle 1399"/>
              <p:cNvSpPr>
                <a:spLocks noChangeArrowheads="1"/>
              </p:cNvSpPr>
              <p:nvPr/>
            </p:nvSpPr>
            <p:spPr bwMode="auto">
              <a:xfrm>
                <a:off x="8495004" y="5038726"/>
                <a:ext cx="897340" cy="19047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ko-KR" altLang="ko-KR" sz="8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0" name="Rectangle 1401"/>
              <p:cNvSpPr>
                <a:spLocks noChangeArrowheads="1"/>
              </p:cNvSpPr>
              <p:nvPr/>
            </p:nvSpPr>
            <p:spPr bwMode="auto">
              <a:xfrm>
                <a:off x="8495004" y="4681052"/>
                <a:ext cx="905574" cy="29835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defTabSz="76200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en-US" altLang="ko-KR" sz="800" kern="0">
                    <a:latin typeface="굴림" pitchFamily="50" charset="-127"/>
                    <a:ea typeface="굴림" pitchFamily="50" charset="-127"/>
                  </a:rPr>
                  <a:t>MAP </a:t>
                </a:r>
                <a:r>
                  <a:rPr lang="ko-KR" altLang="en-US" sz="800" kern="0">
                    <a:latin typeface="굴림" pitchFamily="50" charset="-127"/>
                    <a:ea typeface="굴림" pitchFamily="50" charset="-127"/>
                  </a:rPr>
                  <a:t>변환서버</a:t>
                </a:r>
              </a:p>
            </p:txBody>
          </p:sp>
          <p:sp>
            <p:nvSpPr>
              <p:cNvPr id="341" name="Rectangle 1400"/>
              <p:cNvSpPr>
                <a:spLocks noChangeArrowheads="1"/>
              </p:cNvSpPr>
              <p:nvPr/>
            </p:nvSpPr>
            <p:spPr bwMode="auto">
              <a:xfrm>
                <a:off x="8500441" y="5268441"/>
                <a:ext cx="882377" cy="432048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54000" rIns="54000" anchor="ctr"/>
              <a:lstStyle/>
              <a:p>
                <a:pPr lvl="0" defTabSz="762000" latinLnBrk="0"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Windows 2007</a:t>
                </a:r>
              </a:p>
              <a:p>
                <a:pPr lvl="0" defTabSz="762000" latinLnBrk="0"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ArcGIS Desktop</a:t>
                </a:r>
              </a:p>
              <a:p>
                <a:pPr lvl="0" defTabSz="762000" latinLnBrk="0">
                  <a:defRPr/>
                </a:pPr>
                <a:r>
                  <a:rPr lang="en-US" altLang="ko-KR" sz="700" kern="0" dirty="0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  <a:cs typeface="Arial"/>
                  </a:rPr>
                  <a:t>Data interoperablility</a:t>
                </a:r>
              </a:p>
              <a:p>
                <a:pPr lvl="0" defTabSz="762000" latinLnBrk="0">
                  <a:defRPr/>
                </a:pPr>
                <a:endParaRPr lang="en-US" altLang="ko-KR" sz="7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  <a:cs typeface="Arial"/>
                </a:endParaRPr>
              </a:p>
            </p:txBody>
          </p:sp>
          <p:pic>
            <p:nvPicPr>
              <p:cNvPr id="342" name="Picture 3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 t="35715" b="37143"/>
              <a:stretch>
                <a:fillRect/>
              </a:stretch>
            </p:blipFill>
            <p:spPr bwMode="auto">
              <a:xfrm>
                <a:off x="8625408" y="5085184"/>
                <a:ext cx="570957" cy="1359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335" name="TextBox 334"/>
            <p:cNvSpPr txBox="1"/>
            <p:nvPr/>
          </p:nvSpPr>
          <p:spPr>
            <a:xfrm>
              <a:off x="7821920" y="4867466"/>
              <a:ext cx="28803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7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6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7605899" y="4869641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sp>
          <p:nvSpPr>
            <p:cNvPr id="337" name="직사각형 336"/>
            <p:cNvSpPr/>
            <p:nvPr/>
          </p:nvSpPr>
          <p:spPr>
            <a:xfrm>
              <a:off x="7381892" y="6071082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dmgis</a:t>
              </a:r>
              <a:endParaRPr lang="ko-KR" altLang="en-US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sp>
        <p:nvSpPr>
          <p:cNvPr id="343" name="직사각형 342"/>
          <p:cNvSpPr/>
          <p:nvPr/>
        </p:nvSpPr>
        <p:spPr>
          <a:xfrm>
            <a:off x="3951140" y="4982939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114</a:t>
            </a:r>
            <a:endParaRPr lang="ko-KR" altLang="en-US" sz="900" b="1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44" name="모서리가 둥근 직사각형 343"/>
          <p:cNvSpPr/>
          <p:nvPr/>
        </p:nvSpPr>
        <p:spPr>
          <a:xfrm>
            <a:off x="3964458" y="4226595"/>
            <a:ext cx="504000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5151</a:t>
            </a:r>
            <a:endParaRPr lang="ko-KR" altLang="en-US" sz="900" b="1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345" name="직선 연결선 344"/>
          <p:cNvCxnSpPr/>
          <p:nvPr/>
        </p:nvCxnSpPr>
        <p:spPr>
          <a:xfrm>
            <a:off x="3959695" y="4188495"/>
            <a:ext cx="50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직사각형 345"/>
          <p:cNvSpPr/>
          <p:nvPr/>
        </p:nvSpPr>
        <p:spPr>
          <a:xfrm>
            <a:off x="4880992" y="3933056"/>
            <a:ext cx="892661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98.33.0.*</a:t>
            </a:r>
            <a:endParaRPr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347" name="직선 연결선 346"/>
          <p:cNvCxnSpPr/>
          <p:nvPr/>
        </p:nvCxnSpPr>
        <p:spPr>
          <a:xfrm rot="5400000">
            <a:off x="7056870" y="5045642"/>
            <a:ext cx="214314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67588" y="980728"/>
            <a:ext cx="5605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HY헤드라인M" pitchFamily="18" charset="-127"/>
                <a:ea typeface="HY헤드라인M" pitchFamily="18" charset="-127"/>
              </a:rPr>
              <a:t>Master</a:t>
            </a:r>
            <a:endParaRPr lang="ko-KR" altLang="en-US" sz="700" dirty="0"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355" name="AutoShape 1834"/>
          <p:cNvCxnSpPr>
            <a:cxnSpLocks noChangeShapeType="1"/>
          </p:cNvCxnSpPr>
          <p:nvPr/>
        </p:nvCxnSpPr>
        <p:spPr bwMode="auto">
          <a:xfrm rot="5400000" flipH="1" flipV="1">
            <a:off x="3336040" y="1608372"/>
            <a:ext cx="252001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356" name="AutoShape 1834"/>
          <p:cNvCxnSpPr>
            <a:cxnSpLocks noChangeShapeType="1"/>
          </p:cNvCxnSpPr>
          <p:nvPr/>
        </p:nvCxnSpPr>
        <p:spPr bwMode="auto">
          <a:xfrm rot="5400000" flipH="1" flipV="1">
            <a:off x="3480989" y="1648572"/>
            <a:ext cx="180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grpSp>
        <p:nvGrpSpPr>
          <p:cNvPr id="357" name="Group 1397"/>
          <p:cNvGrpSpPr>
            <a:grpSpLocks/>
          </p:cNvGrpSpPr>
          <p:nvPr/>
        </p:nvGrpSpPr>
        <p:grpSpPr bwMode="auto">
          <a:xfrm>
            <a:off x="6383670" y="1725619"/>
            <a:ext cx="747036" cy="1080000"/>
            <a:chOff x="1463" y="976"/>
            <a:chExt cx="1169" cy="619"/>
          </a:xfrm>
        </p:grpSpPr>
        <p:sp>
          <p:nvSpPr>
            <p:cNvPr id="359" name="AutoShape 1398"/>
            <p:cNvSpPr>
              <a:spLocks noChangeArrowheads="1"/>
            </p:cNvSpPr>
            <p:nvPr/>
          </p:nvSpPr>
          <p:spPr bwMode="auto">
            <a:xfrm>
              <a:off x="1463" y="976"/>
              <a:ext cx="1169" cy="619"/>
            </a:xfrm>
            <a:prstGeom prst="bevel">
              <a:avLst>
                <a:gd name="adj" fmla="val 0"/>
              </a:avLst>
            </a:prstGeom>
            <a:solidFill>
              <a:srgbClr val="90B3F2"/>
            </a:solidFill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rgbClr val="90B3F2">
                  <a:gamma/>
                  <a:shade val="60000"/>
                  <a:invGamma/>
                </a:srgbClr>
              </a:prstShdw>
            </a:effectLst>
          </p:spPr>
          <p:txBody>
            <a:bodyPr wrap="none" lIns="90000" tIns="46800" rIns="90000" bIns="4680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700" kern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0" name="Rectangle 1399"/>
            <p:cNvSpPr>
              <a:spLocks noChangeArrowheads="1"/>
            </p:cNvSpPr>
            <p:nvPr/>
          </p:nvSpPr>
          <p:spPr bwMode="auto">
            <a:xfrm>
              <a:off x="1480" y="1197"/>
              <a:ext cx="426" cy="3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6200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ko-KR" sz="700" kern="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1" name="Rectangle 1400"/>
            <p:cNvSpPr>
              <a:spLocks noChangeArrowheads="1"/>
            </p:cNvSpPr>
            <p:nvPr/>
          </p:nvSpPr>
          <p:spPr bwMode="auto">
            <a:xfrm>
              <a:off x="1931" y="1198"/>
              <a:ext cx="690" cy="381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54000" rIns="54000" anchor="ctr"/>
            <a:lstStyle/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 dirty="0" err="1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JBoss</a:t>
              </a:r>
              <a:r>
                <a: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 EWS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(Apache, </a:t>
              </a:r>
              <a:br>
                <a: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</a:br>
              <a:r>
                <a: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Tomcat)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CKAN</a:t>
              </a:r>
            </a:p>
            <a:p>
              <a:pPr defTabSz="762000" fontAlgn="auto"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en-US" altLang="ko-KR" sz="600" kern="0" dirty="0" err="1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rPr>
                <a:t>solr</a:t>
              </a:r>
              <a:endParaRPr lang="en-US" altLang="ko-KR" sz="600" i="1" kern="0" dirty="0">
                <a:solidFill>
                  <a:srgbClr val="FF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2" name="Rectangle 1401"/>
            <p:cNvSpPr>
              <a:spLocks noChangeArrowheads="1"/>
            </p:cNvSpPr>
            <p:nvPr/>
          </p:nvSpPr>
          <p:spPr bwMode="auto">
            <a:xfrm>
              <a:off x="1480" y="992"/>
              <a:ext cx="1131" cy="171"/>
            </a:xfrm>
            <a:prstGeom prst="rect">
              <a:avLst/>
            </a:prstGeom>
            <a:solidFill>
              <a:srgbClr val="CAD7F2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76200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r>
                <a:rPr lang="ko-KR" altLang="en-US" sz="700" kern="0" dirty="0" err="1">
                  <a:latin typeface="굴림" pitchFamily="50" charset="-127"/>
                  <a:ea typeface="굴림" pitchFamily="50" charset="-127"/>
                </a:rPr>
                <a:t>데용량데이터</a:t>
              </a:r>
              <a:r>
                <a:rPr lang="ko-KR" altLang="en-US" sz="700" kern="0" dirty="0">
                  <a:latin typeface="굴림" pitchFamily="50" charset="-127"/>
                  <a:ea typeface="굴림" pitchFamily="50" charset="-127"/>
                </a:rPr>
                <a:t> 서버</a:t>
              </a:r>
            </a:p>
          </p:txBody>
        </p:sp>
      </p:grpSp>
      <p:cxnSp>
        <p:nvCxnSpPr>
          <p:cNvPr id="350" name="AutoShape 1834"/>
          <p:cNvCxnSpPr>
            <a:cxnSpLocks noChangeShapeType="1"/>
          </p:cNvCxnSpPr>
          <p:nvPr/>
        </p:nvCxnSpPr>
        <p:spPr bwMode="auto">
          <a:xfrm rot="5400000" flipH="1" flipV="1">
            <a:off x="6572086" y="1616545"/>
            <a:ext cx="252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round/>
            <a:headEnd/>
            <a:tailEnd type="oval" w="sm" len="sm"/>
          </a:ln>
        </p:spPr>
      </p:cxnSp>
      <p:cxnSp>
        <p:nvCxnSpPr>
          <p:cNvPr id="351" name="AutoShape 1834"/>
          <p:cNvCxnSpPr>
            <a:cxnSpLocks noChangeShapeType="1"/>
          </p:cNvCxnSpPr>
          <p:nvPr/>
        </p:nvCxnSpPr>
        <p:spPr bwMode="auto">
          <a:xfrm rot="5400000" flipH="1" flipV="1">
            <a:off x="6810906" y="1652553"/>
            <a:ext cx="180000" cy="0"/>
          </a:xfrm>
          <a:prstGeom prst="straightConnector1">
            <a:avLst/>
          </a:prstGeom>
          <a:noFill/>
          <a:ln w="3175">
            <a:solidFill>
              <a:srgbClr val="000080"/>
            </a:solidFill>
            <a:prstDash val="sysDash"/>
            <a:round/>
            <a:headEnd/>
            <a:tailEnd type="oval" w="sm" len="sm"/>
          </a:ln>
        </p:spPr>
      </p:cxnSp>
      <p:sp>
        <p:nvSpPr>
          <p:cNvPr id="352" name="TextBox 67"/>
          <p:cNvSpPr txBox="1"/>
          <p:nvPr/>
        </p:nvSpPr>
        <p:spPr>
          <a:xfrm>
            <a:off x="6870498" y="1600653"/>
            <a:ext cx="2298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>
                <a:solidFill>
                  <a:schemeClr val="accent1">
                    <a:lumMod val="75000"/>
                  </a:schemeClr>
                </a:solidFill>
              </a:rPr>
              <a:t>UTP</a:t>
            </a:r>
            <a:endParaRPr lang="ko-KR" altLang="en-US" sz="6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4" name="직사각형 69"/>
          <p:cNvSpPr/>
          <p:nvPr/>
        </p:nvSpPr>
        <p:spPr>
          <a:xfrm>
            <a:off x="6378857" y="2853732"/>
            <a:ext cx="747036" cy="14400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Massdata1,2</a:t>
            </a:r>
            <a:endParaRPr lang="ko-KR" altLang="en-US" sz="800" dirty="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363" name="모서리가 둥근 직사각형 362"/>
          <p:cNvSpPr/>
          <p:nvPr/>
        </p:nvSpPr>
        <p:spPr>
          <a:xfrm>
            <a:off x="6374236" y="1121013"/>
            <a:ext cx="686582" cy="342006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18080,</a:t>
            </a:r>
          </a:p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8983,8088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364" name="직선 연결선 363"/>
          <p:cNvCxnSpPr/>
          <p:nvPr/>
        </p:nvCxnSpPr>
        <p:spPr>
          <a:xfrm>
            <a:off x="6397343" y="1099360"/>
            <a:ext cx="6326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모서리가 둥근 직사각형 364"/>
          <p:cNvSpPr/>
          <p:nvPr/>
        </p:nvSpPr>
        <p:spPr>
          <a:xfrm>
            <a:off x="5576811" y="1121013"/>
            <a:ext cx="686582" cy="342006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80, 443,</a:t>
            </a:r>
          </a:p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8080,8088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366" name="직선 연결선 365"/>
          <p:cNvCxnSpPr/>
          <p:nvPr/>
        </p:nvCxnSpPr>
        <p:spPr>
          <a:xfrm>
            <a:off x="5599918" y="1099360"/>
            <a:ext cx="63268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직사각형 368"/>
          <p:cNvSpPr>
            <a:spLocks noChangeAspect="1"/>
          </p:cNvSpPr>
          <p:nvPr/>
        </p:nvSpPr>
        <p:spPr>
          <a:xfrm>
            <a:off x="6650721" y="1579279"/>
            <a:ext cx="174487" cy="174487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523" rIns="46523" rtlCol="0" anchor="ctr"/>
          <a:lstStyle/>
          <a:p>
            <a:pPr algn="ctr"/>
            <a:endParaRPr lang="ko-KR" altLang="en-US" sz="1163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70" name="직사각형 369"/>
          <p:cNvSpPr>
            <a:spLocks noChangeAspect="1"/>
          </p:cNvSpPr>
          <p:nvPr/>
        </p:nvSpPr>
        <p:spPr>
          <a:xfrm>
            <a:off x="7525533" y="1579279"/>
            <a:ext cx="174487" cy="174487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523" rIns="46523" rtlCol="0" anchor="ctr"/>
          <a:lstStyle/>
          <a:p>
            <a:pPr algn="ctr"/>
            <a:endParaRPr lang="ko-KR" altLang="en-US" sz="1163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pSp>
        <p:nvGrpSpPr>
          <p:cNvPr id="371" name="그룹 229"/>
          <p:cNvGrpSpPr>
            <a:grpSpLocks noChangeAspect="1"/>
          </p:cNvGrpSpPr>
          <p:nvPr/>
        </p:nvGrpSpPr>
        <p:grpSpPr>
          <a:xfrm>
            <a:off x="8121352" y="1484784"/>
            <a:ext cx="847350" cy="1526050"/>
            <a:chOff x="8115322" y="1484784"/>
            <a:chExt cx="942030" cy="1507187"/>
          </a:xfrm>
        </p:grpSpPr>
        <p:grpSp>
          <p:nvGrpSpPr>
            <p:cNvPr id="378" name="Group 1397"/>
            <p:cNvGrpSpPr>
              <a:grpSpLocks/>
            </p:cNvGrpSpPr>
            <p:nvPr/>
          </p:nvGrpSpPr>
          <p:grpSpPr bwMode="auto">
            <a:xfrm>
              <a:off x="8121352" y="1719858"/>
              <a:ext cx="936000" cy="1080000"/>
              <a:chOff x="1463" y="976"/>
              <a:chExt cx="1169" cy="619"/>
            </a:xfrm>
          </p:grpSpPr>
          <p:sp>
            <p:nvSpPr>
              <p:cNvPr id="380" name="AutoShape 1398"/>
              <p:cNvSpPr>
                <a:spLocks noChangeArrowheads="1"/>
              </p:cNvSpPr>
              <p:nvPr/>
            </p:nvSpPr>
            <p:spPr bwMode="auto">
              <a:xfrm>
                <a:off x="1463" y="976"/>
                <a:ext cx="1169" cy="619"/>
              </a:xfrm>
              <a:prstGeom prst="bevel">
                <a:avLst>
                  <a:gd name="adj" fmla="val 0"/>
                </a:avLst>
              </a:prstGeom>
              <a:solidFill>
                <a:srgbClr val="90B3F2"/>
              </a:solidFill>
              <a:ln w="9525">
                <a:noFill/>
                <a:miter lim="800000"/>
                <a:headEnd/>
                <a:tailEnd/>
              </a:ln>
              <a:effectLst>
                <a:prstShdw prst="shdw18" dist="17961" dir="13500000">
                  <a:srgbClr val="90B3F2">
                    <a:gamma/>
                    <a:shade val="60000"/>
                    <a:invGamma/>
                  </a:srgbClr>
                </a:prstShdw>
              </a:effectLst>
            </p:spPr>
            <p:txBody>
              <a:bodyPr wrap="none" lIns="116308" tIns="60480" rIns="116308" bIns="60480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81" name="Rectangle 1399"/>
              <p:cNvSpPr>
                <a:spLocks noChangeArrowheads="1"/>
              </p:cNvSpPr>
              <p:nvPr/>
            </p:nvSpPr>
            <p:spPr bwMode="auto">
              <a:xfrm>
                <a:off x="1480" y="1197"/>
                <a:ext cx="426" cy="3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984733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ko-KR" sz="700" kern="0"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82" name="Rectangle 1400"/>
              <p:cNvSpPr>
                <a:spLocks noChangeArrowheads="1"/>
              </p:cNvSpPr>
              <p:nvPr/>
            </p:nvSpPr>
            <p:spPr bwMode="auto">
              <a:xfrm>
                <a:off x="1931" y="1198"/>
                <a:ext cx="690" cy="381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lIns="69785" rIns="69785" anchor="ctr"/>
              <a:lstStyle/>
              <a:p>
                <a:pPr defTabSz="984733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700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Postgresql</a:t>
                </a:r>
                <a:endParaRPr lang="en-US" altLang="ko-KR" sz="700" kern="0" dirty="0">
                  <a:solidFill>
                    <a:srgbClr val="000000"/>
                  </a:solidFill>
                  <a:latin typeface="굴림" pitchFamily="50" charset="-127"/>
                  <a:ea typeface="굴림" pitchFamily="50" charset="-127"/>
                </a:endParaRPr>
              </a:p>
              <a:p>
                <a:pPr defTabSz="984733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700" i="1" kern="0" dirty="0" err="1">
                    <a:solidFill>
                      <a:srgbClr val="000000"/>
                    </a:solidFill>
                    <a:latin typeface="굴림" pitchFamily="50" charset="-127"/>
                    <a:ea typeface="굴림" pitchFamily="50" charset="-127"/>
                  </a:rPr>
                  <a:t>nfsserver</a:t>
                </a:r>
                <a:endParaRPr lang="en-US" altLang="ko-KR" sz="700" i="1" kern="0" dirty="0">
                  <a:solidFill>
                    <a:srgbClr val="FF0000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83" name="Rectangle 1401"/>
              <p:cNvSpPr>
                <a:spLocks noChangeArrowheads="1"/>
              </p:cNvSpPr>
              <p:nvPr/>
            </p:nvSpPr>
            <p:spPr bwMode="auto">
              <a:xfrm>
                <a:off x="1480" y="992"/>
                <a:ext cx="1131" cy="171"/>
              </a:xfrm>
              <a:prstGeom prst="rect">
                <a:avLst/>
              </a:prstGeom>
              <a:solidFill>
                <a:srgbClr val="CAD7F2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984733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700" kern="0" dirty="0">
                    <a:latin typeface="굴림" pitchFamily="50" charset="-127"/>
                    <a:ea typeface="굴림" pitchFamily="50" charset="-127"/>
                  </a:rPr>
                  <a:t>대용량데이터저장소</a:t>
                </a:r>
              </a:p>
            </p:txBody>
          </p:sp>
        </p:grpSp>
        <p:cxnSp>
          <p:nvCxnSpPr>
            <p:cNvPr id="373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389300" y="1610784"/>
              <a:ext cx="252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round/>
              <a:headEnd/>
              <a:tailEnd type="oval" w="sm" len="sm"/>
            </a:ln>
          </p:spPr>
        </p:cxnSp>
        <p:cxnSp>
          <p:nvCxnSpPr>
            <p:cNvPr id="374" name="AutoShape 1834"/>
            <p:cNvCxnSpPr>
              <a:cxnSpLocks noChangeShapeType="1"/>
            </p:cNvCxnSpPr>
            <p:nvPr/>
          </p:nvCxnSpPr>
          <p:spPr bwMode="auto">
            <a:xfrm rot="5400000" flipH="1" flipV="1">
              <a:off x="8679424" y="1646792"/>
              <a:ext cx="180000" cy="0"/>
            </a:xfrm>
            <a:prstGeom prst="straightConnector1">
              <a:avLst/>
            </a:prstGeom>
            <a:noFill/>
            <a:ln w="3175">
              <a:solidFill>
                <a:srgbClr val="000080"/>
              </a:solidFill>
              <a:prstDash val="sysDash"/>
              <a:round/>
              <a:headEnd/>
              <a:tailEnd type="oval" w="sm" len="sm"/>
            </a:ln>
          </p:spPr>
        </p:cxnSp>
        <p:sp>
          <p:nvSpPr>
            <p:cNvPr id="375" name="TextBox 67"/>
            <p:cNvSpPr txBox="1"/>
            <p:nvPr/>
          </p:nvSpPr>
          <p:spPr>
            <a:xfrm>
              <a:off x="8731324" y="1594892"/>
              <a:ext cx="288032" cy="10776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accent1">
                      <a:lumMod val="75000"/>
                    </a:schemeClr>
                  </a:solidFill>
                </a:rPr>
                <a:t>UTP</a:t>
              </a:r>
              <a:endParaRPr lang="ko-KR" altLang="en-US" sz="7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6" name="직사각형 68"/>
            <p:cNvSpPr/>
            <p:nvPr/>
          </p:nvSpPr>
          <p:spPr>
            <a:xfrm>
              <a:off x="8193359" y="2546148"/>
              <a:ext cx="242178" cy="196386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523" rIns="46523" rtlCol="0" anchor="ctr"/>
            <a:lstStyle/>
            <a:p>
              <a:pPr algn="ctr"/>
              <a:r>
                <a:rPr lang="en-US" altLang="ko-KR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고딕 Bold" pitchFamily="50" charset="-127"/>
                  <a:ea typeface="나눔고딕 Bold" pitchFamily="50" charset="-127"/>
                </a:rPr>
                <a:t>44</a:t>
              </a:r>
              <a:endPara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377" name="직사각형 69"/>
            <p:cNvSpPr/>
            <p:nvPr/>
          </p:nvSpPr>
          <p:spPr>
            <a:xfrm>
              <a:off x="8115322" y="2847971"/>
              <a:ext cx="936000" cy="14400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 err="1">
                  <a:solidFill>
                    <a:schemeClr val="tx1"/>
                  </a:solidFill>
                  <a:latin typeface="Consolas" pitchFamily="49" charset="0"/>
                  <a:ea typeface="굴림" pitchFamily="50" charset="-127"/>
                  <a:cs typeface="Consolas" pitchFamily="49" charset="0"/>
                </a:rPr>
                <a:t>datastore</a:t>
              </a:r>
              <a:endParaRPr lang="ko-KR" altLang="en-US" sz="7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endParaRPr>
            </a:p>
          </p:txBody>
        </p:sp>
      </p:grpSp>
      <p:cxnSp>
        <p:nvCxnSpPr>
          <p:cNvPr id="385" name="직선 연결선 384"/>
          <p:cNvCxnSpPr>
            <a:cxnSpLocks noChangeAspect="1"/>
          </p:cNvCxnSpPr>
          <p:nvPr/>
        </p:nvCxnSpPr>
        <p:spPr>
          <a:xfrm flipV="1">
            <a:off x="7909497" y="1190548"/>
            <a:ext cx="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모서리가 둥근 직사각형 385"/>
          <p:cNvSpPr/>
          <p:nvPr/>
        </p:nvSpPr>
        <p:spPr>
          <a:xfrm>
            <a:off x="8156387" y="1313536"/>
            <a:ext cx="665588" cy="144000"/>
          </a:xfrm>
          <a:prstGeom prst="roundRect">
            <a:avLst/>
          </a:prstGeom>
          <a:solidFill>
            <a:schemeClr val="bg1">
              <a:lumMod val="75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5432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cxnSp>
        <p:nvCxnSpPr>
          <p:cNvPr id="387" name="직선 연결선 386"/>
          <p:cNvCxnSpPr/>
          <p:nvPr/>
        </p:nvCxnSpPr>
        <p:spPr>
          <a:xfrm>
            <a:off x="8165261" y="1289723"/>
            <a:ext cx="6708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직사각형 387"/>
          <p:cNvSpPr/>
          <p:nvPr/>
        </p:nvSpPr>
        <p:spPr>
          <a:xfrm>
            <a:off x="7016836" y="3933056"/>
            <a:ext cx="892661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98.33.0.*</a:t>
            </a:r>
            <a:endParaRPr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89" name="직사각형 388"/>
          <p:cNvSpPr/>
          <p:nvPr/>
        </p:nvSpPr>
        <p:spPr>
          <a:xfrm>
            <a:off x="7099341" y="5401736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124</a:t>
            </a:r>
            <a:endParaRPr lang="ko-KR" alt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90" name="직사각형 389"/>
          <p:cNvSpPr/>
          <p:nvPr/>
        </p:nvSpPr>
        <p:spPr>
          <a:xfrm>
            <a:off x="8356828" y="3933056"/>
            <a:ext cx="892661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98.33.2.*</a:t>
            </a:r>
            <a:endParaRPr lang="ko-KR" alt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91" name="직사각형 390"/>
          <p:cNvSpPr/>
          <p:nvPr/>
        </p:nvSpPr>
        <p:spPr>
          <a:xfrm>
            <a:off x="8409384" y="5401736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121</a:t>
            </a:r>
            <a:endParaRPr lang="ko-KR" alt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93" name="직사각형 392"/>
          <p:cNvSpPr>
            <a:spLocks noChangeAspect="1"/>
          </p:cNvSpPr>
          <p:nvPr/>
        </p:nvSpPr>
        <p:spPr>
          <a:xfrm>
            <a:off x="5928463" y="5715548"/>
            <a:ext cx="933077" cy="14355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spdna3</a:t>
            </a:r>
            <a:endParaRPr lang="ko-KR" altLang="en-US" sz="800" dirty="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394" name="직사각형 393"/>
          <p:cNvSpPr>
            <a:spLocks noChangeAspect="1"/>
          </p:cNvSpPr>
          <p:nvPr/>
        </p:nvSpPr>
        <p:spPr>
          <a:xfrm>
            <a:off x="8323399" y="5715548"/>
            <a:ext cx="933077" cy="14355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Consolas" pitchFamily="49" charset="0"/>
                <a:ea typeface="굴림" pitchFamily="50" charset="-127"/>
                <a:cs typeface="Consolas" pitchFamily="49" charset="0"/>
              </a:rPr>
              <a:t>Bigdata_analy2</a:t>
            </a:r>
            <a:endParaRPr lang="ko-KR" altLang="en-US" sz="800" dirty="0">
              <a:solidFill>
                <a:schemeClr val="tx1"/>
              </a:solidFill>
              <a:latin typeface="Consolas" pitchFamily="49" charset="0"/>
              <a:ea typeface="굴림" pitchFamily="50" charset="-127"/>
              <a:cs typeface="Consolas" pitchFamily="49" charset="0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4978898" y="4985636"/>
            <a:ext cx="216000" cy="216024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186</a:t>
            </a:r>
            <a:endParaRPr lang="ko-KR" alt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pic>
        <p:nvPicPr>
          <p:cNvPr id="3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83644" y="2338499"/>
            <a:ext cx="243436" cy="22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467" y="4985636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341" y="5139576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7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741" y="5139576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2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709" y="2307727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9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407" y="2307727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1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458" y="2307727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2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049" y="2307727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8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620" y="2307727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110" y="2431846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" name="Picture 2" descr="D:\03.열린데이터광장_운영\01.운영하기\009.시스템_현행화작업\vm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110" y="2132856"/>
            <a:ext cx="205066" cy="2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" name="직사각형 68"/>
          <p:cNvSpPr/>
          <p:nvPr/>
        </p:nvSpPr>
        <p:spPr>
          <a:xfrm>
            <a:off x="6455567" y="2276126"/>
            <a:ext cx="225625" cy="191370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225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353" name="직사각형 68"/>
          <p:cNvSpPr/>
          <p:nvPr/>
        </p:nvSpPr>
        <p:spPr>
          <a:xfrm>
            <a:off x="6455568" y="2564916"/>
            <a:ext cx="211196" cy="174377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226</a:t>
            </a:r>
            <a:endParaRPr lang="ko-KR" altLang="en-US" sz="600" b="1" dirty="0">
              <a:solidFill>
                <a:schemeClr val="tx1">
                  <a:lumMod val="85000"/>
                  <a:lumOff val="15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6667252" y="6382114"/>
            <a:ext cx="2311400" cy="365125"/>
          </a:xfrm>
        </p:spPr>
        <p:txBody>
          <a:bodyPr/>
          <a:lstStyle/>
          <a:p>
            <a:pPr>
              <a:defRPr/>
            </a:pPr>
            <a:fld id="{6D52CEB3-EDFC-4338-B942-80C26CCB9EED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" name="모서리가 둥근 직사각형 4"/>
          <p:cNvSpPr/>
          <p:nvPr/>
        </p:nvSpPr>
        <p:spPr bwMode="auto">
          <a:xfrm rot="16200000">
            <a:off x="3753607" y="349174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관리 프로그램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웹서버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69635"/>
              </p:ext>
            </p:extLst>
          </p:nvPr>
        </p:nvGraphicFramePr>
        <p:xfrm>
          <a:off x="8574721" y="6015265"/>
          <a:ext cx="1328396" cy="366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디지털 </a:t>
                      </a:r>
                      <a:r>
                        <a:rPr lang="ko-KR" altLang="en-US" sz="1000" dirty="0" err="1"/>
                        <a:t>시장실</a:t>
                      </a:r>
                      <a:r>
                        <a:rPr lang="ko-KR" altLang="en-US" sz="1000" dirty="0"/>
                        <a:t> 관련</a:t>
                      </a:r>
                    </a:p>
                  </a:txBody>
                  <a:tcPr marL="84389" marR="84389" marT="45798" marB="45798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그림 1482" descr="man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3911" y="789561"/>
            <a:ext cx="399420" cy="49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9466" y="1317605"/>
            <a:ext cx="205740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ko-KR" altLang="en-US" sz="1000" b="1" dirty="0">
                <a:latin typeface="+mn-ea"/>
              </a:rPr>
              <a:t>관리자</a:t>
            </a:r>
            <a:br>
              <a:rPr lang="en-US" altLang="ko-KR" sz="1000" b="1" dirty="0">
                <a:latin typeface="+mn-ea"/>
              </a:rPr>
            </a:br>
            <a:r>
              <a:rPr lang="en-US" altLang="ko-KR" sz="1000" b="1" dirty="0">
                <a:latin typeface="+mn-ea"/>
              </a:rPr>
              <a:t>(PC)</a:t>
            </a:r>
            <a:endParaRPr kumimoji="0" lang="ko-KR" altLang="en-US" sz="1000" b="0" i="0" u="none" strike="noStrike" cap="none" spc="0" normalizeH="0" baseline="0" dirty="0">
              <a:ln>
                <a:noFill/>
              </a:ln>
              <a:effectLst/>
              <a:uFillTx/>
              <a:sym typeface="Apple SD 산돌고딕 Neo 세미볼드체"/>
            </a:endParaRPr>
          </a:p>
        </p:txBody>
      </p:sp>
      <p:cxnSp>
        <p:nvCxnSpPr>
          <p:cNvPr id="17" name="꺾인 연결선 16"/>
          <p:cNvCxnSpPr>
            <a:stCxn id="33" idx="2"/>
            <a:endCxn id="25" idx="0"/>
          </p:cNvCxnSpPr>
          <p:nvPr/>
        </p:nvCxnSpPr>
        <p:spPr>
          <a:xfrm flipV="1">
            <a:off x="6325026" y="1057158"/>
            <a:ext cx="1277066" cy="2019098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모서리가 둥근 직사각형 23"/>
          <p:cNvSpPr/>
          <p:nvPr/>
        </p:nvSpPr>
        <p:spPr bwMode="auto">
          <a:xfrm rot="16200000">
            <a:off x="3698304" y="2426996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데이터 저장소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(DB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모서리가 둥근 직사각형 24"/>
          <p:cNvSpPr/>
          <p:nvPr/>
        </p:nvSpPr>
        <p:spPr bwMode="auto">
          <a:xfrm rot="16200000">
            <a:off x="7950200" y="407899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열린데이터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 광장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(DB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 bwMode="auto">
          <a:xfrm rot="16200000">
            <a:off x="7950201" y="1211721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도시통계지도데이터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(DB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모서리가 둥근 직사각형 26"/>
          <p:cNvSpPr/>
          <p:nvPr/>
        </p:nvSpPr>
        <p:spPr bwMode="auto">
          <a:xfrm rot="16200000">
            <a:off x="7963031" y="3734538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CCTV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데이터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8" name="그림 1482" descr="man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4031" y="2910983"/>
            <a:ext cx="399420" cy="49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Box 28"/>
          <p:cNvSpPr txBox="1"/>
          <p:nvPr/>
        </p:nvSpPr>
        <p:spPr>
          <a:xfrm>
            <a:off x="24438" y="3409926"/>
            <a:ext cx="2057400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ko-KR" altLang="en-US" sz="1000" b="1" dirty="0">
                <a:latin typeface="+mn-ea"/>
              </a:rPr>
              <a:t>일반 사용자</a:t>
            </a:r>
            <a:endParaRPr kumimoji="0" lang="ko-KR" altLang="en-US" sz="1000" b="0" i="0" u="none" strike="noStrike" cap="none" spc="0" normalizeH="0" baseline="0" dirty="0">
              <a:ln>
                <a:noFill/>
              </a:ln>
              <a:effectLst/>
              <a:uFillTx/>
              <a:sym typeface="Apple SD 산돌고딕 Neo 세미볼드체"/>
            </a:endParaRPr>
          </a:p>
        </p:txBody>
      </p:sp>
      <p:sp>
        <p:nvSpPr>
          <p:cNvPr id="30" name="모서리가 둥근 직사각형 29"/>
          <p:cNvSpPr/>
          <p:nvPr/>
        </p:nvSpPr>
        <p:spPr bwMode="auto">
          <a:xfrm rot="16200000">
            <a:off x="1865916" y="3792014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디지털 </a:t>
            </a:r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시장실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웹서버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모서리가 둥근 직사각형 32"/>
          <p:cNvSpPr/>
          <p:nvPr/>
        </p:nvSpPr>
        <p:spPr bwMode="auto">
          <a:xfrm rot="16200000">
            <a:off x="5374617" y="2426997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EAI/ETL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서버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모서리가 둥근 직사각형 36"/>
          <p:cNvSpPr/>
          <p:nvPr/>
        </p:nvSpPr>
        <p:spPr bwMode="auto">
          <a:xfrm rot="16200000">
            <a:off x="4536461" y="4842553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BI</a:t>
            </a:r>
          </a:p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(BI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38" name="모서리가 둥근 직사각형 37"/>
          <p:cNvSpPr/>
          <p:nvPr/>
        </p:nvSpPr>
        <p:spPr bwMode="auto">
          <a:xfrm rot="16200000">
            <a:off x="4536461" y="3792013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검색엔진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꺾인 연결선 38"/>
          <p:cNvCxnSpPr>
            <a:stCxn id="33" idx="2"/>
            <a:endCxn id="26" idx="0"/>
          </p:cNvCxnSpPr>
          <p:nvPr/>
        </p:nvCxnSpPr>
        <p:spPr>
          <a:xfrm flipV="1">
            <a:off x="6325026" y="1860980"/>
            <a:ext cx="1277067" cy="1215276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꺾인 연결선 41"/>
          <p:cNvCxnSpPr>
            <a:stCxn id="33" idx="2"/>
            <a:endCxn id="27" idx="0"/>
          </p:cNvCxnSpPr>
          <p:nvPr/>
        </p:nvCxnSpPr>
        <p:spPr>
          <a:xfrm>
            <a:off x="6325026" y="3076256"/>
            <a:ext cx="1289897" cy="1307541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꺾인 연결선 44"/>
          <p:cNvCxnSpPr>
            <a:stCxn id="24" idx="2"/>
            <a:endCxn id="33" idx="0"/>
          </p:cNvCxnSpPr>
          <p:nvPr/>
        </p:nvCxnSpPr>
        <p:spPr>
          <a:xfrm>
            <a:off x="4648713" y="3076255"/>
            <a:ext cx="377796" cy="1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꺾인 연결선 47"/>
          <p:cNvCxnSpPr>
            <a:stCxn id="5" idx="2"/>
            <a:endCxn id="24" idx="3"/>
          </p:cNvCxnSpPr>
          <p:nvPr/>
        </p:nvCxnSpPr>
        <p:spPr>
          <a:xfrm flipH="1">
            <a:off x="3999455" y="998432"/>
            <a:ext cx="704561" cy="1776673"/>
          </a:xfrm>
          <a:prstGeom prst="bentConnector4">
            <a:avLst>
              <a:gd name="adj1" fmla="val -32446"/>
              <a:gd name="adj2" fmla="val 58475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꺾인 연결선 50"/>
          <p:cNvCxnSpPr>
            <a:stCxn id="30" idx="2"/>
            <a:endCxn id="37" idx="0"/>
          </p:cNvCxnSpPr>
          <p:nvPr/>
        </p:nvCxnSpPr>
        <p:spPr>
          <a:xfrm>
            <a:off x="2816325" y="4441273"/>
            <a:ext cx="1372028" cy="1050539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꺾인 연결선 54"/>
          <p:cNvCxnSpPr>
            <a:stCxn id="24" idx="1"/>
            <a:endCxn id="38" idx="3"/>
          </p:cNvCxnSpPr>
          <p:nvPr/>
        </p:nvCxnSpPr>
        <p:spPr>
          <a:xfrm rot="16200000" flipH="1">
            <a:off x="4037175" y="3339684"/>
            <a:ext cx="762717" cy="838157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꺾인 연결선 62"/>
          <p:cNvCxnSpPr>
            <a:stCxn id="30" idx="2"/>
            <a:endCxn id="38" idx="0"/>
          </p:cNvCxnSpPr>
          <p:nvPr/>
        </p:nvCxnSpPr>
        <p:spPr>
          <a:xfrm flipV="1">
            <a:off x="2816325" y="4441272"/>
            <a:ext cx="1372028" cy="1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9" name="모서리가 둥근 직사각형 68"/>
          <p:cNvSpPr/>
          <p:nvPr/>
        </p:nvSpPr>
        <p:spPr bwMode="auto">
          <a:xfrm rot="16200000">
            <a:off x="7951541" y="2080341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BSC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성과관리시스템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(DB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6" name="꺾인 연결선 75"/>
          <p:cNvCxnSpPr>
            <a:stCxn id="33" idx="2"/>
            <a:endCxn id="69" idx="0"/>
          </p:cNvCxnSpPr>
          <p:nvPr/>
        </p:nvCxnSpPr>
        <p:spPr>
          <a:xfrm flipV="1">
            <a:off x="6325026" y="2729600"/>
            <a:ext cx="1278407" cy="346656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모서리가 둥근 직사각형 81"/>
          <p:cNvSpPr/>
          <p:nvPr/>
        </p:nvSpPr>
        <p:spPr bwMode="auto">
          <a:xfrm rot="16200000">
            <a:off x="7950201" y="2899598"/>
            <a:ext cx="602300" cy="1298517"/>
          </a:xfrm>
          <a:prstGeom prst="roundRect">
            <a:avLst>
              <a:gd name="adj" fmla="val 1276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eaVert" anchor="ctr"/>
          <a:lstStyle/>
          <a:p>
            <a:pPr algn="ctr"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서울지도정보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(GIS)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시스템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(DB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서버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83" name="표 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10331"/>
              </p:ext>
            </p:extLst>
          </p:nvPr>
        </p:nvGraphicFramePr>
        <p:xfrm>
          <a:off x="8574721" y="6468255"/>
          <a:ext cx="1328396" cy="366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기존 시스템</a:t>
                      </a:r>
                    </a:p>
                  </a:txBody>
                  <a:tcPr marL="84389" marR="84389" marT="45798" marB="45798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" name="꺾인 연결선 87"/>
          <p:cNvCxnSpPr>
            <a:stCxn id="5" idx="0"/>
            <a:endCxn id="10" idx="3"/>
          </p:cNvCxnSpPr>
          <p:nvPr/>
        </p:nvCxnSpPr>
        <p:spPr>
          <a:xfrm rot="10800000" flipV="1">
            <a:off x="1283331" y="998433"/>
            <a:ext cx="2122168" cy="37084"/>
          </a:xfrm>
          <a:prstGeom prst="bentConnector3">
            <a:avLst>
              <a:gd name="adj1" fmla="val 50000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꺾인 연결선 90"/>
          <p:cNvCxnSpPr>
            <a:stCxn id="30" idx="3"/>
            <a:endCxn id="28" idx="3"/>
          </p:cNvCxnSpPr>
          <p:nvPr/>
        </p:nvCxnSpPr>
        <p:spPr>
          <a:xfrm rot="16200000" flipV="1">
            <a:off x="1223667" y="3196723"/>
            <a:ext cx="983184" cy="903616"/>
          </a:xfrm>
          <a:prstGeom prst="bentConnector2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4" name="모서리가 둥근 직사각형 93"/>
          <p:cNvSpPr/>
          <p:nvPr/>
        </p:nvSpPr>
        <p:spPr>
          <a:xfrm>
            <a:off x="3166385" y="250819"/>
            <a:ext cx="3526244" cy="5842477"/>
          </a:xfrm>
          <a:prstGeom prst="roundRect">
            <a:avLst/>
          </a:prstGeom>
          <a:solidFill>
            <a:srgbClr val="4C311A">
              <a:alpha val="11000"/>
            </a:srgbClr>
          </a:solidFill>
          <a:ln w="25400" cap="flat">
            <a:noFill/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pple SD 산돌고딕 Neo 세미볼드체"/>
              <a:ea typeface="Apple SD 산돌고딕 Neo 세미볼드체"/>
              <a:cs typeface="Apple SD 산돌고딕 Neo 세미볼드체"/>
              <a:sym typeface="Apple SD 산돌고딕 Neo 세미볼드체"/>
            </a:endParaRPr>
          </a:p>
        </p:txBody>
      </p:sp>
      <p:sp>
        <p:nvSpPr>
          <p:cNvPr id="95" name="Shape 179"/>
          <p:cNvSpPr/>
          <p:nvPr/>
        </p:nvSpPr>
        <p:spPr>
          <a:xfrm>
            <a:off x="4266134" y="175109"/>
            <a:ext cx="1269578" cy="404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50000"/>
              </a:lnSpc>
              <a:defRPr sz="2200">
                <a:solidFill>
                  <a:srgbClr val="5C5C5C"/>
                </a:solidFill>
                <a:uFill>
                  <a:solidFill>
                    <a:srgbClr val="5C5C5C"/>
                  </a:solidFill>
                </a:u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rPr lang="ko-KR" altLang="en-US" sz="1500" b="1" dirty="0">
                <a:solidFill>
                  <a:srgbClr val="4C311A"/>
                </a:solidFill>
                <a:uFillTx/>
                <a:latin typeface="+mn-ea"/>
                <a:ea typeface="+mn-ea"/>
                <a:cs typeface="+mn-cs"/>
                <a:sym typeface="Apple SD 산돌고딕 Neo 세미볼드체"/>
              </a:rPr>
              <a:t>내부</a:t>
            </a:r>
            <a:r>
              <a:rPr lang="en-US" altLang="ko-KR" sz="1500" b="1" dirty="0">
                <a:solidFill>
                  <a:srgbClr val="4C311A"/>
                </a:solidFill>
                <a:uFillTx/>
                <a:latin typeface="+mn-ea"/>
                <a:ea typeface="+mn-ea"/>
                <a:cs typeface="+mn-cs"/>
                <a:sym typeface="Apple SD 산돌고딕 Neo 세미볼드체"/>
              </a:rPr>
              <a:t>(</a:t>
            </a:r>
            <a:r>
              <a:rPr lang="ko-KR" altLang="en-US" sz="1500" b="1" dirty="0">
                <a:solidFill>
                  <a:srgbClr val="4C311A"/>
                </a:solidFill>
                <a:uFillTx/>
                <a:latin typeface="+mn-ea"/>
                <a:ea typeface="+mn-ea"/>
                <a:cs typeface="+mn-cs"/>
                <a:sym typeface="Apple SD 산돌고딕 Neo 세미볼드체"/>
              </a:rPr>
              <a:t>사설</a:t>
            </a:r>
            <a:r>
              <a:rPr lang="en-US" altLang="ko-KR" sz="1500" b="1" dirty="0">
                <a:solidFill>
                  <a:srgbClr val="4C311A"/>
                </a:solidFill>
                <a:uFillTx/>
                <a:latin typeface="+mn-ea"/>
                <a:ea typeface="+mn-ea"/>
                <a:cs typeface="+mn-cs"/>
                <a:sym typeface="Apple SD 산돌고딕 Neo 세미볼드체"/>
              </a:rPr>
              <a:t>) </a:t>
            </a:r>
            <a:r>
              <a:rPr lang="ko-KR" altLang="en-US" sz="1500" b="1" dirty="0">
                <a:solidFill>
                  <a:srgbClr val="4C311A"/>
                </a:solidFill>
                <a:uFillTx/>
                <a:latin typeface="+mn-ea"/>
                <a:ea typeface="+mn-ea"/>
                <a:cs typeface="+mn-cs"/>
                <a:sym typeface="Apple SD 산돌고딕 Neo 세미볼드체"/>
              </a:rPr>
              <a:t>망</a:t>
            </a:r>
            <a:endParaRPr sz="1500" b="1" dirty="0">
              <a:solidFill>
                <a:srgbClr val="4C311A"/>
              </a:solidFill>
              <a:uFillTx/>
              <a:latin typeface="+mn-ea"/>
              <a:ea typeface="+mn-ea"/>
              <a:cs typeface="+mn-cs"/>
              <a:sym typeface="Apple SD 산돌고딕 Neo 세미볼드체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2006706" y="1105797"/>
            <a:ext cx="725662" cy="141528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 (http)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1552803" y="3791971"/>
            <a:ext cx="1114749" cy="123771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63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나눔고딕 Bold" pitchFamily="50" charset="-127"/>
                <a:ea typeface="나눔고딕 Bold" pitchFamily="50" charset="-127"/>
              </a:rPr>
              <a:t>80,443 (http)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107" name="Rectangle 1400"/>
          <p:cNvSpPr>
            <a:spLocks noChangeArrowheads="1"/>
          </p:cNvSpPr>
          <p:nvPr/>
        </p:nvSpPr>
        <p:spPr bwMode="auto">
          <a:xfrm>
            <a:off x="3405456" y="1301032"/>
            <a:ext cx="1298560" cy="35117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54000" rIns="54000" anchor="ctr"/>
          <a:lstStyle/>
          <a:p>
            <a:pPr defTabSz="762000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700" kern="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Linux Ent  / JSP / JDK / </a:t>
            </a:r>
          </a:p>
          <a:p>
            <a:pPr defTabSz="762000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700" i="1" kern="0" dirty="0" err="1">
                <a:solidFill>
                  <a:srgbClr val="FF0000"/>
                </a:solidFill>
                <a:latin typeface="굴림" pitchFamily="50" charset="-127"/>
                <a:ea typeface="굴림" pitchFamily="50" charset="-127"/>
              </a:rPr>
              <a:t>nginx</a:t>
            </a:r>
            <a:r>
              <a:rPr lang="en-US" altLang="ko-KR" sz="700" i="1" kern="0" dirty="0">
                <a:solidFill>
                  <a:srgbClr val="FF0000"/>
                </a:solidFill>
                <a:latin typeface="굴림" pitchFamily="50" charset="-127"/>
                <a:ea typeface="굴림" pitchFamily="50" charset="-127"/>
              </a:rPr>
              <a:t> /  JEUS </a:t>
            </a:r>
          </a:p>
        </p:txBody>
      </p:sp>
      <p:sp>
        <p:nvSpPr>
          <p:cNvPr id="120" name="Rectangle 1400"/>
          <p:cNvSpPr>
            <a:spLocks noChangeArrowheads="1"/>
          </p:cNvSpPr>
          <p:nvPr/>
        </p:nvSpPr>
        <p:spPr bwMode="auto">
          <a:xfrm>
            <a:off x="1502895" y="4739403"/>
            <a:ext cx="1298560" cy="351171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54000" rIns="54000" anchor="ctr"/>
          <a:lstStyle/>
          <a:p>
            <a:pPr defTabSz="762000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700" kern="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Linux Ent  / JSP / JDK / </a:t>
            </a:r>
          </a:p>
          <a:p>
            <a:pPr defTabSz="762000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700" i="1" kern="0" dirty="0" err="1">
                <a:solidFill>
                  <a:srgbClr val="FF0000"/>
                </a:solidFill>
                <a:latin typeface="굴림" pitchFamily="50" charset="-127"/>
                <a:ea typeface="굴림" pitchFamily="50" charset="-127"/>
              </a:rPr>
              <a:t>nginx</a:t>
            </a:r>
            <a:r>
              <a:rPr lang="en-US" altLang="ko-KR" sz="700" i="1" kern="0" dirty="0">
                <a:solidFill>
                  <a:srgbClr val="FF0000"/>
                </a:solidFill>
                <a:latin typeface="굴림" pitchFamily="50" charset="-127"/>
                <a:ea typeface="굴림" pitchFamily="50" charset="-127"/>
              </a:rPr>
              <a:t> /  JEUS </a:t>
            </a:r>
          </a:p>
        </p:txBody>
      </p:sp>
      <p:sp>
        <p:nvSpPr>
          <p:cNvPr id="121" name="Rectangle 1400"/>
          <p:cNvSpPr>
            <a:spLocks noChangeArrowheads="1"/>
          </p:cNvSpPr>
          <p:nvPr/>
        </p:nvSpPr>
        <p:spPr bwMode="auto">
          <a:xfrm>
            <a:off x="3334804" y="3236495"/>
            <a:ext cx="570203" cy="483212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54000" rIns="54000" anchor="ctr"/>
          <a:lstStyle/>
          <a:p>
            <a:pPr defTabSz="762000">
              <a:defRPr/>
            </a:pPr>
            <a:r>
              <a:rPr lang="en-US" altLang="ko-KR" sz="700" kern="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IBM AIX</a:t>
            </a:r>
          </a:p>
          <a:p>
            <a:pPr defTabSz="762000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700" kern="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ORACLE </a:t>
            </a:r>
          </a:p>
        </p:txBody>
      </p:sp>
      <p:cxnSp>
        <p:nvCxnSpPr>
          <p:cNvPr id="123" name="꺾인 연결선 122"/>
          <p:cNvCxnSpPr>
            <a:endCxn id="24" idx="0"/>
          </p:cNvCxnSpPr>
          <p:nvPr/>
        </p:nvCxnSpPr>
        <p:spPr>
          <a:xfrm rot="5400000" flipH="1" flipV="1">
            <a:off x="2426371" y="3534346"/>
            <a:ext cx="1381915" cy="465735"/>
          </a:xfrm>
          <a:prstGeom prst="bentConnector2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7" name="꺾인 연결선 126"/>
          <p:cNvCxnSpPr>
            <a:stCxn id="29" idx="2"/>
            <a:endCxn id="27" idx="1"/>
          </p:cNvCxnSpPr>
          <p:nvPr/>
        </p:nvCxnSpPr>
        <p:spPr>
          <a:xfrm rot="16200000" flipH="1">
            <a:off x="4149390" y="570154"/>
            <a:ext cx="1018541" cy="7211044"/>
          </a:xfrm>
          <a:prstGeom prst="bentConnector3">
            <a:avLst>
              <a:gd name="adj1" fmla="val 214601"/>
            </a:avLst>
          </a:prstGeom>
          <a:noFill/>
          <a:ln w="12700" cap="flat">
            <a:solidFill>
              <a:schemeClr val="bg1">
                <a:lumMod val="65000"/>
              </a:schemeClr>
            </a:solidFill>
            <a:prstDash val="sysDash"/>
            <a:round/>
            <a:headEnd type="triangle"/>
            <a:tailEnd type="arrow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8976797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336699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336699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30482</TotalTime>
  <Words>429</Words>
  <Application>Microsoft Office PowerPoint</Application>
  <PresentationFormat>A4 용지(210x297mm)</PresentationFormat>
  <Paragraphs>236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Apple SD 산돌고딕 Neo 볼드체</vt:lpstr>
      <vt:lpstr>Apple SD 산돌고딕 Neo 세미볼드체</vt:lpstr>
      <vt:lpstr>HY헤드라인M</vt:lpstr>
      <vt:lpstr>굴림</vt:lpstr>
      <vt:lpstr>나눔고딕 Bold</vt:lpstr>
      <vt:lpstr>맑은 고딕</vt:lpstr>
      <vt:lpstr>Arial</vt:lpstr>
      <vt:lpstr>Consolas</vt:lpstr>
      <vt:lpstr>디자인 사용자 지정</vt:lpstr>
      <vt:lpstr>Office 테마</vt:lpstr>
      <vt:lpstr>PowerPoint 프레젠테이션</vt:lpstr>
      <vt:lpstr>PowerPoint 프레젠테이션</vt:lpstr>
    </vt:vector>
  </TitlesOfParts>
  <Company>(주)굿디넷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tankkan</dc:creator>
  <cp:lastModifiedBy>DEV.WON</cp:lastModifiedBy>
  <cp:revision>4810</cp:revision>
  <cp:lastPrinted>2015-03-20T01:59:03Z</cp:lastPrinted>
  <dcterms:created xsi:type="dcterms:W3CDTF">2005-10-26T08:10:03Z</dcterms:created>
  <dcterms:modified xsi:type="dcterms:W3CDTF">2016-06-28T03:03:27Z</dcterms:modified>
</cp:coreProperties>
</file>